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5a0f65b74854452" /><Relationship Type="http://schemas.openxmlformats.org/officeDocument/2006/relationships/extended-properties" Target="/docProps/app.xml" Id="Rf4b9a7de392b4943" /><Relationship Type="http://schemas.openxmlformats.org/officeDocument/2006/relationships/officeDocument" Target="/ppt/presentation.xml" Id="Race7cf020e1940fc" /></Relationships>
</file>

<file path=ppt/presentation.xml><?xml version="1.0" encoding="utf-8"?>
<p:presentation xmlns:p="http://schemas.openxmlformats.org/presentationml/2006/main">
  <p:sldMasterIdLst>
    <p:sldMasterId xmlns:r="http://schemas.openxmlformats.org/officeDocument/2006/relationships" id="2147483648" r:id="Rabd92c2b04c54459"/>
  </p:sldMasterIdLst>
  <p:notesMasterIdLst>
    <p:notesMasterId xmlns:r="http://schemas.openxmlformats.org/officeDocument/2006/relationships" r:id="R4a75417420d74c3a"/>
  </p:notesMasterIdLst>
  <p:sldIdLst>
    <p:sldId xmlns:r="http://schemas.openxmlformats.org/officeDocument/2006/relationships" id="256" r:id="R33c985e580d54e8f"/>
    <p:sldId xmlns:r="http://schemas.openxmlformats.org/officeDocument/2006/relationships" id="257" r:id="Rbbdeaad086d146a0"/>
    <p:sldId xmlns:r="http://schemas.openxmlformats.org/officeDocument/2006/relationships" id="258" r:id="R53ca3c078c8c4cf3"/>
    <p:sldId xmlns:r="http://schemas.openxmlformats.org/officeDocument/2006/relationships" id="259" r:id="R79694ceaaab34b77"/>
    <p:sldId xmlns:r="http://schemas.openxmlformats.org/officeDocument/2006/relationships" id="260" r:id="R16900833e6ce4c17"/>
    <p:sldId xmlns:r="http://schemas.openxmlformats.org/officeDocument/2006/relationships" id="261" r:id="Rd57be022c51a4143"/>
    <p:sldId xmlns:r="http://schemas.openxmlformats.org/officeDocument/2006/relationships" id="262" r:id="R49f1b80c4fc74018"/>
    <p:sldId xmlns:r="http://schemas.openxmlformats.org/officeDocument/2006/relationships" id="263" r:id="Rf74dbd2be7824d9f"/>
    <p:sldId xmlns:r="http://schemas.openxmlformats.org/officeDocument/2006/relationships" id="264" r:id="R31af4f6b173e4047"/>
    <p:sldId xmlns:r="http://schemas.openxmlformats.org/officeDocument/2006/relationships" id="265" r:id="Rd898c9bdba964839"/>
    <p:sldId xmlns:r="http://schemas.openxmlformats.org/officeDocument/2006/relationships" id="266" r:id="R4ba2e6c1d4994372"/>
    <p:sldId xmlns:r="http://schemas.openxmlformats.org/officeDocument/2006/relationships" id="267" r:id="R6f4a968e2faa45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399f1f3a9d4821" /><Relationship Type="http://schemas.openxmlformats.org/officeDocument/2006/relationships/slideMaster" Target="/ppt/slideMasters/slideMaster1.xml" Id="Rabd92c2b04c54459" /><Relationship Type="http://schemas.openxmlformats.org/officeDocument/2006/relationships/notesMaster" Target="/ppt/notesMasters/notesMaster1.xml" Id="R4a75417420d74c3a" /><Relationship Type="http://schemas.openxmlformats.org/officeDocument/2006/relationships/presProps" Target="/ppt/presProps.xml" Id="R1fc79bd50a9841b3" /><Relationship Type="http://schemas.openxmlformats.org/officeDocument/2006/relationships/tableStyles" Target="/ppt/tableStyles.xml" Id="Rfa311cddf650427c" /><Relationship Type="http://schemas.openxmlformats.org/officeDocument/2006/relationships/slide" Target="/ppt/slides/slide1.xml" Id="R33c985e580d54e8f" /><Relationship Type="http://schemas.openxmlformats.org/officeDocument/2006/relationships/slide" Target="/ppt/slides/slide2.xml" Id="Rbbdeaad086d146a0" /><Relationship Type="http://schemas.openxmlformats.org/officeDocument/2006/relationships/slide" Target="/ppt/slides/slide3.xml" Id="R53ca3c078c8c4cf3" /><Relationship Type="http://schemas.openxmlformats.org/officeDocument/2006/relationships/slide" Target="/ppt/slides/slide4.xml" Id="R79694ceaaab34b77" /><Relationship Type="http://schemas.openxmlformats.org/officeDocument/2006/relationships/slide" Target="/ppt/slides/slide5.xml" Id="R16900833e6ce4c17" /><Relationship Type="http://schemas.openxmlformats.org/officeDocument/2006/relationships/slide" Target="/ppt/slides/slide6.xml" Id="Rd57be022c51a4143" /><Relationship Type="http://schemas.openxmlformats.org/officeDocument/2006/relationships/slide" Target="/ppt/slides/slide7.xml" Id="R49f1b80c4fc74018" /><Relationship Type="http://schemas.openxmlformats.org/officeDocument/2006/relationships/slide" Target="/ppt/slides/slide8.xml" Id="Rf74dbd2be7824d9f" /><Relationship Type="http://schemas.openxmlformats.org/officeDocument/2006/relationships/slide" Target="/ppt/slides/slide9.xml" Id="R31af4f6b173e4047" /><Relationship Type="http://schemas.openxmlformats.org/officeDocument/2006/relationships/slide" Target="/ppt/slides/slide10.xml" Id="Rd898c9bdba964839" /><Relationship Type="http://schemas.openxmlformats.org/officeDocument/2006/relationships/slide" Target="/ppt/slides/slide11.xml" Id="R4ba2e6c1d4994372" /><Relationship Type="http://schemas.openxmlformats.org/officeDocument/2006/relationships/slide" Target="/ppt/slides/slide12.xml" Id="R6f4a968e2faa45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1ddfee0a1a40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c915e0d9794a55" /><Relationship Type="http://schemas.openxmlformats.org/officeDocument/2006/relationships/notesMaster" Target="/ppt/notesMasters/notesMaster1.xml" Id="R86ed63861fd84f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a53348a2624e3f" /><Relationship Type="http://schemas.openxmlformats.org/officeDocument/2006/relationships/notesMaster" Target="/ppt/notesMasters/notesMaster1.xml" Id="R89cf3cc0a93a43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b1fac766df4dd1" /><Relationship Type="http://schemas.openxmlformats.org/officeDocument/2006/relationships/notesMaster" Target="/ppt/notesMasters/notesMaster1.xml" Id="R530e2d4bf97444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99a32db1634bac" /><Relationship Type="http://schemas.openxmlformats.org/officeDocument/2006/relationships/notesMaster" Target="/ppt/notesMasters/notesMaster1.xml" Id="R7d82912c7b714d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4c013a07de4035" /><Relationship Type="http://schemas.openxmlformats.org/officeDocument/2006/relationships/notesMaster" Target="/ppt/notesMasters/notesMaster1.xml" Id="Rfc4a05647add4a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b90ad0e2144b5d" /><Relationship Type="http://schemas.openxmlformats.org/officeDocument/2006/relationships/notesMaster" Target="/ppt/notesMasters/notesMaster1.xml" Id="R6e103470febf4e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6b53d8f3044843" /><Relationship Type="http://schemas.openxmlformats.org/officeDocument/2006/relationships/notesMaster" Target="/ppt/notesMasters/notesMaster1.xml" Id="Rb339e998300a4e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02e5645be94d55" /><Relationship Type="http://schemas.openxmlformats.org/officeDocument/2006/relationships/notesMaster" Target="/ppt/notesMasters/notesMaster1.xml" Id="R503f2fc9158c46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103dcace934f1b" /><Relationship Type="http://schemas.openxmlformats.org/officeDocument/2006/relationships/notesMaster" Target="/ppt/notesMasters/notesMaster1.xml" Id="R75ef86aa0f1c4f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4a6a3f5c154b35" /><Relationship Type="http://schemas.openxmlformats.org/officeDocument/2006/relationships/notesMaster" Target="/ppt/notesMasters/notesMaster1.xml" Id="R9eac8a2c2f0a45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b1fee0bd9d4421" /><Relationship Type="http://schemas.openxmlformats.org/officeDocument/2006/relationships/notesMaster" Target="/ppt/notesMasters/notesMaster1.xml" Id="R52345cd215ce4a4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000dfe2eb54ef1" /><Relationship Type="http://schemas.openxmlformats.org/officeDocument/2006/relationships/notesMaster" Target="/ppt/notesMasters/notesMaster1.xml" Id="Rbdcc667a82e24b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Good morning. Verity is a knowledge editing and verification platform for conversational AI. We study how an approved factual correction changes the assistant's answers across connected records, while preserving unrelated information. Our final implementation combines a frozen learned reasoner with versioned external memory. The project includes a transactional editing workflow, a working website and reproducible model comparisons. We evaluate factual answers separately from database correctness and retain the failures in our evidence.</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https://github.com/ShivamRaghav7/verity/tree/ae7bb2010a82fd1d744d008eb7c6f870198aece5/docs/CURRENT_ARCHITECTURE.md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An edit has a subject, relation and scope. In our fictional example, the subject is Kaveri Payment Gateway, the relation is owner, and the scope is release 2. Initially, its owner is Bengaluru Platform Team. That team's contact is Meera Iyer, whose office is in Chennai. We replace only the ownership fact with Pune Reliability Team. Its contact is Arjun Deshmukh, whose office is in Hyderabad. The office answer should therefore change through three relations. Hosting city, the Pro service and release 1 should remain unchanged. We call those unaffected questions locality controls. Rollback should restore the original reasoning path without deleting the history.</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https://github.com/ShivamRaghav7/verity/tree/ae7bb2010a82fd1d744d008eb7c6f870198aece5/docs/INDIA_DEMO.md</a:t>
            </a:r>
          </a:p>
          <a:p xmlns:a="http://schemas.openxmlformats.org/drawingml/2006/main">
            <a:r>
              <a:t>https://github.com/ShivamRaghav7/verity/tree/ae7bb2010a82fd1d744d008eb7c6f870198aece5/reports/reasonke/depth-final/india-acceptance.json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The browser sends a question to the Python application API. The API reads the active approved facts from SQLite at a specific knowledge revision. A revision identifies a memory state, while the model checkpoint identifies fixed neural weights. The context selector chooses supporting facts and the controller adds permitted conversation history. Only complete conversation pairs from the applicable revision enter a new prompt. A separate private GPU worker generates the answer. The application stores its raw output, extracted answer, supplied fact identifiers, sources and model revision. This provenance makes the request inspectable. Retrieving a source does not certify every sentence the model generates.</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https://github.com/ShivamRaghav7/verity/tree/ae7bb2010a82fd1d744d008eb7c6f870198aece5/docs/CURRENT_ARCHITECTURE.md</a:t>
            </a:r>
          </a:p>
          <a:p xmlns:a="http://schemas.openxmlformats.org/drawingml/2006/main">
            <a:r>
              <a:t>https://github.com/ShivamRaghav7/verity/tree/ae7bb2010a82fd1d744d008eb7c6f870198aece5/editguard_chat/reasonke_backend.py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We integrate the author published ReasonKE_plus checkpoint and compare it with Qwen2.5 7B Instruct. Both contain approximately 7.615 billion parameters. Their authors trained them upstream. We pin exact revisions and keep their weights frozen. NF4 double quantization compresses weight storage, while FP16 supplies the computation precision. SDPA is PyTorch's attention implementation. On the T4, the measured peak allocated CUDA memory during loading was about 6.59 gibibytes. We load one model at a time. The prompt allows at most 4,096 tokens, and generation allows 512 new tokens, using greedy decoding with one beam. These limits and the measured profile define our actual configuration.</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https://github.com/ShivamRaghav7/verity/tree/ae7bb2010a82fd1d744d008eb7c6f870198aece5/docs/REASONKE_MODEL_CARD.md</a:t>
            </a:r>
          </a:p>
          <a:p xmlns:a="http://schemas.openxmlformats.org/drawingml/2006/main">
            <a:r>
              <a:t>https://github.com/ShivamRaghav7/verity/tree/ae7bb2010a82fd1d744d008eb7c6f870198aece5/editguard_reasonke/runtime.py</a:t>
            </a:r>
          </a:p>
          <a:p xmlns:a="http://schemas.openxmlformats.org/drawingml/2006/main">
            <a:r>
              <a:t>https://huggingface.co/YukinoKaren/ReasonKE_plus</a:t>
            </a:r>
          </a:p>
          <a:p xmlns:a="http://schemas.openxmlformats.org/drawingml/2006/main">
            <a:r>
              <a:t>https://huggingface.co/Qwen/Qwen2.5-7B-Instruct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The original selector ranks facts against the question, takes two seeds, adds their answer text to the query, and reranks to fill four context slots. On the new development packet, it supplied complete support for 96 of 128 questions, but zero of 32 three hop questions. We therefore evaluated a finite family of iterative selectors before freezing the final test. The selected policy keeps two question ranked seeds and expands through answer text for up to three rounds, with a four fact cap. It supplied complete support for all 128 development questions, including all 32 three hop paths. Those are retrieval diagnostics, not neural answer accuracy. Ordinary retrieval never receives expected answers or gold support identifiers. It also supplies no calibrated applicability probability.</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https://github.com/ShivamRaghav7/verity/tree/ae7bb2010a82fd1d744d008eb7c6f870198aece5/editguard_benchmark/retrieval.py</a:t>
            </a:r>
          </a:p>
          <a:p xmlns:a="http://schemas.openxmlformats.org/drawingml/2006/main">
            <a:r>
              <a:t>https://github.com/ShivamRaghav7/verity/tree/ae7bb2010a82fd1d744d008eb7c6f870198aece5/editguard_depth/retrieval.py</a:t>
            </a:r>
          </a:p>
          <a:p xmlns:a="http://schemas.openxmlformats.org/drawingml/2006/main">
            <a:r>
              <a:t>https://github.com/ShivamRaghav7/verity/tree/ae7bb2010a82fd1d744d008eb7c6f870198aece5/docs/DEPTH_RUN_PLAN.md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Each fact uses the canonical key entity identifier, relation identifier and scope identifier. A partial unique database index permits at most one active version for that key. To replace a fact, the request must name the current predecessor through supersedes. An unresolved competing approval receives HTTP 409 and leaves memory unchanged. Rollback uses a BEGIN IMMEDIATE transaction: withdraw the replacement, restore its direct predecessor, and write two audit events at one new revision. The whole change commits or rolls back together. Historical reads replay events without changing live memory. These rules protect represented identities. Two contradictory statements under unrelated keys can still require administrator judgement.</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https://github.com/ShivamRaghav7/verity/tree/ae7bb2010a82fd1d744d008eb7c6f870198aece5/editguard_chat/store.py</a:t>
            </a:r>
          </a:p>
          <a:p xmlns:a="http://schemas.openxmlformats.org/drawingml/2006/main">
            <a:r>
              <a:t>https://github.com/ShivamRaghav7/verity/tree/ae7bb2010a82fd1d744d008eb7c6f870198aece5/docs/CHAT_API.md</a:t>
            </a:r>
          </a:p>
          <a:p xmlns:a="http://schemas.openxmlformats.org/drawingml/2006/main">
            <a:r>
              <a:t>https://github.com/ShivamRaghav7/verity/tree/ae7bb2010a82fd1d744d008eb7c6f870198aece5/tests/test_chat_store.py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We authored two separate fictional datasets. Each contains 48 graph lineages and 384 question records. A lineage groups one fact world and its related correction variants. Sixteen lineages support development and 32 support final evaluation. We split lineages before question augmentation, so related variants stay together. Eight variants per final lineage produce 256 main questions per condition. The original study uses nine facts per world. The depth study uses twelve and adds three hop questions with separate development and final wording banks. A deterministic graph audit checks labels and supporting paths. There is no independent human semantic review, and templates still repeat within each split.</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https://github.com/ShivamRaghav7/verity/tree/ae7bb2010a82fd1d744d008eb7c6f870198aece5/docs/OPERATIONS_DATASET_CARD.md</a:t>
            </a:r>
          </a:p>
          <a:p xmlns:a="http://schemas.openxmlformats.org/drawingml/2006/main">
            <a:r>
              <a:t>https://github.com/ShivamRaghav7/verity/tree/ae7bb2010a82fd1d744d008eb7c6f870198aece5/docs/DEPTH_DATASET_CARD.md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The original study evaluates five main conditions on 256 questions, plus sixteen preselected oracle questions for each model. That gives 1,312 generations. The separate depth study evaluates two models on 256 main questions plus sixteen oracle questions each, giving 544. Oracle means we supply known supporting facts as a diagnostic. Updated baselines receive the same approved information, with compatible generation settings and budgets. The stale initial condition is only a diagnostic reference. We score the endorsed short answer for the requested subject and relation. Merely mentioning a target value is insufficient. UNKNOWN abstentions receive zero primary credit and remain in the denominator. Configuration and scoring freeze before final inference.</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https://github.com/ShivamRaghav7/verity/tree/ae7bb2010a82fd1d744d008eb7c6f870198aece5/reports/reasonke/operations-final/protocol.json</a:t>
            </a:r>
          </a:p>
          <a:p xmlns:a="http://schemas.openxmlformats.org/drawingml/2006/main">
            <a:r>
              <a:t>https://github.com/ShivamRaghav7/verity/tree/ae7bb2010a82fd1d744d008eb7c6f870198aece5/reports/reasonke/depth-final/protocol.json</a:t>
            </a:r>
          </a:p>
          <a:p xmlns:a="http://schemas.openxmlformats.org/drawingml/2006/main">
            <a:r>
              <a:t>https://github.com/ShivamRaghav7/verity/tree/ae7bb2010a82fd1d744d008eb7c6f870198aece5/editguard_benchmark/scoring.py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With updated retrieved facts, ReasonKE scored 256 out of 256 and Qwen scored 241, with fifteen UNKNOWN abstentions. With full updated memory, ReasonKE scored 231 while Qwen scored 241. ReasonKE therefore did not win every comparison. All 25 ReasonKE full memory failures had the required support available and endorsed an answer from another supplied fact. That identifies an output association error without proving its internal cause. We also separate two locality measures. ReasonKE retrieval retained all 124 baseline correct controls, and it answered all 128 locality questions correctly. Retention measures preservation of previously correct answers. Factual accuracy also includes controls the initial assistant answered incorrectly.</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https://github.com/ShivamRaghav7/verity/tree/ae7bb2010a82fd1d744d008eb7c6f870198aece5/reports/reasonke/operations-final/results.json</a:t>
            </a:r>
          </a:p>
          <a:p xmlns:a="http://schemas.openxmlformats.org/drawingml/2006/main">
            <a:r>
              <a:t>https://github.com/ShivamRaghav7/verity/tree/ae7bb2010a82fd1d744d008eb7c6f870198aece5/reports/reasonke/operations-final/FAILURE_ANALYSIS.md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In the depth main test, ReasonKE scored 256 out of 256. Qwen scored 248 with eight abstentions. Each locality and depth group contains 64 questions. Qwen scored 64, 64, 57 and 63 across locality, one, two and three hops. ReasonKE scored 64 in every group. The overall difference is 3.125 percentage points. We estimate uncertainty by resampling whole lineages, keeping correlated variants together. The 95 percent interval is about 1.56 to 5.08 points. The three hop interval includes zero, so that comparison remains uncertain. Warm median and 95th percentile latency were 15.94 and 19.28 seconds for ReasonKE, versus 1.12 and 1.38 for Qwen. Higher observed answer coverage has a substantial speed cost.</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https://github.com/ShivamRaghav7/verity/tree/ae7bb2010a82fd1d744d008eb7c6f870198aece5/reports/reasonke/depth-final/results.json</a:t>
            </a:r>
          </a:p>
          <a:p xmlns:a="http://schemas.openxmlformats.org/drawingml/2006/main">
            <a:r>
              <a:t>https://github.com/ShivamRaghav7/verity/tree/ae7bb2010a82fd1d744d008eb7c6f870198aece5/reports/reasonke/depth-final/FAILURE_ANALYSIS.md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A perfect observed score is plausible here because each world has few explicit facts, retrieval supplied every required supporting path, answers are short, and task templates repeat. It does not establish universal natural language accuracy. The depth Qwen failures also show why depth alone is insufficient: seven of nine instances of one direct two hop wording template produced UNKNOWN, while the other direct templates scored 23 out of 23. All eight main failures had complete support. The preselected oracle set contains none of those failure identifiers, so it does not demonstrate their recovery. Separately, the explanation audit found unsupported intermediate claims. A correct final answer does not verify the whole reasoning trace.</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https://github.com/ShivamRaghav7/verity/tree/ae7bb2010a82fd1d744d008eb7c6f870198aece5/reports/reasonke/depth-final/FAILURE_ANALYSIS.md</a:t>
            </a:r>
          </a:p>
          <a:p xmlns:a="http://schemas.openxmlformats.org/drawingml/2006/main">
            <a:r>
              <a:t>https://github.com/ShivamRaghav7/verity/tree/ae7bb2010a82fd1d744d008eb7c6f870198aece5/docs/EXPLANATION_AUDIT.md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The completed website supports chat, explicit approval, conflict resolution, historical comparison and rollback. The finite India application workload produced fourteen correct neural answers and passed twelve provenance and transaction consistency checks. It represents one fictional display lineage and remains separate from held out accuracy. Our contribution is the governed application, versioned memory, retrieval adaptation, independent datasets and reproducible evaluation. The upstream authors supply the learned checkpoint and training. The evidence supports this system's defined short factual contract under the tested conditions. Larger memories, ambiguous scopes, missing evidence and independently reviewed operational language need further validation. We can now demonstrate a correction and its reversal. Thank you.</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https://github.com/ShivamRaghav7/verity/tree/ae7bb2010a82fd1d744d008eb7c6f870198aece5/reports/reasonke/depth-final/india-acceptance.json</a:t>
            </a:r>
          </a:p>
          <a:p xmlns:a="http://schemas.openxmlformats.org/drawingml/2006/main">
            <a:r>
              <a:t>https://github.com/ShivamRaghav7/verity/tree/ae7bb2010a82fd1d744d008eb7c6f870198aece5/reports/reasonke/depth-final/india-host-audit.json</a:t>
            </a:r>
          </a:p>
          <a:p xmlns:a="http://schemas.openxmlformats.org/drawingml/2006/main">
            <a:r>
              <a:t>https://github.com/ShivamRaghav7/verity/tree/ae7bb2010a82fd1d744d008eb7c6f870198aece5/docs/CONTRIBUTIONS_AND_EVIDENCE.md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46561c7a5f44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604a71770c4f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6f267305fb4e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8f630dd1a240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1fd17fdd1746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3011af98d54b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9BACFA-B84A-4BE8-879B-C75472B6E1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74A7DD-2AC3-4A36-AA1B-C20CDDB286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0EAEDE-55BB-41C8-A997-3EDD34147A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C3A166-A0CD-45D4-BD73-F7D9F19C76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2533B7-A44C-4817-ADB3-53AA1B510F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176BFC-0603-4DF6-9B75-24FD5072B0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EE9FB4-3D80-43FB-B8CE-43A2FC05D1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C8FB30-3AD8-40CD-A110-3DC12B4214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0C22CE-38E3-4B2D-95F7-D729FAAC5A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70B700-EC94-4712-8544-790D240B3A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06ff6cbe744f9d" /><Relationship Type="http://schemas.openxmlformats.org/officeDocument/2006/relationships/slideLayout" Target="/ppt/slideLayouts/slideLayout1.xml" Id="Rb3f2138bb86f4794" /><Relationship Type="http://schemas.openxmlformats.org/officeDocument/2006/relationships/slideLayout" Target="/ppt/slideLayouts/slideLayout2.xml" Id="R2a0a00b61a364987" /><Relationship Type="http://schemas.openxmlformats.org/officeDocument/2006/relationships/slideLayout" Target="/ppt/slideLayouts/slideLayout3.xml" Id="Rab44fabbd0034c37" /><Relationship Type="http://schemas.openxmlformats.org/officeDocument/2006/relationships/slideLayout" Target="/ppt/slideLayouts/slideLayout4.xml" Id="Rd28dc56553424fb9" /><Relationship Type="http://schemas.openxmlformats.org/officeDocument/2006/relationships/slideLayout" Target="/ppt/slideLayouts/slideLayout5.xml" Id="R56fc78a0f2c14075" /><Relationship Type="http://schemas.openxmlformats.org/officeDocument/2006/relationships/slideLayout" Target="/ppt/slideLayouts/slideLayout6.xml" Id="Rc408fb2e947f4c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f2138bb86f4794"/>
    <p:sldLayoutId xmlns:r="http://schemas.openxmlformats.org/officeDocument/2006/relationships" id="2147483650" r:id="R2a0a00b61a364987"/>
    <p:sldLayoutId xmlns:r="http://schemas.openxmlformats.org/officeDocument/2006/relationships" id="2147483651" r:id="Rab44fabbd0034c37"/>
    <p:sldLayoutId xmlns:r="http://schemas.openxmlformats.org/officeDocument/2006/relationships" id="2147483652" r:id="Rd28dc56553424fb9"/>
    <p:sldLayoutId xmlns:r="http://schemas.openxmlformats.org/officeDocument/2006/relationships" id="2147483653" r:id="R56fc78a0f2c14075"/>
    <p:sldLayoutId xmlns:r="http://schemas.openxmlformats.org/officeDocument/2006/relationships" id="2147483654" r:id="Rc408fb2e947f4c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1d43314cfa479f" /><Relationship Type="http://schemas.openxmlformats.org/officeDocument/2006/relationships/notesSlide" Target="/ppt/notesSlides/notesSlide1.xml" Id="R19acf848bfe148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1f87a7014d4b33" /><Relationship Type="http://schemas.openxmlformats.org/officeDocument/2006/relationships/notesSlide" Target="/ppt/notesSlides/notesSlide2.xml" Id="R796d493d0cfc4d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4aa7521f354e64" /><Relationship Type="http://schemas.openxmlformats.org/officeDocument/2006/relationships/notesSlide" Target="/ppt/notesSlides/notesSlide3.xml" Id="R31fe372fa51041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66f205079b4658" /><Relationship Type="http://schemas.openxmlformats.org/officeDocument/2006/relationships/notesSlide" Target="/ppt/notesSlides/notesSlide4.xml" Id="Rf6abd5c095fb4f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1659bbd1e4466c" /><Relationship Type="http://schemas.openxmlformats.org/officeDocument/2006/relationships/notesSlide" Target="/ppt/notesSlides/notesSlide5.xml" Id="R1be1bb35d04d4a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ab7ec1d8c147bf" /><Relationship Type="http://schemas.openxmlformats.org/officeDocument/2006/relationships/notesSlide" Target="/ppt/notesSlides/notesSlide6.xml" Id="Rc17d3668c5ac46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35f1383e9f1432b" /><Relationship Type="http://schemas.openxmlformats.org/officeDocument/2006/relationships/notesSlide" Target="/ppt/notesSlides/notesSlide7.xml" Id="Re60617318fa84f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146f79b4f04abf" /><Relationship Type="http://schemas.openxmlformats.org/officeDocument/2006/relationships/notesSlide" Target="/ppt/notesSlides/notesSlide8.xml" Id="R4f1ebb46db964e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d8d8b25022d41b1" /><Relationship Type="http://schemas.openxmlformats.org/officeDocument/2006/relationships/chart" Target="/ppt/slides/charts/chart1.xml" Id="R7ed61daa0e75406f" /><Relationship Type="http://schemas.openxmlformats.org/officeDocument/2006/relationships/notesSlide" Target="/ppt/notesSlides/notesSlide9.xml" Id="Rc07b6083cfe940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6db9cba35544020" /><Relationship Type="http://schemas.openxmlformats.org/officeDocument/2006/relationships/chart" Target="/ppt/slides/charts/chart2.xml" Id="Rdf679ecf8d7c45e4" /><Relationship Type="http://schemas.openxmlformats.org/officeDocument/2006/relationships/notesSlide" Target="/ppt/notesSlides/notesSlide10.xml" Id="R91b230b1406f4a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dbb579ec7d2453d" /><Relationship Type="http://schemas.openxmlformats.org/officeDocument/2006/relationships/notesSlide" Target="/ppt/notesSlides/notesSlide11.xml" Id="R3426750de91f4f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e516f45f3f4447a" /><Relationship Type="http://schemas.openxmlformats.org/officeDocument/2006/relationships/notesSlide" Target="/ppt/notesSlides/notesSlide12.xml" Id="R30028c042c2b46c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ReasonKE</c:v>
          </c:tx>
          <c:spPr>
            <a:solidFill xmlns:a="http://schemas.openxmlformats.org/drawingml/2006/main">
              <a:srgbClr val="26766D"/>
            </a:solidFill>
          </c:spPr>
          <c:invertIfNegative val="0"/>
          <c:cat>
            <c:strRef>
              <c:f>'Chart Data'!$A$2:$A$3</c:f>
              <c:strCache>
                <c:ptCount val="2"/>
                <c:pt idx="0">
                  <c:v>Updated retrieval</c:v>
                </c:pt>
                <c:pt idx="1">
                  <c:v>Full updated memory</c:v>
                </c:pt>
              </c:strCache>
            </c:strRef>
          </c:cat>
          <c:val>
            <c:numRef>
              <c:f>'Chart Data'!$B$2:$B$3</c:f>
              <c:numCache>
                <c:formatCode>0</c:formatCode>
                <c:ptCount val="2"/>
                <c:pt idx="0">
                  <c:v>256</c:v>
                </c:pt>
                <c:pt idx="1">
                  <c:v>231</c:v>
                </c:pt>
              </c:numCache>
            </c:numRef>
          </c:val>
        </c:ser>
        <c:ser>
          <c:idx val="1"/>
          <c:order val="1"/>
          <c:tx>
            <c:v>Qwen</c:v>
          </c:tx>
          <c:spPr>
            <a:solidFill xmlns:a="http://schemas.openxmlformats.org/drawingml/2006/main">
              <a:srgbClr val="627FAD"/>
            </a:solidFill>
          </c:spPr>
          <c:invertIfNegative val="0"/>
          <c:cat>
            <c:strRef>
              <c:f>'Chart Data'!$C$2:$C$3</c:f>
              <c:strCache>
                <c:ptCount val="2"/>
                <c:pt idx="0">
                  <c:v>Updated retrieval</c:v>
                </c:pt>
                <c:pt idx="1">
                  <c:v>Full updated memory</c:v>
                </c:pt>
              </c:strCache>
            </c:strRef>
          </c:cat>
          <c:val>
            <c:numRef>
              <c:f>'Chart Data'!$D$2:$D$3</c:f>
              <c:numCache>
                <c:formatCode>0</c:formatCode>
                <c:ptCount val="2"/>
                <c:pt idx="0">
                  <c:v>241</c:v>
                </c:pt>
                <c:pt idx="1">
                  <c:v>241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DE"/>
            </a:solidFill>
          </a:ln>
        </c:spPr>
        <c:txPr>
          <a:bodyPr xmlns:a="http://schemas.openxmlformats.org/drawingml/2006/main" anchorCtr="1"/>
          <a:lstStyle xmlns:a="http://schemas.openxmlformats.org/drawingml/2006/main"/>
          <a:p xmlns:a="http://schemas.openxmlformats.org/drawingml/2006/main">
            <a:pPr>
              <a:defRPr sz="1650">
                <a:solidFill>
                  <a:srgbClr val="152B2B"/>
                </a:solidFill>
              </a:defRPr>
            </a:pPr>
          </a:p>
        </c:txPr>
        <c:crossAx val="48672768"/>
      </c:catAx>
      <c:valAx>
        <c:axId val="48672768"/>
        <c:scaling>
          <c:orientation val="minMax"/>
          <c:max val="280"/>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500">
                    <a:solidFill>
                      <a:srgbClr val="526464"/>
                    </a:solidFill>
                  </a:rPr>
                  <a:t>Correct answers</a:t>
                </a:r>
              </a:p>
            </c:rich>
          </c:tx>
          <c:overlay val="0"/>
          <c:txPr>
            <a:bodyPr xmlns:a="http://schemas.openxmlformats.org/drawingml/2006/main" anchorCtr="1"/>
            <a:lstStyle xmlns:a="http://schemas.openxmlformats.org/drawingml/2006/main"/>
            <a:p xmlns:a="http://schemas.openxmlformats.org/drawingml/2006/main">
              <a:pPr>
                <a:defRPr sz="1500">
                  <a:solidFill>
                    <a:srgbClr val="526464"/>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464"/>
                </a:solidFill>
              </a:defRPr>
            </a:pPr>
          </a:p>
        </c:txPr>
        <c:crossAx val="48650112"/>
        <c:crossBetween val="between"/>
        <c:majorUnit val="64"/>
      </c:valAx>
      <c:spPr>
        <a:solidFill xmlns:a="http://schemas.openxmlformats.org/drawingml/2006/main">
          <a:srgbClr val="FAFB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2B2B"/>
              </a:solidFill>
            </a:defRPr>
          </a:pPr>
        </a:p>
      </c:txPr>
    </c:legend>
    <c:plotVisOnly val="1"/>
  </c:chart>
  <c:spPr>
    <a:solidFill xmlns:a="http://schemas.openxmlformats.org/drawingml/2006/main">
      <a:srgbClr val="FAFBF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ReasonKE</c:v>
          </c:tx>
          <c:spPr>
            <a:solidFill xmlns:a="http://schemas.openxmlformats.org/drawingml/2006/main">
              <a:srgbClr val="26766D"/>
            </a:solidFill>
          </c:spPr>
          <c:invertIfNegative val="0"/>
          <c:cat>
            <c:strRef>
              <c:f>'Chart Data'!$A$2:$A$5</c:f>
              <c:strCache>
                <c:ptCount val="4"/>
                <c:pt idx="0">
                  <c:v>Locality</c:v>
                </c:pt>
                <c:pt idx="1">
                  <c:v>1 hop</c:v>
                </c:pt>
                <c:pt idx="2">
                  <c:v>2 hops</c:v>
                </c:pt>
                <c:pt idx="3">
                  <c:v>3 hops</c:v>
                </c:pt>
              </c:strCache>
            </c:strRef>
          </c:cat>
          <c:val>
            <c:numRef>
              <c:f>'Chart Data'!$B$2:$B$5</c:f>
              <c:numCache>
                <c:formatCode>0</c:formatCode>
                <c:ptCount val="4"/>
                <c:pt idx="0">
                  <c:v>64</c:v>
                </c:pt>
                <c:pt idx="1">
                  <c:v>64</c:v>
                </c:pt>
                <c:pt idx="2">
                  <c:v>64</c:v>
                </c:pt>
                <c:pt idx="3">
                  <c:v>64</c:v>
                </c:pt>
              </c:numCache>
            </c:numRef>
          </c:val>
        </c:ser>
        <c:ser>
          <c:idx val="1"/>
          <c:order val="1"/>
          <c:tx>
            <c:v>Qwen</c:v>
          </c:tx>
          <c:spPr>
            <a:solidFill xmlns:a="http://schemas.openxmlformats.org/drawingml/2006/main">
              <a:srgbClr val="627FAD"/>
            </a:solidFill>
          </c:spPr>
          <c:invertIfNegative val="0"/>
          <c:cat>
            <c:strRef>
              <c:f>'Chart Data'!$C$2:$C$5</c:f>
              <c:strCache>
                <c:ptCount val="4"/>
                <c:pt idx="0">
                  <c:v>Locality</c:v>
                </c:pt>
                <c:pt idx="1">
                  <c:v>1 hop</c:v>
                </c:pt>
                <c:pt idx="2">
                  <c:v>2 hops</c:v>
                </c:pt>
                <c:pt idx="3">
                  <c:v>3 hops</c:v>
                </c:pt>
              </c:strCache>
            </c:strRef>
          </c:cat>
          <c:val>
            <c:numRef>
              <c:f>'Chart Data'!$D$2:$D$5</c:f>
              <c:numCache>
                <c:formatCode>0</c:formatCode>
                <c:ptCount val="4"/>
                <c:pt idx="0">
                  <c:v>64</c:v>
                </c:pt>
                <c:pt idx="1">
                  <c:v>64</c:v>
                </c:pt>
                <c:pt idx="2">
                  <c:v>57</c:v>
                </c:pt>
                <c:pt idx="3">
                  <c:v>63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DE"/>
            </a:solidFill>
          </a:ln>
        </c:spPr>
        <c:txPr>
          <a:bodyPr xmlns:a="http://schemas.openxmlformats.org/drawingml/2006/main" anchorCtr="1"/>
          <a:lstStyle xmlns:a="http://schemas.openxmlformats.org/drawingml/2006/main"/>
          <a:p xmlns:a="http://schemas.openxmlformats.org/drawingml/2006/main">
            <a:pPr>
              <a:defRPr sz="1650">
                <a:solidFill>
                  <a:srgbClr val="152B2B"/>
                </a:solidFill>
              </a:defRPr>
            </a:pPr>
          </a:p>
        </c:txPr>
        <c:crossAx val="48672768"/>
      </c:catAx>
      <c:valAx>
        <c:axId val="48672768"/>
        <c:scaling>
          <c:orientation val="minMax"/>
          <c:max val="72"/>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500">
                    <a:solidFill>
                      <a:srgbClr val="526464"/>
                    </a:solidFill>
                  </a:rPr>
                  <a:t>Correct answers</a:t>
                </a:r>
              </a:p>
            </c:rich>
          </c:tx>
          <c:overlay val="0"/>
          <c:txPr>
            <a:bodyPr xmlns:a="http://schemas.openxmlformats.org/drawingml/2006/main" anchorCtr="1"/>
            <a:lstStyle xmlns:a="http://schemas.openxmlformats.org/drawingml/2006/main"/>
            <a:p xmlns:a="http://schemas.openxmlformats.org/drawingml/2006/main">
              <a:pPr>
                <a:defRPr sz="1500">
                  <a:solidFill>
                    <a:srgbClr val="526464"/>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464"/>
                </a:solidFill>
              </a:defRPr>
            </a:pPr>
          </a:p>
        </c:txPr>
        <c:crossAx val="48650112"/>
        <c:crossBetween val="between"/>
        <c:majorUnit val="16"/>
      </c:valAx>
      <c:spPr>
        <a:solidFill xmlns:a="http://schemas.openxmlformats.org/drawingml/2006/main">
          <a:srgbClr val="FAFB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2B2B"/>
              </a:solidFill>
            </a:defRPr>
          </a:pPr>
        </a:p>
      </c:txPr>
    </c:legend>
    <c:plotVisOnly val="1"/>
  </c:chart>
  <c:spPr>
    <a:solidFill xmlns:a="http://schemas.openxmlformats.org/drawingml/2006/main">
      <a:srgbClr val="FAFB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B2B"/>
        </a:solidFill>
      </p:bgPr>
    </p:bg>
    <p:spTree>
      <p:nvGrpSpPr>
        <p:cNvPr id="1" name=""/>
        <p:cNvGrpSpPr/>
        <p:nvPr/>
      </p:nvGrpSpPr>
      <p:grpSpPr>
        <a:xfrm xmlns:a="http://schemas.openxmlformats.org/drawingml/2006/main"/>
      </p:grpSpPr>
      <p:sp>
        <p:nvSpPr>
          <p:cNvPr id="2" name="Verity">
            <a:extLst xmlns:a="http://schemas.openxmlformats.org/drawingml/2006/main">
              <a:ext uri="{FF2B5EF4-FFF2-40B4-BE49-F238E27FC236}">
                <a16:creationId xmlns:a16="http://schemas.microsoft.com/office/drawing/2014/main" id="{E83407B9-C5F5-4C08-B3FD-FCBC30AA94C3}"/>
              </a:ext>
            </a:extLst>
          </p:cNvPr>
          <p:cNvSpPr>
            <a:spLocks xmlns:a="http://schemas.openxmlformats.org/drawingml/2006/main" noGrp="1"/>
          </p:cNvSpPr>
          <p:nvPr/>
        </p:nvSpPr>
        <p:spPr>
          <a:xfrm xmlns:a="http://schemas.openxmlformats.org/drawingml/2006/main">
            <a:off x="666750" y="133350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200" b="1">
                <a:solidFill>
                  <a:srgbClr val="FFFFFF"/>
                </a:solidFill>
                <a:latin typeface="Calibri"/>
                <a:ea typeface="Calibri"/>
                <a:cs typeface="Calibri"/>
              </a:defRPr>
            </a:defPPr>
            <a:lvl1pPr>
              <a:defRPr sz="7200" b="1">
                <a:solidFill>
                  <a:srgbClr val="FFFFFF"/>
                </a:solidFill>
                <a:latin typeface="Calibri"/>
                <a:ea typeface="Calibri"/>
                <a:cs typeface="Calibri"/>
              </a:defRPr>
            </a:lvl1pPr>
            <a:lvl2pPr>
              <a:defRPr sz="7200" b="1">
                <a:solidFill>
                  <a:srgbClr val="FFFFFF"/>
                </a:solidFill>
                <a:latin typeface="Calibri"/>
                <a:ea typeface="Calibri"/>
                <a:cs typeface="Calibri"/>
              </a:defRPr>
            </a:lvl2pPr>
            <a:lvl3pPr>
              <a:defRPr sz="7200" b="1">
                <a:solidFill>
                  <a:srgbClr val="FFFFFF"/>
                </a:solidFill>
                <a:latin typeface="Calibri"/>
                <a:ea typeface="Calibri"/>
                <a:cs typeface="Calibri"/>
              </a:defRPr>
            </a:lvl3pPr>
            <a:lvl4pPr>
              <a:defRPr sz="7200" b="1">
                <a:solidFill>
                  <a:srgbClr val="FFFFFF"/>
                </a:solidFill>
                <a:latin typeface="Calibri"/>
                <a:ea typeface="Calibri"/>
                <a:cs typeface="Calibri"/>
              </a:defRPr>
            </a:lvl4pPr>
            <a:lvl5pPr>
              <a:defRPr sz="7200" b="1">
                <a:solidFill>
                  <a:srgbClr val="FFFFFF"/>
                </a:solidFill>
                <a:latin typeface="Calibri"/>
                <a:ea typeface="Calibri"/>
                <a:cs typeface="Calibri"/>
              </a:defRPr>
            </a:lvl5pPr>
            <a:lvl6pPr>
              <a:defRPr sz="7200" b="1">
                <a:solidFill>
                  <a:srgbClr val="FFFFFF"/>
                </a:solidFill>
                <a:latin typeface="Calibri"/>
                <a:ea typeface="Calibri"/>
                <a:cs typeface="Calibri"/>
              </a:defRPr>
            </a:lvl6pPr>
            <a:lvl7pPr>
              <a:defRPr sz="7200" b="1">
                <a:solidFill>
                  <a:srgbClr val="FFFFFF"/>
                </a:solidFill>
                <a:latin typeface="Calibri"/>
                <a:ea typeface="Calibri"/>
                <a:cs typeface="Calibri"/>
              </a:defRPr>
            </a:lvl7pPr>
            <a:lvl8pPr>
              <a:defRPr sz="7200" b="1">
                <a:solidFill>
                  <a:srgbClr val="FFFFFF"/>
                </a:solidFill>
                <a:latin typeface="Calibri"/>
                <a:ea typeface="Calibri"/>
                <a:cs typeface="Calibri"/>
              </a:defRPr>
            </a:lvl8pPr>
            <a:lvl9pPr>
              <a:defRPr sz="7200" b="1">
                <a:solidFill>
                  <a:srgbClr val="FFFFFF"/>
                </a:solidFill>
                <a:latin typeface="Calibri"/>
                <a:ea typeface="Calibri"/>
                <a:cs typeface="Calibri"/>
              </a:defRPr>
            </a:lvl9pPr>
          </a:lstStyle>
          <a:p xmlns:a="http://schemas.openxmlformats.org/drawingml/2006/main">
            <a:pPr>
              <a:defRPr sz="7200" b="1">
                <a:solidFill>
                  <a:srgbClr val="FFFFFF"/>
                </a:solidFill>
                <a:latin typeface="Calibri"/>
                <a:ea typeface="Calibri"/>
                <a:cs typeface="Calibri"/>
              </a:defRPr>
            </a:pPr>
            <a:r>
              <a:rPr sz="7200" b="1">
                <a:solidFill>
                  <a:srgbClr val="FFFFFF"/>
                </a:solidFill>
                <a:latin typeface="Calibri"/>
                <a:ea typeface="Calibri"/>
                <a:cs typeface="Calibri"/>
              </a:rPr>
              <a:t>Verity</a:t>
            </a:r>
          </a:p>
        </p:txBody>
      </p:sp>
      <p:sp>
        <p:nvSpPr>
          <p:cNvPr id="3" name="Knowledge Editing and Verification Platform">
            <a:extLst xmlns:a="http://schemas.openxmlformats.org/drawingml/2006/main">
              <a:ext uri="{FF2B5EF4-FFF2-40B4-BE49-F238E27FC236}">
                <a16:creationId xmlns:a16="http://schemas.microsoft.com/office/drawing/2014/main" id="{5B443AC0-1507-43EE-8220-7188244994F3}"/>
              </a:ext>
            </a:extLst>
          </p:cNvPr>
          <p:cNvSpPr>
            <a:spLocks xmlns:a="http://schemas.openxmlformats.org/drawingml/2006/main" noGrp="1"/>
          </p:cNvSpPr>
          <p:nvPr/>
        </p:nvSpPr>
        <p:spPr>
          <a:xfrm xmlns:a="http://schemas.openxmlformats.org/drawingml/2006/main">
            <a:off x="704850" y="27146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0">
                <a:solidFill>
                  <a:srgbClr val="FFFFFF"/>
                </a:solidFill>
                <a:latin typeface="Calibri"/>
                <a:ea typeface="Calibri"/>
                <a:cs typeface="Calibri"/>
              </a:defRPr>
            </a:defPPr>
            <a:lvl1pPr>
              <a:defRPr sz="2925" b="0">
                <a:solidFill>
                  <a:srgbClr val="FFFFFF"/>
                </a:solidFill>
                <a:latin typeface="Calibri"/>
                <a:ea typeface="Calibri"/>
                <a:cs typeface="Calibri"/>
              </a:defRPr>
            </a:lvl1pPr>
            <a:lvl2pPr>
              <a:defRPr sz="2925" b="0">
                <a:solidFill>
                  <a:srgbClr val="FFFFFF"/>
                </a:solidFill>
                <a:latin typeface="Calibri"/>
                <a:ea typeface="Calibri"/>
                <a:cs typeface="Calibri"/>
              </a:defRPr>
            </a:lvl2pPr>
            <a:lvl3pPr>
              <a:defRPr sz="2925" b="0">
                <a:solidFill>
                  <a:srgbClr val="FFFFFF"/>
                </a:solidFill>
                <a:latin typeface="Calibri"/>
                <a:ea typeface="Calibri"/>
                <a:cs typeface="Calibri"/>
              </a:defRPr>
            </a:lvl3pPr>
            <a:lvl4pPr>
              <a:defRPr sz="2925" b="0">
                <a:solidFill>
                  <a:srgbClr val="FFFFFF"/>
                </a:solidFill>
                <a:latin typeface="Calibri"/>
                <a:ea typeface="Calibri"/>
                <a:cs typeface="Calibri"/>
              </a:defRPr>
            </a:lvl4pPr>
            <a:lvl5pPr>
              <a:defRPr sz="2925" b="0">
                <a:solidFill>
                  <a:srgbClr val="FFFFFF"/>
                </a:solidFill>
                <a:latin typeface="Calibri"/>
                <a:ea typeface="Calibri"/>
                <a:cs typeface="Calibri"/>
              </a:defRPr>
            </a:lvl5pPr>
            <a:lvl6pPr>
              <a:defRPr sz="2925" b="0">
                <a:solidFill>
                  <a:srgbClr val="FFFFFF"/>
                </a:solidFill>
                <a:latin typeface="Calibri"/>
                <a:ea typeface="Calibri"/>
                <a:cs typeface="Calibri"/>
              </a:defRPr>
            </a:lvl6pPr>
            <a:lvl7pPr>
              <a:defRPr sz="2925" b="0">
                <a:solidFill>
                  <a:srgbClr val="FFFFFF"/>
                </a:solidFill>
                <a:latin typeface="Calibri"/>
                <a:ea typeface="Calibri"/>
                <a:cs typeface="Calibri"/>
              </a:defRPr>
            </a:lvl7pPr>
            <a:lvl8pPr>
              <a:defRPr sz="2925" b="0">
                <a:solidFill>
                  <a:srgbClr val="FFFFFF"/>
                </a:solidFill>
                <a:latin typeface="Calibri"/>
                <a:ea typeface="Calibri"/>
                <a:cs typeface="Calibri"/>
              </a:defRPr>
            </a:lvl8pPr>
            <a:lvl9pPr>
              <a:defRPr sz="2925" b="0">
                <a:solidFill>
                  <a:srgbClr val="FFFFFF"/>
                </a:solidFill>
                <a:latin typeface="Calibri"/>
                <a:ea typeface="Calibri"/>
                <a:cs typeface="Calibri"/>
              </a:defRPr>
            </a:lvl9pPr>
          </a:lstStyle>
          <a:p xmlns:a="http://schemas.openxmlformats.org/drawingml/2006/main">
            <a:pPr>
              <a:defRPr sz="2925" b="0">
                <a:solidFill>
                  <a:srgbClr val="FFFFFF"/>
                </a:solidFill>
                <a:latin typeface="Calibri"/>
                <a:ea typeface="Calibri"/>
                <a:cs typeface="Calibri"/>
              </a:defRPr>
            </a:pPr>
            <a:r>
              <a:rPr sz="2925" b="0">
                <a:solidFill>
                  <a:srgbClr val="FFFFFF"/>
                </a:solidFill>
                <a:latin typeface="Calibri"/>
                <a:ea typeface="Calibri"/>
                <a:cs typeface="Calibri"/>
              </a:rPr>
              <a:t>Knowledge Editing and Verification Platform</a:t>
            </a:r>
          </a:p>
        </p:txBody>
      </p:sp>
      <p:sp>
        <p:nvSpPr>
          <p:cNvPr id="4" name="Versioned memory, bounded retrieval and a learned reaso">
            <a:extLst xmlns:a="http://schemas.openxmlformats.org/drawingml/2006/main">
              <a:ext uri="{FF2B5EF4-FFF2-40B4-BE49-F238E27FC236}">
                <a16:creationId xmlns:a16="http://schemas.microsoft.com/office/drawing/2014/main" id="{3793C4DA-9415-4966-9A9A-1B5B6F17D175}"/>
              </a:ext>
            </a:extLst>
          </p:cNvPr>
          <p:cNvSpPr>
            <a:spLocks xmlns:a="http://schemas.openxmlformats.org/drawingml/2006/main" noGrp="1"/>
          </p:cNvSpPr>
          <p:nvPr/>
        </p:nvSpPr>
        <p:spPr>
          <a:xfrm xmlns:a="http://schemas.openxmlformats.org/drawingml/2006/main">
            <a:off x="704850" y="411480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C8DED7"/>
                </a:solidFill>
                <a:latin typeface="Calibri"/>
                <a:ea typeface="Calibri"/>
                <a:cs typeface="Calibri"/>
              </a:defRPr>
            </a:defPPr>
            <a:lvl1pPr>
              <a:defRPr sz="2175" b="0">
                <a:solidFill>
                  <a:srgbClr val="C8DED7"/>
                </a:solidFill>
                <a:latin typeface="Calibri"/>
                <a:ea typeface="Calibri"/>
                <a:cs typeface="Calibri"/>
              </a:defRPr>
            </a:lvl1pPr>
            <a:lvl2pPr>
              <a:defRPr sz="2175" b="0">
                <a:solidFill>
                  <a:srgbClr val="C8DED7"/>
                </a:solidFill>
                <a:latin typeface="Calibri"/>
                <a:ea typeface="Calibri"/>
                <a:cs typeface="Calibri"/>
              </a:defRPr>
            </a:lvl2pPr>
            <a:lvl3pPr>
              <a:defRPr sz="2175" b="0">
                <a:solidFill>
                  <a:srgbClr val="C8DED7"/>
                </a:solidFill>
                <a:latin typeface="Calibri"/>
                <a:ea typeface="Calibri"/>
                <a:cs typeface="Calibri"/>
              </a:defRPr>
            </a:lvl3pPr>
            <a:lvl4pPr>
              <a:defRPr sz="2175" b="0">
                <a:solidFill>
                  <a:srgbClr val="C8DED7"/>
                </a:solidFill>
                <a:latin typeface="Calibri"/>
                <a:ea typeface="Calibri"/>
                <a:cs typeface="Calibri"/>
              </a:defRPr>
            </a:lvl4pPr>
            <a:lvl5pPr>
              <a:defRPr sz="2175" b="0">
                <a:solidFill>
                  <a:srgbClr val="C8DED7"/>
                </a:solidFill>
                <a:latin typeface="Calibri"/>
                <a:ea typeface="Calibri"/>
                <a:cs typeface="Calibri"/>
              </a:defRPr>
            </a:lvl5pPr>
            <a:lvl6pPr>
              <a:defRPr sz="2175" b="0">
                <a:solidFill>
                  <a:srgbClr val="C8DED7"/>
                </a:solidFill>
                <a:latin typeface="Calibri"/>
                <a:ea typeface="Calibri"/>
                <a:cs typeface="Calibri"/>
              </a:defRPr>
            </a:lvl6pPr>
            <a:lvl7pPr>
              <a:defRPr sz="2175" b="0">
                <a:solidFill>
                  <a:srgbClr val="C8DED7"/>
                </a:solidFill>
                <a:latin typeface="Calibri"/>
                <a:ea typeface="Calibri"/>
                <a:cs typeface="Calibri"/>
              </a:defRPr>
            </a:lvl7pPr>
            <a:lvl8pPr>
              <a:defRPr sz="2175" b="0">
                <a:solidFill>
                  <a:srgbClr val="C8DED7"/>
                </a:solidFill>
                <a:latin typeface="Calibri"/>
                <a:ea typeface="Calibri"/>
                <a:cs typeface="Calibri"/>
              </a:defRPr>
            </a:lvl8pPr>
            <a:lvl9pPr>
              <a:defRPr sz="2175" b="0">
                <a:solidFill>
                  <a:srgbClr val="C8DED7"/>
                </a:solidFill>
                <a:latin typeface="Calibri"/>
                <a:ea typeface="Calibri"/>
                <a:cs typeface="Calibri"/>
              </a:defRPr>
            </a:lvl9pPr>
          </a:lstStyle>
          <a:p xmlns:a="http://schemas.openxmlformats.org/drawingml/2006/main">
            <a:pPr>
              <a:defRPr sz="2175" b="0">
                <a:solidFill>
                  <a:srgbClr val="C8DED7"/>
                </a:solidFill>
                <a:latin typeface="Calibri"/>
                <a:ea typeface="Calibri"/>
                <a:cs typeface="Calibri"/>
              </a:defRPr>
            </a:pPr>
            <a:r>
              <a:rPr sz="2175" b="0">
                <a:solidFill>
                  <a:srgbClr val="C8DED7"/>
                </a:solidFill>
                <a:latin typeface="Calibri"/>
                <a:ea typeface="Calibri"/>
                <a:cs typeface="Calibri"/>
              </a:rPr>
              <a:t>Versioned memory, bounded retrieval and a learned reasoner</a:t>
            </a:r>
          </a:p>
        </p:txBody>
      </p:sp>
      <p:sp>
        <p:nvSpPr>
          <p:cNvPr id="5" name="Technical project presentation">
            <a:extLst xmlns:a="http://schemas.openxmlformats.org/drawingml/2006/main">
              <a:ext uri="{FF2B5EF4-FFF2-40B4-BE49-F238E27FC236}">
                <a16:creationId xmlns:a16="http://schemas.microsoft.com/office/drawing/2014/main" id="{13B73674-75D8-452B-95BE-7309FCE7DD85}"/>
              </a:ext>
            </a:extLst>
          </p:cNvPr>
          <p:cNvSpPr>
            <a:spLocks xmlns:a="http://schemas.openxmlformats.org/drawingml/2006/main" noGrp="1"/>
          </p:cNvSpPr>
          <p:nvPr/>
        </p:nvSpPr>
        <p:spPr>
          <a:xfrm xmlns:a="http://schemas.openxmlformats.org/drawingml/2006/main">
            <a:off x="704850" y="590550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8DED7"/>
                </a:solidFill>
                <a:latin typeface="Calibri"/>
                <a:ea typeface="Calibri"/>
                <a:cs typeface="Calibri"/>
              </a:defRPr>
            </a:defPPr>
            <a:lvl1pPr>
              <a:defRPr sz="1650" b="0">
                <a:solidFill>
                  <a:srgbClr val="C8DED7"/>
                </a:solidFill>
                <a:latin typeface="Calibri"/>
                <a:ea typeface="Calibri"/>
                <a:cs typeface="Calibri"/>
              </a:defRPr>
            </a:lvl1pPr>
            <a:lvl2pPr>
              <a:defRPr sz="1650" b="0">
                <a:solidFill>
                  <a:srgbClr val="C8DED7"/>
                </a:solidFill>
                <a:latin typeface="Calibri"/>
                <a:ea typeface="Calibri"/>
                <a:cs typeface="Calibri"/>
              </a:defRPr>
            </a:lvl2pPr>
            <a:lvl3pPr>
              <a:defRPr sz="1650" b="0">
                <a:solidFill>
                  <a:srgbClr val="C8DED7"/>
                </a:solidFill>
                <a:latin typeface="Calibri"/>
                <a:ea typeface="Calibri"/>
                <a:cs typeface="Calibri"/>
              </a:defRPr>
            </a:lvl3pPr>
            <a:lvl4pPr>
              <a:defRPr sz="1650" b="0">
                <a:solidFill>
                  <a:srgbClr val="C8DED7"/>
                </a:solidFill>
                <a:latin typeface="Calibri"/>
                <a:ea typeface="Calibri"/>
                <a:cs typeface="Calibri"/>
              </a:defRPr>
            </a:lvl4pPr>
            <a:lvl5pPr>
              <a:defRPr sz="1650" b="0">
                <a:solidFill>
                  <a:srgbClr val="C8DED7"/>
                </a:solidFill>
                <a:latin typeface="Calibri"/>
                <a:ea typeface="Calibri"/>
                <a:cs typeface="Calibri"/>
              </a:defRPr>
            </a:lvl5pPr>
            <a:lvl6pPr>
              <a:defRPr sz="1650" b="0">
                <a:solidFill>
                  <a:srgbClr val="C8DED7"/>
                </a:solidFill>
                <a:latin typeface="Calibri"/>
                <a:ea typeface="Calibri"/>
                <a:cs typeface="Calibri"/>
              </a:defRPr>
            </a:lvl6pPr>
            <a:lvl7pPr>
              <a:defRPr sz="1650" b="0">
                <a:solidFill>
                  <a:srgbClr val="C8DED7"/>
                </a:solidFill>
                <a:latin typeface="Calibri"/>
                <a:ea typeface="Calibri"/>
                <a:cs typeface="Calibri"/>
              </a:defRPr>
            </a:lvl7pPr>
            <a:lvl8pPr>
              <a:defRPr sz="1650" b="0">
                <a:solidFill>
                  <a:srgbClr val="C8DED7"/>
                </a:solidFill>
                <a:latin typeface="Calibri"/>
                <a:ea typeface="Calibri"/>
                <a:cs typeface="Calibri"/>
              </a:defRPr>
            </a:lvl8pPr>
            <a:lvl9pPr>
              <a:defRPr sz="1650" b="0">
                <a:solidFill>
                  <a:srgbClr val="C8DED7"/>
                </a:solidFill>
                <a:latin typeface="Calibri"/>
                <a:ea typeface="Calibri"/>
                <a:cs typeface="Calibri"/>
              </a:defRPr>
            </a:lvl9pPr>
          </a:lstStyle>
          <a:p xmlns:a="http://schemas.openxmlformats.org/drawingml/2006/main">
            <a:pPr>
              <a:defRPr sz="1650" b="0">
                <a:solidFill>
                  <a:srgbClr val="C8DED7"/>
                </a:solidFill>
                <a:latin typeface="Calibri"/>
                <a:ea typeface="Calibri"/>
                <a:cs typeface="Calibri"/>
              </a:defRPr>
            </a:pPr>
            <a:r>
              <a:rPr sz="1650" b="0">
                <a:solidFill>
                  <a:srgbClr val="C8DED7"/>
                </a:solidFill>
                <a:latin typeface="Calibri"/>
                <a:ea typeface="Calibri"/>
                <a:cs typeface="Calibri"/>
              </a:rPr>
              <a:t>Technical project presentation</a:t>
            </a:r>
          </a:p>
        </p:txBody>
      </p:sp>
    </p:spTree>
    <p:extLst>
      <p:ext uri="{BB962C8B-B14F-4D97-AF65-F5344CB8AC3E}">
        <p14:creationId xmlns:p14="http://schemas.microsoft.com/office/powerpoint/2010/main" val="849666631"/>
      </p:ext>
    </p:extLst>
  </p:cSld>
</p:sld>
</file>

<file path=ppt/slides/slide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The edit contract and three hop dependence">
            <a:extLst xmlns:a="http://schemas.openxmlformats.org/drawingml/2006/main">
              <a:ext uri="{FF2B5EF4-FFF2-40B4-BE49-F238E27FC236}">
                <a16:creationId xmlns:a16="http://schemas.microsoft.com/office/drawing/2014/main" id="{DBE0500D-3C3B-4585-9FD9-84960115A12F}"/>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The edit contract and three hop dependence</a:t>
            </a:r>
          </a:p>
        </p:txBody>
      </p:sp>
      <p:sp>
        <p:nvSpPr>
          <p:cNvPr id="3" name="One approved ownership replacement changes a connected ">
            <a:extLst xmlns:a="http://schemas.openxmlformats.org/drawingml/2006/main">
              <a:ext uri="{FF2B5EF4-FFF2-40B4-BE49-F238E27FC236}">
                <a16:creationId xmlns:a16="http://schemas.microsoft.com/office/drawing/2014/main" id="{C02F5B0C-EBBE-4569-A45B-221EE7383DEA}"/>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One approved ownership replacement changes a connected answer path</a:t>
            </a:r>
          </a:p>
        </p:txBody>
      </p:sp>
      <p:sp>
        <p:nvSpPr>
          <p:cNvPr id="4" name="2">
            <a:extLst xmlns:a="http://schemas.openxmlformats.org/drawingml/2006/main">
              <a:ext uri="{FF2B5EF4-FFF2-40B4-BE49-F238E27FC236}">
                <a16:creationId xmlns:a16="http://schemas.microsoft.com/office/drawing/2014/main" id="{118348DF-9F40-4133-92EE-6C3661C3B04D}"/>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2</a:t>
            </a:r>
          </a:p>
        </p:txBody>
      </p:sp>
      <p:graphicFrame>
        <p:nvGraphicFramePr>
          <p:cNvPr id="5" name="">
            <a:extLst xmlns:a="http://schemas.openxmlformats.org/drawingml/2006/main">
              <a:ext uri="{FF2B5EF4-FFF2-40B4-BE49-F238E27FC236}">
                <a16:creationId xmlns:a16="http://schemas.microsoft.com/office/drawing/2014/main" id="{24258736-D01A-4755-AE09-94F58CBF532E}"/>
              </a:ext>
            </a:extLst>
          </p:cNvPr>
          <p:cNvGraphicFramePr/>
          <p:nvPr/>
        </p:nvGraphicFramePr>
        <p:xfrm>
          <a:off xmlns:a="http://schemas.openxmlformats.org/drawingml/2006/main" x="628650" y="1905000"/>
          <a:ext xmlns:a="http://schemas.openxmlformats.org/drawingml/2006/main" cx="10906125" cy="3048000"/>
        </p:xfrm>
        <a:graphic xmlns:a="http://schemas.openxmlformats.org/drawingml/2006/main">
          <a:graphicData uri="http://schemas.openxmlformats.org/drawingml/2006/table">
            <a:tbl>
              <a:tblPr/>
              <a:tblGrid>
                <a:gridCol w="2619375"/>
                <a:gridCol w="4143375"/>
                <a:gridCol w="4143375"/>
              </a:tblGrid>
              <a:tr h="762000">
                <a:tc>
                  <a:txBody>
                    <a:bodyPr lIns="95250" tIns="95250" rIns="95250" bIns="95250"/>
                    <a:lstStyle/>
                    <a:p>
                      <a:r>
                        <a:rPr sz="1875" b="1">
                          <a:solidFill>
                            <a:srgbClr val="152B2B"/>
                          </a:solidFill>
                          <a:latin typeface="Calibri"/>
                          <a:ea typeface="Calibri"/>
                          <a:cs typeface="Calibri"/>
                        </a:rPr>
                        <a:t>Relation</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Initial answer path</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Corrected answer path</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762000">
                <a:tc>
                  <a:txBody>
                    <a:bodyPr lIns="95250" tIns="95250" rIns="95250" bIns="95250"/>
                    <a:lstStyle/>
                    <a:p>
                      <a:r>
                        <a:rPr sz="1875" b="0">
                          <a:solidFill>
                            <a:srgbClr val="152B2B"/>
                          </a:solidFill>
                          <a:latin typeface="Calibri"/>
                          <a:ea typeface="Calibri"/>
                          <a:cs typeface="Calibri"/>
                        </a:rPr>
                        <a:t>Gateway owner</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Bengaluru Platform Team</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Pune Reliability Team</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762000">
                <a:tc>
                  <a:txBody>
                    <a:bodyPr lIns="95250" tIns="95250" rIns="95250" bIns="95250"/>
                    <a:lstStyle/>
                    <a:p>
                      <a:r>
                        <a:rPr sz="1875" b="0">
                          <a:solidFill>
                            <a:srgbClr val="152B2B"/>
                          </a:solidFill>
                          <a:latin typeface="Calibri"/>
                          <a:ea typeface="Calibri"/>
                          <a:cs typeface="Calibri"/>
                        </a:rPr>
                        <a:t>Owner contact</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Meera Iyer</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Arjun Deshmukh</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762000">
                <a:tc>
                  <a:txBody>
                    <a:bodyPr lIns="95250" tIns="95250" rIns="95250" bIns="95250"/>
                    <a:lstStyle/>
                    <a:p>
                      <a:r>
                        <a:rPr sz="1875" b="0">
                          <a:solidFill>
                            <a:srgbClr val="152B2B"/>
                          </a:solidFill>
                          <a:latin typeface="Calibri"/>
                          <a:ea typeface="Calibri"/>
                          <a:cs typeface="Calibri"/>
                        </a:rPr>
                        <a:t>Contact office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Chennai</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Hyderabad</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6" name="Locality controls">
            <a:extLst xmlns:a="http://schemas.openxmlformats.org/drawingml/2006/main">
              <a:ext uri="{FF2B5EF4-FFF2-40B4-BE49-F238E27FC236}">
                <a16:creationId xmlns:a16="http://schemas.microsoft.com/office/drawing/2014/main" id="{B5F5B80E-CFCE-4121-A67E-C5A9519B6CA9}"/>
              </a:ext>
            </a:extLst>
          </p:cNvPr>
          <p:cNvSpPr>
            <a:spLocks xmlns:a="http://schemas.openxmlformats.org/drawingml/2006/main" noGrp="1"/>
          </p:cNvSpPr>
          <p:nvPr/>
        </p:nvSpPr>
        <p:spPr>
          <a:xfrm xmlns:a="http://schemas.openxmlformats.org/drawingml/2006/main">
            <a:off x="628650" y="52863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Locality controls</a:t>
            </a:r>
          </a:p>
        </p:txBody>
      </p:sp>
      <p:sp>
        <p:nvSpPr>
          <p:cNvPr id="7" name="Hosting remains Bengaluru. Pro and release 1 retain sep">
            <a:extLst xmlns:a="http://schemas.openxmlformats.org/drawingml/2006/main">
              <a:ext uri="{FF2B5EF4-FFF2-40B4-BE49-F238E27FC236}">
                <a16:creationId xmlns:a16="http://schemas.microsoft.com/office/drawing/2014/main" id="{A6BF5856-2E98-48B8-8931-6E08630D18FA}"/>
              </a:ext>
            </a:extLst>
          </p:cNvPr>
          <p:cNvSpPr>
            <a:spLocks xmlns:a="http://schemas.openxmlformats.org/drawingml/2006/main" noGrp="1"/>
          </p:cNvSpPr>
          <p:nvPr/>
        </p:nvSpPr>
        <p:spPr>
          <a:xfrm xmlns:a="http://schemas.openxmlformats.org/drawingml/2006/main">
            <a:off x="3333750" y="5286375"/>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52B2B"/>
                </a:solidFill>
                <a:latin typeface="Calibri"/>
                <a:ea typeface="Calibri"/>
                <a:cs typeface="Calibri"/>
              </a:defRPr>
            </a:defPPr>
            <a:lvl1pPr>
              <a:defRPr sz="1950" b="0">
                <a:solidFill>
                  <a:srgbClr val="152B2B"/>
                </a:solidFill>
                <a:latin typeface="Calibri"/>
                <a:ea typeface="Calibri"/>
                <a:cs typeface="Calibri"/>
              </a:defRPr>
            </a:lvl1pPr>
            <a:lvl2pPr>
              <a:defRPr sz="1950" b="0">
                <a:solidFill>
                  <a:srgbClr val="152B2B"/>
                </a:solidFill>
                <a:latin typeface="Calibri"/>
                <a:ea typeface="Calibri"/>
                <a:cs typeface="Calibri"/>
              </a:defRPr>
            </a:lvl2pPr>
            <a:lvl3pPr>
              <a:defRPr sz="1950" b="0">
                <a:solidFill>
                  <a:srgbClr val="152B2B"/>
                </a:solidFill>
                <a:latin typeface="Calibri"/>
                <a:ea typeface="Calibri"/>
                <a:cs typeface="Calibri"/>
              </a:defRPr>
            </a:lvl3pPr>
            <a:lvl4pPr>
              <a:defRPr sz="1950" b="0">
                <a:solidFill>
                  <a:srgbClr val="152B2B"/>
                </a:solidFill>
                <a:latin typeface="Calibri"/>
                <a:ea typeface="Calibri"/>
                <a:cs typeface="Calibri"/>
              </a:defRPr>
            </a:lvl4pPr>
            <a:lvl5pPr>
              <a:defRPr sz="1950" b="0">
                <a:solidFill>
                  <a:srgbClr val="152B2B"/>
                </a:solidFill>
                <a:latin typeface="Calibri"/>
                <a:ea typeface="Calibri"/>
                <a:cs typeface="Calibri"/>
              </a:defRPr>
            </a:lvl5pPr>
            <a:lvl6pPr>
              <a:defRPr sz="1950" b="0">
                <a:solidFill>
                  <a:srgbClr val="152B2B"/>
                </a:solidFill>
                <a:latin typeface="Calibri"/>
                <a:ea typeface="Calibri"/>
                <a:cs typeface="Calibri"/>
              </a:defRPr>
            </a:lvl6pPr>
            <a:lvl7pPr>
              <a:defRPr sz="1950" b="0">
                <a:solidFill>
                  <a:srgbClr val="152B2B"/>
                </a:solidFill>
                <a:latin typeface="Calibri"/>
                <a:ea typeface="Calibri"/>
                <a:cs typeface="Calibri"/>
              </a:defRPr>
            </a:lvl7pPr>
            <a:lvl8pPr>
              <a:defRPr sz="1950" b="0">
                <a:solidFill>
                  <a:srgbClr val="152B2B"/>
                </a:solidFill>
                <a:latin typeface="Calibri"/>
                <a:ea typeface="Calibri"/>
                <a:cs typeface="Calibri"/>
              </a:defRPr>
            </a:lvl8pPr>
            <a:lvl9pPr>
              <a:defRPr sz="1950" b="0">
                <a:solidFill>
                  <a:srgbClr val="152B2B"/>
                </a:solidFill>
                <a:latin typeface="Calibri"/>
                <a:ea typeface="Calibri"/>
                <a:cs typeface="Calibri"/>
              </a:defRPr>
            </a:lvl9pPr>
          </a:lstStyle>
          <a:p xmlns:a="http://schemas.openxmlformats.org/drawingml/2006/main">
            <a:pPr>
              <a:defRPr sz="1950" b="0">
                <a:solidFill>
                  <a:srgbClr val="152B2B"/>
                </a:solidFill>
                <a:latin typeface="Calibri"/>
                <a:ea typeface="Calibri"/>
                <a:cs typeface="Calibri"/>
              </a:defRPr>
            </a:pPr>
            <a:r>
              <a:rPr sz="1950" b="0">
                <a:solidFill>
                  <a:srgbClr val="152B2B"/>
                </a:solidFill>
                <a:latin typeface="Calibri"/>
                <a:ea typeface="Calibri"/>
                <a:cs typeface="Calibri"/>
              </a:rPr>
              <a:t>Hosting remains Bengaluru. Pro and release 1 retain separate owners.</a:t>
            </a:r>
          </a:p>
        </p:txBody>
      </p:sp>
      <p:sp>
        <p:nvSpPr>
          <p:cNvPr id="8" name="Fictional Kaveri Payment Gateway, release 2. Only the o">
            <a:extLst xmlns:a="http://schemas.openxmlformats.org/drawingml/2006/main">
              <a:ext uri="{FF2B5EF4-FFF2-40B4-BE49-F238E27FC236}">
                <a16:creationId xmlns:a16="http://schemas.microsoft.com/office/drawing/2014/main" id="{39551C63-6A2B-4924-9FFF-E77DD658750B}"/>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Fictional Kaveri Payment Gateway, release 2. Only the ownership record changes.</a:t>
            </a:r>
          </a:p>
        </p:txBody>
      </p:sp>
    </p:spTree>
    <p:extLst>
      <p:ext uri="{BB962C8B-B14F-4D97-AF65-F5344CB8AC3E}">
        <p14:creationId xmlns:p14="http://schemas.microsoft.com/office/powerpoint/2010/main" val="1882758966"/>
      </p:ext>
    </p:extLst>
  </p:cSld>
</p:sld>
</file>

<file path=ppt/slides/slide3.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Inference architecture and evidence boundary">
            <a:extLst xmlns:a="http://schemas.openxmlformats.org/drawingml/2006/main">
              <a:ext uri="{FF2B5EF4-FFF2-40B4-BE49-F238E27FC236}">
                <a16:creationId xmlns:a16="http://schemas.microsoft.com/office/drawing/2014/main" id="{A15A1A8B-21C6-4707-B6CA-C08FB961BC2C}"/>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Inference architecture and evidence boundary</a:t>
            </a:r>
          </a:p>
        </p:txBody>
      </p:sp>
      <p:sp>
        <p:nvSpPr>
          <p:cNvPr id="3" name="3">
            <a:extLst xmlns:a="http://schemas.openxmlformats.org/drawingml/2006/main">
              <a:ext uri="{FF2B5EF4-FFF2-40B4-BE49-F238E27FC236}">
                <a16:creationId xmlns:a16="http://schemas.microsoft.com/office/drawing/2014/main" id="{B494A8C2-759D-4066-983C-7F65FEA06B5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3</a:t>
            </a:r>
          </a:p>
        </p:txBody>
      </p:sp>
      <p:sp>
        <p:nvSpPr>
          <p:cNvPr id="4" name="Browser and Python API">
            <a:extLst xmlns:a="http://schemas.openxmlformats.org/drawingml/2006/main">
              <a:ext uri="{FF2B5EF4-FFF2-40B4-BE49-F238E27FC236}">
                <a16:creationId xmlns:a16="http://schemas.microsoft.com/office/drawing/2014/main" id="{4E698C24-43D4-4177-8915-4B68982A8841}"/>
              </a:ext>
            </a:extLst>
          </p:cNvPr>
          <p:cNvSpPr>
            <a:spLocks xmlns:a="http://schemas.openxmlformats.org/drawingml/2006/main" noGrp="1"/>
          </p:cNvSpPr>
          <p:nvPr/>
        </p:nvSpPr>
        <p:spPr>
          <a:xfrm xmlns:a="http://schemas.openxmlformats.org/drawingml/2006/main">
            <a:off x="647700" y="14573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Browser and Python API</a:t>
            </a:r>
          </a:p>
        </p:txBody>
      </p:sp>
      <p:sp>
        <p:nvSpPr>
          <p:cNvPr id="5" name="Validate the request and serialize memory and generatio">
            <a:extLst xmlns:a="http://schemas.openxmlformats.org/drawingml/2006/main">
              <a:ext uri="{FF2B5EF4-FFF2-40B4-BE49-F238E27FC236}">
                <a16:creationId xmlns:a16="http://schemas.microsoft.com/office/drawing/2014/main" id="{ADB96072-7343-4FC7-B780-6E5A2ECA84FA}"/>
              </a:ext>
            </a:extLst>
          </p:cNvPr>
          <p:cNvSpPr>
            <a:spLocks xmlns:a="http://schemas.openxmlformats.org/drawingml/2006/main" noGrp="1"/>
          </p:cNvSpPr>
          <p:nvPr/>
        </p:nvSpPr>
        <p:spPr>
          <a:xfrm xmlns:a="http://schemas.openxmlformats.org/drawingml/2006/main">
            <a:off x="647700" y="18288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Validate the request and serialize memory and generation operations.</a:t>
            </a:r>
          </a:p>
        </p:txBody>
      </p:sp>
      <p:sp>
        <p:nvSpPr>
          <p:cNvPr id="6" name="Revision aware SQLite">
            <a:extLst xmlns:a="http://schemas.openxmlformats.org/drawingml/2006/main">
              <a:ext uri="{FF2B5EF4-FFF2-40B4-BE49-F238E27FC236}">
                <a16:creationId xmlns:a16="http://schemas.microsoft.com/office/drawing/2014/main" id="{D472E61A-81A8-4502-A159-4D2A08DF793B}"/>
              </a:ext>
            </a:extLst>
          </p:cNvPr>
          <p:cNvSpPr>
            <a:spLocks xmlns:a="http://schemas.openxmlformats.org/drawingml/2006/main" noGrp="1"/>
          </p:cNvSpPr>
          <p:nvPr/>
        </p:nvSpPr>
        <p:spPr>
          <a:xfrm xmlns:a="http://schemas.openxmlformats.org/drawingml/2006/main">
            <a:off x="647700" y="227647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Revision aware SQLite</a:t>
            </a:r>
          </a:p>
        </p:txBody>
      </p:sp>
      <p:sp>
        <p:nvSpPr>
          <p:cNvPr id="7" name="Read approved facts and current revision conversation p">
            <a:extLst xmlns:a="http://schemas.openxmlformats.org/drawingml/2006/main">
              <a:ext uri="{FF2B5EF4-FFF2-40B4-BE49-F238E27FC236}">
                <a16:creationId xmlns:a16="http://schemas.microsoft.com/office/drawing/2014/main" id="{8383F9C4-4AF1-43C4-B83D-CDF6A185ECDA}"/>
              </a:ext>
            </a:extLst>
          </p:cNvPr>
          <p:cNvSpPr>
            <a:spLocks xmlns:a="http://schemas.openxmlformats.org/drawingml/2006/main" noGrp="1"/>
          </p:cNvSpPr>
          <p:nvPr/>
        </p:nvSpPr>
        <p:spPr>
          <a:xfrm xmlns:a="http://schemas.openxmlformats.org/drawingml/2006/main">
            <a:off x="647700" y="26479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Read approved facts and current revision conversation pairs.</a:t>
            </a:r>
          </a:p>
        </p:txBody>
      </p:sp>
      <p:sp>
        <p:nvSpPr>
          <p:cNvPr id="8" name="Bounded context selector">
            <a:extLst xmlns:a="http://schemas.openxmlformats.org/drawingml/2006/main">
              <a:ext uri="{FF2B5EF4-FFF2-40B4-BE49-F238E27FC236}">
                <a16:creationId xmlns:a16="http://schemas.microsoft.com/office/drawing/2014/main" id="{A50F2B26-48DA-4736-9BB3-56B751B2299D}"/>
              </a:ext>
            </a:extLst>
          </p:cNvPr>
          <p:cNvSpPr>
            <a:spLocks xmlns:a="http://schemas.openxmlformats.org/drawingml/2006/main" noGrp="1"/>
          </p:cNvSpPr>
          <p:nvPr/>
        </p:nvSpPr>
        <p:spPr>
          <a:xfrm xmlns:a="http://schemas.openxmlformats.org/drawingml/2006/main">
            <a:off x="647700" y="30956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Bounded context selector</a:t>
            </a:r>
          </a:p>
        </p:txBody>
      </p:sp>
      <p:sp>
        <p:nvSpPr>
          <p:cNvPr id="9" name="Choose up to four fact records without target answers o">
            <a:extLst xmlns:a="http://schemas.openxmlformats.org/drawingml/2006/main">
              <a:ext uri="{FF2B5EF4-FFF2-40B4-BE49-F238E27FC236}">
                <a16:creationId xmlns:a16="http://schemas.microsoft.com/office/drawing/2014/main" id="{E3AB1B62-B504-4F29-B2DC-43387D3781F0}"/>
              </a:ext>
            </a:extLst>
          </p:cNvPr>
          <p:cNvSpPr>
            <a:spLocks xmlns:a="http://schemas.openxmlformats.org/drawingml/2006/main" noGrp="1"/>
          </p:cNvSpPr>
          <p:nvPr/>
        </p:nvSpPr>
        <p:spPr>
          <a:xfrm xmlns:a="http://schemas.openxmlformats.org/drawingml/2006/main">
            <a:off x="647700" y="34671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Choose up to four fact records without target answers or gold IDs.</a:t>
            </a:r>
          </a:p>
        </p:txBody>
      </p:sp>
      <p:sp>
        <p:nvSpPr>
          <p:cNvPr id="10" name="Private neural worker">
            <a:extLst xmlns:a="http://schemas.openxmlformats.org/drawingml/2006/main">
              <a:ext uri="{FF2B5EF4-FFF2-40B4-BE49-F238E27FC236}">
                <a16:creationId xmlns:a16="http://schemas.microsoft.com/office/drawing/2014/main" id="{4EDEF78C-CFFE-4104-8CAB-45CCB1EE66B3}"/>
              </a:ext>
            </a:extLst>
          </p:cNvPr>
          <p:cNvSpPr>
            <a:spLocks xmlns:a="http://schemas.openxmlformats.org/drawingml/2006/main" noGrp="1"/>
          </p:cNvSpPr>
          <p:nvPr/>
        </p:nvSpPr>
        <p:spPr>
          <a:xfrm xmlns:a="http://schemas.openxmlformats.org/drawingml/2006/main">
            <a:off x="647700" y="391477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Private neural worker</a:t>
            </a:r>
          </a:p>
        </p:txBody>
      </p:sp>
      <p:sp>
        <p:nvSpPr>
          <p:cNvPr id="11" name="Frozen ReasonKE checkpoint generates the final answer a">
            <a:extLst xmlns:a="http://schemas.openxmlformats.org/drawingml/2006/main">
              <a:ext uri="{FF2B5EF4-FFF2-40B4-BE49-F238E27FC236}">
                <a16:creationId xmlns:a16="http://schemas.microsoft.com/office/drawing/2014/main" id="{131D03DA-A7FA-4345-878F-6BEC99B7B540}"/>
              </a:ext>
            </a:extLst>
          </p:cNvPr>
          <p:cNvSpPr>
            <a:spLocks xmlns:a="http://schemas.openxmlformats.org/drawingml/2006/main" noGrp="1"/>
          </p:cNvSpPr>
          <p:nvPr/>
        </p:nvSpPr>
        <p:spPr>
          <a:xfrm xmlns:a="http://schemas.openxmlformats.org/drawingml/2006/main">
            <a:off x="647700" y="4286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Frozen ReasonKE checkpoint generates the final answer and raw trace.</a:t>
            </a:r>
          </a:p>
        </p:txBody>
      </p:sp>
      <p:sp>
        <p:nvSpPr>
          <p:cNvPr id="12" name="Persisted answer evidence">
            <a:extLst xmlns:a="http://schemas.openxmlformats.org/drawingml/2006/main">
              <a:ext uri="{FF2B5EF4-FFF2-40B4-BE49-F238E27FC236}">
                <a16:creationId xmlns:a16="http://schemas.microsoft.com/office/drawing/2014/main" id="{3E939A4E-2571-46D6-9372-75C22B05BCDF}"/>
              </a:ext>
            </a:extLst>
          </p:cNvPr>
          <p:cNvSpPr>
            <a:spLocks xmlns:a="http://schemas.openxmlformats.org/drawingml/2006/main" noGrp="1"/>
          </p:cNvSpPr>
          <p:nvPr/>
        </p:nvSpPr>
        <p:spPr>
          <a:xfrm xmlns:a="http://schemas.openxmlformats.org/drawingml/2006/main">
            <a:off x="647700" y="47339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Persisted answer evidence</a:t>
            </a:r>
          </a:p>
        </p:txBody>
      </p:sp>
      <p:sp>
        <p:nvSpPr>
          <p:cNvPr id="13" name="Store source IDs, memory revision, model revision, toke">
            <a:extLst xmlns:a="http://schemas.openxmlformats.org/drawingml/2006/main">
              <a:ext uri="{FF2B5EF4-FFF2-40B4-BE49-F238E27FC236}">
                <a16:creationId xmlns:a16="http://schemas.microsoft.com/office/drawing/2014/main" id="{ACACF612-509D-474E-8BD4-1EA46FEBE02B}"/>
              </a:ext>
            </a:extLst>
          </p:cNvPr>
          <p:cNvSpPr>
            <a:spLocks xmlns:a="http://schemas.openxmlformats.org/drawingml/2006/main" noGrp="1"/>
          </p:cNvSpPr>
          <p:nvPr/>
        </p:nvSpPr>
        <p:spPr>
          <a:xfrm xmlns:a="http://schemas.openxmlformats.org/drawingml/2006/main">
            <a:off x="647700" y="51054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Store source IDs, memory revision, model revision, tokens and latency.</a:t>
            </a:r>
          </a:p>
        </p:txBody>
      </p:sp>
      <p:sp>
        <p:nvSpPr>
          <p:cNvPr id="14" name="A source establishes supplied context. It does not cert">
            <a:extLst xmlns:a="http://schemas.openxmlformats.org/drawingml/2006/main">
              <a:ext uri="{FF2B5EF4-FFF2-40B4-BE49-F238E27FC236}">
                <a16:creationId xmlns:a16="http://schemas.microsoft.com/office/drawing/2014/main" id="{78874A73-0CF2-4E8C-8700-DC067661845E}"/>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A source establishes supplied context. It does not certify every generated sentence.</a:t>
            </a:r>
          </a:p>
        </p:txBody>
      </p:sp>
    </p:spTree>
    <p:extLst>
      <p:ext uri="{BB962C8B-B14F-4D97-AF65-F5344CB8AC3E}">
        <p14:creationId xmlns:p14="http://schemas.microsoft.com/office/powerpoint/2010/main" val="939618036"/>
      </p:ext>
    </p:extLst>
  </p:cSld>
</p:sld>
</file>

<file path=ppt/slides/slide4.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Frozen checkpoints and inference configuration">
            <a:extLst xmlns:a="http://schemas.openxmlformats.org/drawingml/2006/main">
              <a:ext uri="{FF2B5EF4-FFF2-40B4-BE49-F238E27FC236}">
                <a16:creationId xmlns:a16="http://schemas.microsoft.com/office/drawing/2014/main" id="{3D5DF5F8-27F0-4ACF-B966-6329E30B5B83}"/>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Frozen checkpoints and inference configuration</a:t>
            </a:r>
          </a:p>
        </p:txBody>
      </p:sp>
      <p:sp>
        <p:nvSpPr>
          <p:cNvPr id="3" name="ReasonKE_plus and Qwen2.5 7B Instruct each contain 7,61">
            <a:extLst xmlns:a="http://schemas.openxmlformats.org/drawingml/2006/main">
              <a:ext uri="{FF2B5EF4-FFF2-40B4-BE49-F238E27FC236}">
                <a16:creationId xmlns:a16="http://schemas.microsoft.com/office/drawing/2014/main" id="{5342AC41-9EF5-4CB5-B105-2C201C8E4363}"/>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ReasonKE_plus and Qwen2.5 7B Instruct each contain 7,615,616,512 parameters</a:t>
            </a:r>
          </a:p>
        </p:txBody>
      </p:sp>
      <p:sp>
        <p:nvSpPr>
          <p:cNvPr id="4" name="4">
            <a:extLst xmlns:a="http://schemas.openxmlformats.org/drawingml/2006/main">
              <a:ext uri="{FF2B5EF4-FFF2-40B4-BE49-F238E27FC236}">
                <a16:creationId xmlns:a16="http://schemas.microsoft.com/office/drawing/2014/main" id="{8E36B161-3C54-48DE-ACEC-72BB08D24B6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4</a:t>
            </a:r>
          </a:p>
        </p:txBody>
      </p:sp>
      <p:graphicFrame>
        <p:nvGraphicFramePr>
          <p:cNvPr id="5" name="">
            <a:extLst xmlns:a="http://schemas.openxmlformats.org/drawingml/2006/main">
              <a:ext uri="{FF2B5EF4-FFF2-40B4-BE49-F238E27FC236}">
                <a16:creationId xmlns:a16="http://schemas.microsoft.com/office/drawing/2014/main" id="{251CAE6A-3654-42AE-9584-C3A96B5331AE}"/>
              </a:ext>
            </a:extLst>
          </p:cNvPr>
          <p:cNvGraphicFramePr/>
          <p:nvPr/>
        </p:nvGraphicFramePr>
        <p:xfrm>
          <a:off xmlns:a="http://schemas.openxmlformats.org/drawingml/2006/main" x="628650" y="1809750"/>
          <a:ext xmlns:a="http://schemas.openxmlformats.org/drawingml/2006/main" cx="10906125" cy="3571875"/>
        </p:xfrm>
        <a:graphic xmlns:a="http://schemas.openxmlformats.org/drawingml/2006/main">
          <a:graphicData uri="http://schemas.openxmlformats.org/drawingml/2006/table">
            <a:tbl>
              <a:tblPr/>
              <a:tblGrid>
                <a:gridCol w="2857500"/>
                <a:gridCol w="8048625"/>
              </a:tblGrid>
              <a:tr h="595313">
                <a:tc>
                  <a:txBody>
                    <a:bodyPr lIns="95250" tIns="95250" rIns="95250" bIns="95250"/>
                    <a:lstStyle/>
                    <a:p>
                      <a:r>
                        <a:rPr sz="1875" b="1">
                          <a:solidFill>
                            <a:srgbClr val="152B2B"/>
                          </a:solidFill>
                          <a:latin typeface="Calibri"/>
                          <a:ea typeface="Calibri"/>
                          <a:cs typeface="Calibri"/>
                        </a:rPr>
                        <a:t>Setting</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Fixed configuration</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595313">
                <a:tc>
                  <a:txBody>
                    <a:bodyPr lIns="95250" tIns="95250" rIns="95250" bIns="95250"/>
                    <a:lstStyle/>
                    <a:p>
                      <a:r>
                        <a:rPr sz="1875" b="0">
                          <a:solidFill>
                            <a:srgbClr val="152B2B"/>
                          </a:solidFill>
                          <a:latin typeface="Calibri"/>
                          <a:ea typeface="Calibri"/>
                          <a:cs typeface="Calibri"/>
                        </a:rPr>
                        <a:t>Weights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Pinned safetensors, frozen during editing</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95313">
                <a:tc>
                  <a:txBody>
                    <a:bodyPr lIns="95250" tIns="95250" rIns="95250" bIns="95250"/>
                    <a:lstStyle/>
                    <a:p>
                      <a:r>
                        <a:rPr sz="1875" b="0">
                          <a:solidFill>
                            <a:srgbClr val="152B2B"/>
                          </a:solidFill>
                          <a:latin typeface="Calibri"/>
                          <a:ea typeface="Calibri"/>
                          <a:cs typeface="Calibri"/>
                        </a:rPr>
                        <a:t>Precision</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NF4 double quantization, FP16 compute, SDPA</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95313">
                <a:tc>
                  <a:txBody>
                    <a:bodyPr lIns="95250" tIns="95250" rIns="95250" bIns="95250"/>
                    <a:lstStyle/>
                    <a:p>
                      <a:r>
                        <a:rPr sz="1875" b="0">
                          <a:solidFill>
                            <a:srgbClr val="152B2B"/>
                          </a:solidFill>
                          <a:latin typeface="Calibri"/>
                          <a:ea typeface="Calibri"/>
                          <a:cs typeface="Calibri"/>
                        </a:rPr>
                        <a:t>Generation</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Greedy decoding, one beam, no sampling</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95313">
                <a:tc>
                  <a:txBody>
                    <a:bodyPr lIns="95250" tIns="95250" rIns="95250" bIns="95250"/>
                    <a:lstStyle/>
                    <a:p>
                      <a:r>
                        <a:rPr sz="1875" b="0">
                          <a:solidFill>
                            <a:srgbClr val="152B2B"/>
                          </a:solidFill>
                          <a:latin typeface="Calibri"/>
                          <a:ea typeface="Calibri"/>
                          <a:cs typeface="Calibri"/>
                        </a:rPr>
                        <a:t>Token limits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4,096 input tokens and at most 512 new tokens</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95313">
                <a:tc>
                  <a:txBody>
                    <a:bodyPr lIns="95250" tIns="95250" rIns="95250" bIns="95250"/>
                    <a:lstStyle/>
                    <a:p>
                      <a:r>
                        <a:rPr sz="1875" b="0">
                          <a:solidFill>
                            <a:srgbClr val="152B2B"/>
                          </a:solidFill>
                          <a:latin typeface="Calibri"/>
                          <a:ea typeface="Calibri"/>
                          <a:cs typeface="Calibri"/>
                        </a:rPr>
                        <a:t>Hardware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T4, one loaded model at a time</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6" name="Measured load peak allocated CUDA: 6.59 GiB. Upstream a">
            <a:extLst xmlns:a="http://schemas.openxmlformats.org/drawingml/2006/main">
              <a:ext uri="{FF2B5EF4-FFF2-40B4-BE49-F238E27FC236}">
                <a16:creationId xmlns:a16="http://schemas.microsoft.com/office/drawing/2014/main" id="{1AEEE5B4-F59C-40CA-BF59-A91545D775F7}"/>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Measured load peak allocated CUDA: 6.59 GiB. Upstream authors trained both checkpoints.</a:t>
            </a:r>
          </a:p>
        </p:txBody>
      </p:sp>
    </p:spTree>
    <p:extLst>
      <p:ext uri="{BB962C8B-B14F-4D97-AF65-F5344CB8AC3E}">
        <p14:creationId xmlns:p14="http://schemas.microsoft.com/office/powerpoint/2010/main" val="399968191"/>
      </p:ext>
    </p:extLst>
  </p:cSld>
</p:sld>
</file>

<file path=ppt/slides/slide5.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Lexical retrieval with bounded answer expansion">
            <a:extLst xmlns:a="http://schemas.openxmlformats.org/drawingml/2006/main">
              <a:ext uri="{FF2B5EF4-FFF2-40B4-BE49-F238E27FC236}">
                <a16:creationId xmlns:a16="http://schemas.microsoft.com/office/drawing/2014/main" id="{C4A4453C-96A8-4284-9A32-0C0B9921BD9B}"/>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Lexical retrieval with bounded answer expansion</a:t>
            </a:r>
          </a:p>
        </p:txBody>
      </p:sp>
      <p:sp>
        <p:nvSpPr>
          <p:cNvPr id="3" name="BM25 style ranking over question, scope and answer text">
            <a:extLst xmlns:a="http://schemas.openxmlformats.org/drawingml/2006/main">
              <a:ext uri="{FF2B5EF4-FFF2-40B4-BE49-F238E27FC236}">
                <a16:creationId xmlns:a16="http://schemas.microsoft.com/office/drawing/2014/main" id="{C16428E5-F650-44DA-B239-9C6ECA595752}"/>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BM25 style ranking over question, scope and answer text. Stable fact ID tie breaks.</a:t>
            </a:r>
          </a:p>
        </p:txBody>
      </p:sp>
      <p:sp>
        <p:nvSpPr>
          <p:cNvPr id="4" name="5">
            <a:extLst xmlns:a="http://schemas.openxmlformats.org/drawingml/2006/main">
              <a:ext uri="{FF2B5EF4-FFF2-40B4-BE49-F238E27FC236}">
                <a16:creationId xmlns:a16="http://schemas.microsoft.com/office/drawing/2014/main" id="{41D1713B-979C-4336-B0F5-005334D4761E}"/>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5</a:t>
            </a:r>
          </a:p>
        </p:txBody>
      </p:sp>
      <p:sp>
        <p:nvSpPr>
          <p:cNvPr id="5" name="Original two stage selector">
            <a:extLst xmlns:a="http://schemas.openxmlformats.org/drawingml/2006/main">
              <a:ext uri="{FF2B5EF4-FFF2-40B4-BE49-F238E27FC236}">
                <a16:creationId xmlns:a16="http://schemas.microsoft.com/office/drawing/2014/main" id="{C963AEE9-F9B0-43D0-93A9-90721AAF9477}"/>
              </a:ext>
            </a:extLst>
          </p:cNvPr>
          <p:cNvSpPr>
            <a:spLocks xmlns:a="http://schemas.openxmlformats.org/drawingml/2006/main" noGrp="1"/>
          </p:cNvSpPr>
          <p:nvPr/>
        </p:nvSpPr>
        <p:spPr>
          <a:xfrm xmlns:a="http://schemas.openxmlformats.org/drawingml/2006/main">
            <a:off x="647700" y="18383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6766D"/>
                </a:solidFill>
                <a:latin typeface="Calibri"/>
                <a:ea typeface="Calibri"/>
                <a:cs typeface="Calibri"/>
              </a:defRPr>
            </a:defPPr>
            <a:lvl1pPr>
              <a:defRPr sz="2250" b="1">
                <a:solidFill>
                  <a:srgbClr val="26766D"/>
                </a:solidFill>
                <a:latin typeface="Calibri"/>
                <a:ea typeface="Calibri"/>
                <a:cs typeface="Calibri"/>
              </a:defRPr>
            </a:lvl1pPr>
            <a:lvl2pPr>
              <a:defRPr sz="2250" b="1">
                <a:solidFill>
                  <a:srgbClr val="26766D"/>
                </a:solidFill>
                <a:latin typeface="Calibri"/>
                <a:ea typeface="Calibri"/>
                <a:cs typeface="Calibri"/>
              </a:defRPr>
            </a:lvl2pPr>
            <a:lvl3pPr>
              <a:defRPr sz="2250" b="1">
                <a:solidFill>
                  <a:srgbClr val="26766D"/>
                </a:solidFill>
                <a:latin typeface="Calibri"/>
                <a:ea typeface="Calibri"/>
                <a:cs typeface="Calibri"/>
              </a:defRPr>
            </a:lvl3pPr>
            <a:lvl4pPr>
              <a:defRPr sz="2250" b="1">
                <a:solidFill>
                  <a:srgbClr val="26766D"/>
                </a:solidFill>
                <a:latin typeface="Calibri"/>
                <a:ea typeface="Calibri"/>
                <a:cs typeface="Calibri"/>
              </a:defRPr>
            </a:lvl4pPr>
            <a:lvl5pPr>
              <a:defRPr sz="2250" b="1">
                <a:solidFill>
                  <a:srgbClr val="26766D"/>
                </a:solidFill>
                <a:latin typeface="Calibri"/>
                <a:ea typeface="Calibri"/>
                <a:cs typeface="Calibri"/>
              </a:defRPr>
            </a:lvl5pPr>
            <a:lvl6pPr>
              <a:defRPr sz="2250" b="1">
                <a:solidFill>
                  <a:srgbClr val="26766D"/>
                </a:solidFill>
                <a:latin typeface="Calibri"/>
                <a:ea typeface="Calibri"/>
                <a:cs typeface="Calibri"/>
              </a:defRPr>
            </a:lvl6pPr>
            <a:lvl7pPr>
              <a:defRPr sz="2250" b="1">
                <a:solidFill>
                  <a:srgbClr val="26766D"/>
                </a:solidFill>
                <a:latin typeface="Calibri"/>
                <a:ea typeface="Calibri"/>
                <a:cs typeface="Calibri"/>
              </a:defRPr>
            </a:lvl7pPr>
            <a:lvl8pPr>
              <a:defRPr sz="2250" b="1">
                <a:solidFill>
                  <a:srgbClr val="26766D"/>
                </a:solidFill>
                <a:latin typeface="Calibri"/>
                <a:ea typeface="Calibri"/>
                <a:cs typeface="Calibri"/>
              </a:defRPr>
            </a:lvl8pPr>
            <a:lvl9pPr>
              <a:defRPr sz="2250" b="1">
                <a:solidFill>
                  <a:srgbClr val="26766D"/>
                </a:solidFill>
                <a:latin typeface="Calibri"/>
                <a:ea typeface="Calibri"/>
                <a:cs typeface="Calibri"/>
              </a:defRPr>
            </a:lvl9pPr>
          </a:lstStyle>
          <a:p xmlns:a="http://schemas.openxmlformats.org/drawingml/2006/main">
            <a:pPr>
              <a:defRPr sz="2250" b="1">
                <a:solidFill>
                  <a:srgbClr val="26766D"/>
                </a:solidFill>
                <a:latin typeface="Calibri"/>
                <a:ea typeface="Calibri"/>
                <a:cs typeface="Calibri"/>
              </a:defRPr>
            </a:pPr>
            <a:r>
              <a:rPr sz="2250" b="1">
                <a:solidFill>
                  <a:srgbClr val="26766D"/>
                </a:solidFill>
                <a:latin typeface="Calibri"/>
                <a:ea typeface="Calibri"/>
                <a:cs typeface="Calibri"/>
              </a:rPr>
              <a:t>Original two stage selector</a:t>
            </a:r>
          </a:p>
        </p:txBody>
      </p:sp>
      <p:sp>
        <p:nvSpPr>
          <p:cNvPr id="6" name="Rank the question and keep two seeds.&#10;Append their answ">
            <a:extLst xmlns:a="http://schemas.openxmlformats.org/drawingml/2006/main">
              <a:ext uri="{FF2B5EF4-FFF2-40B4-BE49-F238E27FC236}">
                <a16:creationId xmlns:a16="http://schemas.microsoft.com/office/drawing/2014/main" id="{F89B9460-FEBB-421D-95BD-726E39454C01}"/>
              </a:ext>
            </a:extLst>
          </p:cNvPr>
          <p:cNvSpPr>
            <a:spLocks xmlns:a="http://schemas.openxmlformats.org/drawingml/2006/main" noGrp="1"/>
          </p:cNvSpPr>
          <p:nvPr/>
        </p:nvSpPr>
        <p:spPr>
          <a:xfrm xmlns:a="http://schemas.openxmlformats.org/drawingml/2006/main">
            <a:off x="647700" y="2447925"/>
            <a:ext cx="5095875"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Rank the question and keep two seeds.</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Append their answers to the question.</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Rerank and fill a four fact context.</a:t>
            </a:r>
          </a:p>
        </p:txBody>
      </p:sp>
      <p:sp>
        <p:nvSpPr>
          <p:cNvPr id="7" name="Iterative depth selector">
            <a:extLst xmlns:a="http://schemas.openxmlformats.org/drawingml/2006/main">
              <a:ext uri="{FF2B5EF4-FFF2-40B4-BE49-F238E27FC236}">
                <a16:creationId xmlns:a16="http://schemas.microsoft.com/office/drawing/2014/main" id="{5D41FD32-AA16-4A39-B903-E121D203C18C}"/>
              </a:ext>
            </a:extLst>
          </p:cNvPr>
          <p:cNvSpPr>
            <a:spLocks xmlns:a="http://schemas.openxmlformats.org/drawingml/2006/main" noGrp="1"/>
          </p:cNvSpPr>
          <p:nvPr/>
        </p:nvSpPr>
        <p:spPr>
          <a:xfrm xmlns:a="http://schemas.openxmlformats.org/drawingml/2006/main">
            <a:off x="6543675" y="183832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6766D"/>
                </a:solidFill>
                <a:latin typeface="Calibri"/>
                <a:ea typeface="Calibri"/>
                <a:cs typeface="Calibri"/>
              </a:defRPr>
            </a:defPPr>
            <a:lvl1pPr>
              <a:defRPr sz="2250" b="1">
                <a:solidFill>
                  <a:srgbClr val="26766D"/>
                </a:solidFill>
                <a:latin typeface="Calibri"/>
                <a:ea typeface="Calibri"/>
                <a:cs typeface="Calibri"/>
              </a:defRPr>
            </a:lvl1pPr>
            <a:lvl2pPr>
              <a:defRPr sz="2250" b="1">
                <a:solidFill>
                  <a:srgbClr val="26766D"/>
                </a:solidFill>
                <a:latin typeface="Calibri"/>
                <a:ea typeface="Calibri"/>
                <a:cs typeface="Calibri"/>
              </a:defRPr>
            </a:lvl2pPr>
            <a:lvl3pPr>
              <a:defRPr sz="2250" b="1">
                <a:solidFill>
                  <a:srgbClr val="26766D"/>
                </a:solidFill>
                <a:latin typeface="Calibri"/>
                <a:ea typeface="Calibri"/>
                <a:cs typeface="Calibri"/>
              </a:defRPr>
            </a:lvl3pPr>
            <a:lvl4pPr>
              <a:defRPr sz="2250" b="1">
                <a:solidFill>
                  <a:srgbClr val="26766D"/>
                </a:solidFill>
                <a:latin typeface="Calibri"/>
                <a:ea typeface="Calibri"/>
                <a:cs typeface="Calibri"/>
              </a:defRPr>
            </a:lvl4pPr>
            <a:lvl5pPr>
              <a:defRPr sz="2250" b="1">
                <a:solidFill>
                  <a:srgbClr val="26766D"/>
                </a:solidFill>
                <a:latin typeface="Calibri"/>
                <a:ea typeface="Calibri"/>
                <a:cs typeface="Calibri"/>
              </a:defRPr>
            </a:lvl5pPr>
            <a:lvl6pPr>
              <a:defRPr sz="2250" b="1">
                <a:solidFill>
                  <a:srgbClr val="26766D"/>
                </a:solidFill>
                <a:latin typeface="Calibri"/>
                <a:ea typeface="Calibri"/>
                <a:cs typeface="Calibri"/>
              </a:defRPr>
            </a:lvl6pPr>
            <a:lvl7pPr>
              <a:defRPr sz="2250" b="1">
                <a:solidFill>
                  <a:srgbClr val="26766D"/>
                </a:solidFill>
                <a:latin typeface="Calibri"/>
                <a:ea typeface="Calibri"/>
                <a:cs typeface="Calibri"/>
              </a:defRPr>
            </a:lvl7pPr>
            <a:lvl8pPr>
              <a:defRPr sz="2250" b="1">
                <a:solidFill>
                  <a:srgbClr val="26766D"/>
                </a:solidFill>
                <a:latin typeface="Calibri"/>
                <a:ea typeface="Calibri"/>
                <a:cs typeface="Calibri"/>
              </a:defRPr>
            </a:lvl8pPr>
            <a:lvl9pPr>
              <a:defRPr sz="2250" b="1">
                <a:solidFill>
                  <a:srgbClr val="26766D"/>
                </a:solidFill>
                <a:latin typeface="Calibri"/>
                <a:ea typeface="Calibri"/>
                <a:cs typeface="Calibri"/>
              </a:defRPr>
            </a:lvl9pPr>
          </a:lstStyle>
          <a:p xmlns:a="http://schemas.openxmlformats.org/drawingml/2006/main">
            <a:pPr>
              <a:defRPr sz="2250" b="1">
                <a:solidFill>
                  <a:srgbClr val="26766D"/>
                </a:solidFill>
                <a:latin typeface="Calibri"/>
                <a:ea typeface="Calibri"/>
                <a:cs typeface="Calibri"/>
              </a:defRPr>
            </a:pPr>
            <a:r>
              <a:rPr sz="2250" b="1">
                <a:solidFill>
                  <a:srgbClr val="26766D"/>
                </a:solidFill>
                <a:latin typeface="Calibri"/>
                <a:ea typeface="Calibri"/>
                <a:cs typeface="Calibri"/>
              </a:rPr>
              <a:t>Iterative depth selector</a:t>
            </a:r>
          </a:p>
        </p:txBody>
      </p:sp>
      <p:sp>
        <p:nvSpPr>
          <p:cNvPr id="8" name="Rank the question and keep two seeds.&#10;Use selected answ">
            <a:extLst xmlns:a="http://schemas.openxmlformats.org/drawingml/2006/main">
              <a:ext uri="{FF2B5EF4-FFF2-40B4-BE49-F238E27FC236}">
                <a16:creationId xmlns:a16="http://schemas.microsoft.com/office/drawing/2014/main" id="{0DBD838D-54FC-45D4-9FC5-ABCE5C7BAC67}"/>
              </a:ext>
            </a:extLst>
          </p:cNvPr>
          <p:cNvSpPr>
            <a:spLocks xmlns:a="http://schemas.openxmlformats.org/drawingml/2006/main" noGrp="1"/>
          </p:cNvSpPr>
          <p:nvPr/>
        </p:nvSpPr>
        <p:spPr>
          <a:xfrm xmlns:a="http://schemas.openxmlformats.org/drawingml/2006/main">
            <a:off x="6543675" y="2447925"/>
            <a:ext cx="500062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Rank the question and keep two seeds.</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Use selected answers as a frontier.</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Add the top unseen fact per round.</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Stop at four facts or three rounds.</a:t>
            </a:r>
          </a:p>
        </p:txBody>
      </p:sp>
      <p:sp>
        <p:nvSpPr>
          <p:cNvPr id="9" name="Development complete paths">
            <a:extLst xmlns:a="http://schemas.openxmlformats.org/drawingml/2006/main">
              <a:ext uri="{FF2B5EF4-FFF2-40B4-BE49-F238E27FC236}">
                <a16:creationId xmlns:a16="http://schemas.microsoft.com/office/drawing/2014/main" id="{7B2B0CD2-5BB7-483C-9322-973A0319B1E5}"/>
              </a:ext>
            </a:extLst>
          </p:cNvPr>
          <p:cNvSpPr>
            <a:spLocks xmlns:a="http://schemas.openxmlformats.org/drawingml/2006/main" noGrp="1"/>
          </p:cNvSpPr>
          <p:nvPr/>
        </p:nvSpPr>
        <p:spPr>
          <a:xfrm xmlns:a="http://schemas.openxmlformats.org/drawingml/2006/main">
            <a:off x="647700" y="5029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52B2B"/>
                </a:solidFill>
                <a:latin typeface="Calibri"/>
                <a:ea typeface="Calibri"/>
                <a:cs typeface="Calibri"/>
              </a:defRPr>
            </a:defPPr>
            <a:lvl1pPr>
              <a:defRPr sz="2100" b="1">
                <a:solidFill>
                  <a:srgbClr val="152B2B"/>
                </a:solidFill>
                <a:latin typeface="Calibri"/>
                <a:ea typeface="Calibri"/>
                <a:cs typeface="Calibri"/>
              </a:defRPr>
            </a:lvl1pPr>
            <a:lvl2pPr>
              <a:defRPr sz="2100" b="1">
                <a:solidFill>
                  <a:srgbClr val="152B2B"/>
                </a:solidFill>
                <a:latin typeface="Calibri"/>
                <a:ea typeface="Calibri"/>
                <a:cs typeface="Calibri"/>
              </a:defRPr>
            </a:lvl2pPr>
            <a:lvl3pPr>
              <a:defRPr sz="2100" b="1">
                <a:solidFill>
                  <a:srgbClr val="152B2B"/>
                </a:solidFill>
                <a:latin typeface="Calibri"/>
                <a:ea typeface="Calibri"/>
                <a:cs typeface="Calibri"/>
              </a:defRPr>
            </a:lvl3pPr>
            <a:lvl4pPr>
              <a:defRPr sz="2100" b="1">
                <a:solidFill>
                  <a:srgbClr val="152B2B"/>
                </a:solidFill>
                <a:latin typeface="Calibri"/>
                <a:ea typeface="Calibri"/>
                <a:cs typeface="Calibri"/>
              </a:defRPr>
            </a:lvl4pPr>
            <a:lvl5pPr>
              <a:defRPr sz="2100" b="1">
                <a:solidFill>
                  <a:srgbClr val="152B2B"/>
                </a:solidFill>
                <a:latin typeface="Calibri"/>
                <a:ea typeface="Calibri"/>
                <a:cs typeface="Calibri"/>
              </a:defRPr>
            </a:lvl5pPr>
            <a:lvl6pPr>
              <a:defRPr sz="2100" b="1">
                <a:solidFill>
                  <a:srgbClr val="152B2B"/>
                </a:solidFill>
                <a:latin typeface="Calibri"/>
                <a:ea typeface="Calibri"/>
                <a:cs typeface="Calibri"/>
              </a:defRPr>
            </a:lvl6pPr>
            <a:lvl7pPr>
              <a:defRPr sz="2100" b="1">
                <a:solidFill>
                  <a:srgbClr val="152B2B"/>
                </a:solidFill>
                <a:latin typeface="Calibri"/>
                <a:ea typeface="Calibri"/>
                <a:cs typeface="Calibri"/>
              </a:defRPr>
            </a:lvl7pPr>
            <a:lvl8pPr>
              <a:defRPr sz="2100" b="1">
                <a:solidFill>
                  <a:srgbClr val="152B2B"/>
                </a:solidFill>
                <a:latin typeface="Calibri"/>
                <a:ea typeface="Calibri"/>
                <a:cs typeface="Calibri"/>
              </a:defRPr>
            </a:lvl8pPr>
            <a:lvl9pPr>
              <a:defRPr sz="2100" b="1">
                <a:solidFill>
                  <a:srgbClr val="152B2B"/>
                </a:solidFill>
                <a:latin typeface="Calibri"/>
                <a:ea typeface="Calibri"/>
                <a:cs typeface="Calibri"/>
              </a:defRPr>
            </a:lvl9pPr>
          </a:lstStyle>
          <a:p xmlns:a="http://schemas.openxmlformats.org/drawingml/2006/main">
            <a:pPr>
              <a:defRPr sz="2100" b="1">
                <a:solidFill>
                  <a:srgbClr val="152B2B"/>
                </a:solidFill>
                <a:latin typeface="Calibri"/>
                <a:ea typeface="Calibri"/>
                <a:cs typeface="Calibri"/>
              </a:defRPr>
            </a:pPr>
            <a:r>
              <a:rPr sz="2100" b="1">
                <a:solidFill>
                  <a:srgbClr val="152B2B"/>
                </a:solidFill>
                <a:latin typeface="Calibri"/>
                <a:ea typeface="Calibri"/>
                <a:cs typeface="Calibri"/>
              </a:rPr>
              <a:t>Development complete paths</a:t>
            </a:r>
          </a:p>
        </p:txBody>
      </p:sp>
      <p:sp>
        <p:nvSpPr>
          <p:cNvPr id="10" name="96/128 original versus 128/128 iterative&#10;Three hop path">
            <a:extLst xmlns:a="http://schemas.openxmlformats.org/drawingml/2006/main">
              <a:ext uri="{FF2B5EF4-FFF2-40B4-BE49-F238E27FC236}">
                <a16:creationId xmlns:a16="http://schemas.microsoft.com/office/drawing/2014/main" id="{0853EC8D-4AFD-4387-9CFD-1C117C19C4CC}"/>
              </a:ext>
            </a:extLst>
          </p:cNvPr>
          <p:cNvSpPr>
            <a:spLocks xmlns:a="http://schemas.openxmlformats.org/drawingml/2006/main" noGrp="1"/>
          </p:cNvSpPr>
          <p:nvPr/>
        </p:nvSpPr>
        <p:spPr>
          <a:xfrm xmlns:a="http://schemas.openxmlformats.org/drawingml/2006/main">
            <a:off x="647700" y="54673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26464"/>
                </a:solidFill>
                <a:latin typeface="Calibri"/>
                <a:ea typeface="Calibri"/>
                <a:cs typeface="Calibri"/>
              </a:defRPr>
            </a:defPPr>
            <a:lvl1pPr>
              <a:defRPr sz="1950" b="0">
                <a:solidFill>
                  <a:srgbClr val="526464"/>
                </a:solidFill>
                <a:latin typeface="Calibri"/>
                <a:ea typeface="Calibri"/>
                <a:cs typeface="Calibri"/>
              </a:defRPr>
            </a:lvl1pPr>
            <a:lvl2pPr>
              <a:defRPr sz="1950" b="0">
                <a:solidFill>
                  <a:srgbClr val="526464"/>
                </a:solidFill>
                <a:latin typeface="Calibri"/>
                <a:ea typeface="Calibri"/>
                <a:cs typeface="Calibri"/>
              </a:defRPr>
            </a:lvl2pPr>
            <a:lvl3pPr>
              <a:defRPr sz="1950" b="0">
                <a:solidFill>
                  <a:srgbClr val="526464"/>
                </a:solidFill>
                <a:latin typeface="Calibri"/>
                <a:ea typeface="Calibri"/>
                <a:cs typeface="Calibri"/>
              </a:defRPr>
            </a:lvl3pPr>
            <a:lvl4pPr>
              <a:defRPr sz="1950" b="0">
                <a:solidFill>
                  <a:srgbClr val="526464"/>
                </a:solidFill>
                <a:latin typeface="Calibri"/>
                <a:ea typeface="Calibri"/>
                <a:cs typeface="Calibri"/>
              </a:defRPr>
            </a:lvl4pPr>
            <a:lvl5pPr>
              <a:defRPr sz="1950" b="0">
                <a:solidFill>
                  <a:srgbClr val="526464"/>
                </a:solidFill>
                <a:latin typeface="Calibri"/>
                <a:ea typeface="Calibri"/>
                <a:cs typeface="Calibri"/>
              </a:defRPr>
            </a:lvl5pPr>
            <a:lvl6pPr>
              <a:defRPr sz="1950" b="0">
                <a:solidFill>
                  <a:srgbClr val="526464"/>
                </a:solidFill>
                <a:latin typeface="Calibri"/>
                <a:ea typeface="Calibri"/>
                <a:cs typeface="Calibri"/>
              </a:defRPr>
            </a:lvl6pPr>
            <a:lvl7pPr>
              <a:defRPr sz="1950" b="0">
                <a:solidFill>
                  <a:srgbClr val="526464"/>
                </a:solidFill>
                <a:latin typeface="Calibri"/>
                <a:ea typeface="Calibri"/>
                <a:cs typeface="Calibri"/>
              </a:defRPr>
            </a:lvl7pPr>
            <a:lvl8pPr>
              <a:defRPr sz="1950" b="0">
                <a:solidFill>
                  <a:srgbClr val="526464"/>
                </a:solidFill>
                <a:latin typeface="Calibri"/>
                <a:ea typeface="Calibri"/>
                <a:cs typeface="Calibri"/>
              </a:defRPr>
            </a:lvl8pPr>
            <a:lvl9pPr>
              <a:defRPr sz="1950" b="0">
                <a:solidFill>
                  <a:srgbClr val="526464"/>
                </a:solidFill>
                <a:latin typeface="Calibri"/>
                <a:ea typeface="Calibri"/>
                <a:cs typeface="Calibri"/>
              </a:defRPr>
            </a:lvl9pPr>
          </a:lstStyle>
          <a:p xmlns:a="http://schemas.openxmlformats.org/drawingml/2006/main">
            <a:pPr>
              <a:defRPr sz="1950" b="0">
                <a:solidFill>
                  <a:srgbClr val="526464"/>
                </a:solidFill>
                <a:latin typeface="Calibri"/>
                <a:ea typeface="Calibri"/>
                <a:cs typeface="Calibri"/>
              </a:defRPr>
            </a:pPr>
            <a:r>
              <a:rPr sz="1950" b="0">
                <a:solidFill>
                  <a:srgbClr val="526464"/>
                </a:solidFill>
                <a:latin typeface="Calibri"/>
                <a:ea typeface="Calibri"/>
                <a:cs typeface="Calibri"/>
              </a:rPr>
              <a:t>96/128 original versus 128/128 iterative</a:t>
            </a:r>
          </a:p>
          <a:p xmlns:a="http://schemas.openxmlformats.org/drawingml/2006/main">
            <a:pPr>
              <a:defRPr sz="1950" b="0">
                <a:solidFill>
                  <a:srgbClr val="526464"/>
                </a:solidFill>
                <a:latin typeface="Calibri"/>
                <a:ea typeface="Calibri"/>
                <a:cs typeface="Calibri"/>
              </a:defRPr>
            </a:pPr>
            <a:r>
              <a:rPr sz="1950" b="0">
                <a:solidFill>
                  <a:srgbClr val="526464"/>
                </a:solidFill>
                <a:latin typeface="Calibri"/>
                <a:ea typeface="Calibri"/>
                <a:cs typeface="Calibri"/>
              </a:rPr>
              <a:t>Three hop paths: 0/32 versus 32/32</a:t>
            </a:r>
          </a:p>
        </p:txBody>
      </p:sp>
    </p:spTree>
    <p:extLst>
      <p:ext uri="{BB962C8B-B14F-4D97-AF65-F5344CB8AC3E}">
        <p14:creationId xmlns:p14="http://schemas.microsoft.com/office/powerpoint/2010/main" val="1609349087"/>
      </p:ext>
    </p:extLst>
  </p:cSld>
</p:sld>
</file>

<file path=ppt/slides/slide6.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Transactional editing and rollback">
            <a:extLst xmlns:a="http://schemas.openxmlformats.org/drawingml/2006/main">
              <a:ext uri="{FF2B5EF4-FFF2-40B4-BE49-F238E27FC236}">
                <a16:creationId xmlns:a16="http://schemas.microsoft.com/office/drawing/2014/main" id="{4C78407D-0299-4AEE-9072-13BBD4EC0C16}"/>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Transactional editing and rollback</a:t>
            </a:r>
          </a:p>
        </p:txBody>
      </p:sp>
      <p:sp>
        <p:nvSpPr>
          <p:cNvPr id="3" name="Canonical fact key: entity_id, relation_id and scope_id">
            <a:extLst xmlns:a="http://schemas.openxmlformats.org/drawingml/2006/main">
              <a:ext uri="{FF2B5EF4-FFF2-40B4-BE49-F238E27FC236}">
                <a16:creationId xmlns:a16="http://schemas.microsoft.com/office/drawing/2014/main" id="{0BAD21FC-3602-4D73-BB7C-955B7E0C3945}"/>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Canonical fact key: entity_id, relation_id and scope_id</a:t>
            </a:r>
          </a:p>
        </p:txBody>
      </p:sp>
      <p:sp>
        <p:nvSpPr>
          <p:cNvPr id="4" name="6">
            <a:extLst xmlns:a="http://schemas.openxmlformats.org/drawingml/2006/main">
              <a:ext uri="{FF2B5EF4-FFF2-40B4-BE49-F238E27FC236}">
                <a16:creationId xmlns:a16="http://schemas.microsoft.com/office/drawing/2014/main" id="{963EDAFE-6E6F-43DB-AC70-C931AD8D969A}"/>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6</a:t>
            </a:r>
          </a:p>
        </p:txBody>
      </p:sp>
      <p:sp>
        <p:nvSpPr>
          <p:cNvPr id="5" name="State invariants">
            <a:extLst xmlns:a="http://schemas.openxmlformats.org/drawingml/2006/main">
              <a:ext uri="{FF2B5EF4-FFF2-40B4-BE49-F238E27FC236}">
                <a16:creationId xmlns:a16="http://schemas.microsoft.com/office/drawing/2014/main" id="{40D59F2E-C652-4F3D-A3E1-74E0AF493C7B}"/>
              </a:ext>
            </a:extLst>
          </p:cNvPr>
          <p:cNvSpPr>
            <a:spLocks xmlns:a="http://schemas.openxmlformats.org/drawingml/2006/main" noGrp="1"/>
          </p:cNvSpPr>
          <p:nvPr/>
        </p:nvSpPr>
        <p:spPr>
          <a:xfrm xmlns:a="http://schemas.openxmlformats.org/drawingml/2006/main">
            <a:off x="647700" y="18002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State invariants</a:t>
            </a:r>
          </a:p>
        </p:txBody>
      </p:sp>
      <p:sp>
        <p:nvSpPr>
          <p:cNvPr id="6" name="At most one active version per key.&#10;A replacement names">
            <a:extLst xmlns:a="http://schemas.openxmlformats.org/drawingml/2006/main">
              <a:ext uri="{FF2B5EF4-FFF2-40B4-BE49-F238E27FC236}">
                <a16:creationId xmlns:a16="http://schemas.microsoft.com/office/drawing/2014/main" id="{F09A4243-9709-49E4-8540-D39615BE8B65}"/>
              </a:ext>
            </a:extLst>
          </p:cNvPr>
          <p:cNvSpPr>
            <a:spLocks xmlns:a="http://schemas.openxmlformats.org/drawingml/2006/main" noGrp="1"/>
          </p:cNvSpPr>
          <p:nvPr/>
        </p:nvSpPr>
        <p:spPr>
          <a:xfrm xmlns:a="http://schemas.openxmlformats.org/drawingml/2006/main">
            <a:off x="647700" y="2428875"/>
            <a:ext cx="4905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At most one active version per key.</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A replacement names its predecessor.</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Competing active approval returns 409.</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Events retain lineage and provenance.</a:t>
            </a:r>
          </a:p>
        </p:txBody>
      </p:sp>
      <p:sp>
        <p:nvSpPr>
          <p:cNvPr id="7" name="Rollback transaction">
            <a:extLst xmlns:a="http://schemas.openxmlformats.org/drawingml/2006/main">
              <a:ext uri="{FF2B5EF4-FFF2-40B4-BE49-F238E27FC236}">
                <a16:creationId xmlns:a16="http://schemas.microsoft.com/office/drawing/2014/main" id="{8BA93D4B-B69D-49A3-907C-2815EA4FDE9D}"/>
              </a:ext>
            </a:extLst>
          </p:cNvPr>
          <p:cNvSpPr>
            <a:spLocks xmlns:a="http://schemas.openxmlformats.org/drawingml/2006/main" noGrp="1"/>
          </p:cNvSpPr>
          <p:nvPr/>
        </p:nvSpPr>
        <p:spPr>
          <a:xfrm xmlns:a="http://schemas.openxmlformats.org/drawingml/2006/main">
            <a:off x="6524625" y="180022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Rollback transaction</a:t>
            </a:r>
          </a:p>
        </p:txBody>
      </p:sp>
      <p:sp>
        <p:nvSpPr>
          <p:cNvPr id="8" name="BEGIN IMMEDIATE&#10;withdraw(replacement)&#10;restore(predecess">
            <a:extLst xmlns:a="http://schemas.openxmlformats.org/drawingml/2006/main">
              <a:ext uri="{FF2B5EF4-FFF2-40B4-BE49-F238E27FC236}">
                <a16:creationId xmlns:a16="http://schemas.microsoft.com/office/drawing/2014/main" id="{3BDF9369-3B01-4AD4-AC84-48561027556E}"/>
              </a:ext>
            </a:extLst>
          </p:cNvPr>
          <p:cNvSpPr>
            <a:spLocks xmlns:a="http://schemas.openxmlformats.org/drawingml/2006/main" noGrp="1"/>
          </p:cNvSpPr>
          <p:nvPr/>
        </p:nvSpPr>
        <p:spPr>
          <a:xfrm xmlns:a="http://schemas.openxmlformats.org/drawingml/2006/main">
            <a:off x="6524625" y="2428875"/>
            <a:ext cx="5000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52B2B"/>
                </a:solidFill>
                <a:latin typeface="Consolas"/>
                <a:ea typeface="Consolas"/>
                <a:cs typeface="Consolas"/>
              </a:defRPr>
            </a:defPPr>
            <a:lvl1pPr>
              <a:defRPr sz="1950" b="0">
                <a:solidFill>
                  <a:srgbClr val="152B2B"/>
                </a:solidFill>
                <a:latin typeface="Consolas"/>
                <a:ea typeface="Consolas"/>
                <a:cs typeface="Consolas"/>
              </a:defRPr>
            </a:lvl1pPr>
            <a:lvl2pPr>
              <a:defRPr sz="1950" b="0">
                <a:solidFill>
                  <a:srgbClr val="152B2B"/>
                </a:solidFill>
                <a:latin typeface="Consolas"/>
                <a:ea typeface="Consolas"/>
                <a:cs typeface="Consolas"/>
              </a:defRPr>
            </a:lvl2pPr>
            <a:lvl3pPr>
              <a:defRPr sz="1950" b="0">
                <a:solidFill>
                  <a:srgbClr val="152B2B"/>
                </a:solidFill>
                <a:latin typeface="Consolas"/>
                <a:ea typeface="Consolas"/>
                <a:cs typeface="Consolas"/>
              </a:defRPr>
            </a:lvl3pPr>
            <a:lvl4pPr>
              <a:defRPr sz="1950" b="0">
                <a:solidFill>
                  <a:srgbClr val="152B2B"/>
                </a:solidFill>
                <a:latin typeface="Consolas"/>
                <a:ea typeface="Consolas"/>
                <a:cs typeface="Consolas"/>
              </a:defRPr>
            </a:lvl4pPr>
            <a:lvl5pPr>
              <a:defRPr sz="1950" b="0">
                <a:solidFill>
                  <a:srgbClr val="152B2B"/>
                </a:solidFill>
                <a:latin typeface="Consolas"/>
                <a:ea typeface="Consolas"/>
                <a:cs typeface="Consolas"/>
              </a:defRPr>
            </a:lvl5pPr>
            <a:lvl6pPr>
              <a:defRPr sz="1950" b="0">
                <a:solidFill>
                  <a:srgbClr val="152B2B"/>
                </a:solidFill>
                <a:latin typeface="Consolas"/>
                <a:ea typeface="Consolas"/>
                <a:cs typeface="Consolas"/>
              </a:defRPr>
            </a:lvl6pPr>
            <a:lvl7pPr>
              <a:defRPr sz="1950" b="0">
                <a:solidFill>
                  <a:srgbClr val="152B2B"/>
                </a:solidFill>
                <a:latin typeface="Consolas"/>
                <a:ea typeface="Consolas"/>
                <a:cs typeface="Consolas"/>
              </a:defRPr>
            </a:lvl7pPr>
            <a:lvl8pPr>
              <a:defRPr sz="1950" b="0">
                <a:solidFill>
                  <a:srgbClr val="152B2B"/>
                </a:solidFill>
                <a:latin typeface="Consolas"/>
                <a:ea typeface="Consolas"/>
                <a:cs typeface="Consolas"/>
              </a:defRPr>
            </a:lvl8pPr>
            <a:lvl9pPr>
              <a:defRPr sz="1950" b="0">
                <a:solidFill>
                  <a:srgbClr val="152B2B"/>
                </a:solidFill>
                <a:latin typeface="Consolas"/>
                <a:ea typeface="Consolas"/>
                <a:cs typeface="Consolas"/>
              </a:defRPr>
            </a:lvl9pPr>
          </a:lstStyle>
          <a:p xmlns:a="http://schemas.openxmlformats.org/drawingml/2006/main">
            <a:pPr>
              <a:defRPr sz="1950" b="0">
                <a:solidFill>
                  <a:srgbClr val="152B2B"/>
                </a:solidFill>
                <a:latin typeface="Consolas"/>
                <a:ea typeface="Consolas"/>
                <a:cs typeface="Consolas"/>
              </a:defRPr>
            </a:pPr>
            <a:r>
              <a:rPr sz="1950" b="0">
                <a:solidFill>
                  <a:srgbClr val="152B2B"/>
                </a:solidFill>
                <a:latin typeface="Consolas"/>
                <a:ea typeface="Consolas"/>
                <a:cs typeface="Consolas"/>
              </a:rPr>
              <a:t>BEGIN IMMEDIATE</a:t>
            </a:r>
          </a:p>
          <a:p xmlns:a="http://schemas.openxmlformats.org/drawingml/2006/main">
            <a:pPr>
              <a:defRPr sz="1950" b="0">
                <a:solidFill>
                  <a:srgbClr val="152B2B"/>
                </a:solidFill>
                <a:latin typeface="Consolas"/>
                <a:ea typeface="Consolas"/>
                <a:cs typeface="Consolas"/>
              </a:defRPr>
            </a:pPr>
            <a:r>
              <a:rPr sz="1950" b="0">
                <a:solidFill>
                  <a:srgbClr val="152B2B"/>
                </a:solidFill>
                <a:latin typeface="Consolas"/>
                <a:ea typeface="Consolas"/>
                <a:cs typeface="Consolas"/>
              </a:rPr>
              <a:t>withdraw(replacement)</a:t>
            </a:r>
          </a:p>
          <a:p xmlns:a="http://schemas.openxmlformats.org/drawingml/2006/main">
            <a:pPr>
              <a:defRPr sz="1950" b="0">
                <a:solidFill>
                  <a:srgbClr val="152B2B"/>
                </a:solidFill>
                <a:latin typeface="Consolas"/>
                <a:ea typeface="Consolas"/>
                <a:cs typeface="Consolas"/>
              </a:defRPr>
            </a:pPr>
            <a:r>
              <a:rPr sz="1950" b="0">
                <a:solidFill>
                  <a:srgbClr val="152B2B"/>
                </a:solidFill>
                <a:latin typeface="Consolas"/>
                <a:ea typeface="Consolas"/>
                <a:cs typeface="Consolas"/>
              </a:rPr>
              <a:t>restore(predecessor)</a:t>
            </a:r>
          </a:p>
          <a:p xmlns:a="http://schemas.openxmlformats.org/drawingml/2006/main">
            <a:pPr>
              <a:defRPr sz="1950" b="0">
                <a:solidFill>
                  <a:srgbClr val="152B2B"/>
                </a:solidFill>
                <a:latin typeface="Consolas"/>
                <a:ea typeface="Consolas"/>
                <a:cs typeface="Consolas"/>
              </a:defRPr>
            </a:pPr>
            <a:r>
              <a:rPr sz="1950" b="0">
                <a:solidFill>
                  <a:srgbClr val="152B2B"/>
                </a:solidFill>
                <a:latin typeface="Consolas"/>
                <a:ea typeface="Consolas"/>
                <a:cs typeface="Consolas"/>
              </a:rPr>
              <a:t>record_both_events(revision)</a:t>
            </a:r>
          </a:p>
          <a:p xmlns:a="http://schemas.openxmlformats.org/drawingml/2006/main">
            <a:pPr>
              <a:defRPr sz="1950" b="0">
                <a:solidFill>
                  <a:srgbClr val="152B2B"/>
                </a:solidFill>
                <a:latin typeface="Consolas"/>
                <a:ea typeface="Consolas"/>
                <a:cs typeface="Consolas"/>
              </a:defRPr>
            </a:pPr>
            <a:r>
              <a:rPr sz="1950" b="0">
                <a:solidFill>
                  <a:srgbClr val="152B2B"/>
                </a:solidFill>
                <a:latin typeface="Consolas"/>
                <a:ea typeface="Consolas"/>
                <a:cs typeface="Consolas"/>
              </a:rPr>
              <a:t>COMMIT</a:t>
            </a:r>
          </a:p>
        </p:txBody>
      </p:sp>
      <p:sp>
        <p:nvSpPr>
          <p:cNvPr id="9" name="Rollback pseudocode. Two audit events share one revisio">
            <a:extLst xmlns:a="http://schemas.openxmlformats.org/drawingml/2006/main">
              <a:ext uri="{FF2B5EF4-FFF2-40B4-BE49-F238E27FC236}">
                <a16:creationId xmlns:a16="http://schemas.microsoft.com/office/drawing/2014/main" id="{1CD47516-32F6-4269-9B9A-F5AA504CA353}"/>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Rollback pseudocode. Two audit events share one revision. Historical reads leave live memory unchanged.</a:t>
            </a:r>
          </a:p>
        </p:txBody>
      </p:sp>
    </p:spTree>
    <p:extLst>
      <p:ext uri="{BB962C8B-B14F-4D97-AF65-F5344CB8AC3E}">
        <p14:creationId xmlns:p14="http://schemas.microsoft.com/office/powerpoint/2010/main" val="980249828"/>
      </p:ext>
    </p:extLst>
  </p:cSld>
</p:sld>
</file>

<file path=ppt/slides/slide7.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Dataset construction and leakage controls">
            <a:extLst xmlns:a="http://schemas.openxmlformats.org/drawingml/2006/main">
              <a:ext uri="{FF2B5EF4-FFF2-40B4-BE49-F238E27FC236}">
                <a16:creationId xmlns:a16="http://schemas.microsoft.com/office/drawing/2014/main" id="{D6A9BEC5-EBC8-4CCA-A9C1-C8AFCF5813EF}"/>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Dataset construction and leakage controls</a:t>
            </a:r>
          </a:p>
        </p:txBody>
      </p:sp>
      <p:sp>
        <p:nvSpPr>
          <p:cNvPr id="3" name="An independently authored controlled demonstration data">
            <a:extLst xmlns:a="http://schemas.openxmlformats.org/drawingml/2006/main">
              <a:ext uri="{FF2B5EF4-FFF2-40B4-BE49-F238E27FC236}">
                <a16:creationId xmlns:a16="http://schemas.microsoft.com/office/drawing/2014/main" id="{366C0EA3-74E3-490B-B394-0F63CE93106E}"/>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An independently authored controlled demonstration dataset for each study</a:t>
            </a:r>
          </a:p>
        </p:txBody>
      </p:sp>
      <p:sp>
        <p:nvSpPr>
          <p:cNvPr id="4" name="7">
            <a:extLst xmlns:a="http://schemas.openxmlformats.org/drawingml/2006/main">
              <a:ext uri="{FF2B5EF4-FFF2-40B4-BE49-F238E27FC236}">
                <a16:creationId xmlns:a16="http://schemas.microsoft.com/office/drawing/2014/main" id="{98B67042-AC61-4D79-86B5-17B0F917699F}"/>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7</a:t>
            </a:r>
          </a:p>
        </p:txBody>
      </p:sp>
      <p:graphicFrame>
        <p:nvGraphicFramePr>
          <p:cNvPr id="5" name="">
            <a:extLst xmlns:a="http://schemas.openxmlformats.org/drawingml/2006/main">
              <a:ext uri="{FF2B5EF4-FFF2-40B4-BE49-F238E27FC236}">
                <a16:creationId xmlns:a16="http://schemas.microsoft.com/office/drawing/2014/main" id="{9B9CE423-E929-4A3C-AD0C-15BFB90CD2B7}"/>
              </a:ext>
            </a:extLst>
          </p:cNvPr>
          <p:cNvGraphicFramePr/>
          <p:nvPr/>
        </p:nvGraphicFramePr>
        <p:xfrm>
          <a:off xmlns:a="http://schemas.openxmlformats.org/drawingml/2006/main" x="628650" y="1809750"/>
          <a:ext xmlns:a="http://schemas.openxmlformats.org/drawingml/2006/main" cx="10906125" cy="3524250"/>
        </p:xfrm>
        <a:graphic xmlns:a="http://schemas.openxmlformats.org/drawingml/2006/main">
          <a:graphicData uri="http://schemas.openxmlformats.org/drawingml/2006/table">
            <a:tbl>
              <a:tblPr/>
              <a:tblGrid>
                <a:gridCol w="4429125"/>
                <a:gridCol w="3238500"/>
                <a:gridCol w="3238500"/>
              </a:tblGrid>
              <a:tr h="587375">
                <a:tc>
                  <a:txBody>
                    <a:bodyPr lIns="95250" tIns="95250" rIns="95250" bIns="95250"/>
                    <a:lstStyle/>
                    <a:p>
                      <a:r>
                        <a:rPr sz="1875" b="1">
                          <a:solidFill>
                            <a:srgbClr val="152B2B"/>
                          </a:solidFill>
                          <a:latin typeface="Calibri"/>
                          <a:ea typeface="Calibri"/>
                          <a:cs typeface="Calibri"/>
                        </a:rPr>
                        <a:t>Quantity</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Original operations</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Separate depth</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587375">
                <a:tc>
                  <a:txBody>
                    <a:bodyPr lIns="95250" tIns="95250" rIns="95250" bIns="95250"/>
                    <a:lstStyle/>
                    <a:p>
                      <a:r>
                        <a:rPr sz="1875" b="0">
                          <a:solidFill>
                            <a:srgbClr val="152B2B"/>
                          </a:solidFill>
                          <a:latin typeface="Calibri"/>
                          <a:ea typeface="Calibri"/>
                          <a:cs typeface="Calibri"/>
                        </a:rPr>
                        <a:t>Authored lineages / questions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48 / 384</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48 / 384</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87375">
                <a:tc>
                  <a:txBody>
                    <a:bodyPr lIns="95250" tIns="95250" rIns="95250" bIns="95250"/>
                    <a:lstStyle/>
                    <a:p>
                      <a:r>
                        <a:rPr sz="1875" b="0">
                          <a:solidFill>
                            <a:srgbClr val="152B2B"/>
                          </a:solidFill>
                          <a:latin typeface="Calibri"/>
                          <a:ea typeface="Calibri"/>
                          <a:cs typeface="Calibri"/>
                        </a:rPr>
                        <a:t>Development / final lineages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16 / 32</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16 / 32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87375">
                <a:tc>
                  <a:txBody>
                    <a:bodyPr lIns="95250" tIns="95250" rIns="95250" bIns="95250"/>
                    <a:lstStyle/>
                    <a:p>
                      <a:r>
                        <a:rPr sz="1875" b="0">
                          <a:solidFill>
                            <a:srgbClr val="152B2B"/>
                          </a:solidFill>
                          <a:latin typeface="Calibri"/>
                          <a:ea typeface="Calibri"/>
                          <a:cs typeface="Calibri"/>
                        </a:rPr>
                        <a:t>Main final questions / condition</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256</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256</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87375">
                <a:tc>
                  <a:txBody>
                    <a:bodyPr lIns="95250" tIns="95250" rIns="95250" bIns="95250"/>
                    <a:lstStyle/>
                    <a:p>
                      <a:r>
                        <a:rPr sz="1875" b="0">
                          <a:solidFill>
                            <a:srgbClr val="152B2B"/>
                          </a:solidFill>
                          <a:latin typeface="Calibri"/>
                          <a:ea typeface="Calibri"/>
                          <a:cs typeface="Calibri"/>
                        </a:rPr>
                        <a:t>Facts per world</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9</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12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87375">
                <a:tc>
                  <a:txBody>
                    <a:bodyPr lIns="95250" tIns="95250" rIns="95250" bIns="95250"/>
                    <a:lstStyle/>
                    <a:p>
                      <a:r>
                        <a:rPr sz="1875" b="0">
                          <a:solidFill>
                            <a:srgbClr val="152B2B"/>
                          </a:solidFill>
                          <a:latin typeface="Calibri"/>
                          <a:ea typeface="Calibri"/>
                          <a:cs typeface="Calibri"/>
                        </a:rPr>
                        <a:t>Maximum evaluated path depth</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2 hops</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3 hops</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6" name="Split lineages before augmentation. Automated labels. T">
            <a:extLst xmlns:a="http://schemas.openxmlformats.org/drawingml/2006/main">
              <a:ext uri="{FF2B5EF4-FFF2-40B4-BE49-F238E27FC236}">
                <a16:creationId xmlns:a16="http://schemas.microsoft.com/office/drawing/2014/main" id="{5E417A48-431A-4FC4-A4C1-B0275697C827}"/>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Split lineages before augmentation. Automated labels. Templates repeat within splits.</a:t>
            </a:r>
          </a:p>
        </p:txBody>
      </p:sp>
    </p:spTree>
    <p:extLst>
      <p:ext uri="{BB962C8B-B14F-4D97-AF65-F5344CB8AC3E}">
        <p14:creationId xmlns:p14="http://schemas.microsoft.com/office/powerpoint/2010/main" val="1658677005"/>
      </p:ext>
    </p:extLst>
  </p:cSld>
</p:sld>
</file>

<file path=ppt/slides/slide8.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Frozen experiment and scoring protocol">
            <a:extLst xmlns:a="http://schemas.openxmlformats.org/drawingml/2006/main">
              <a:ext uri="{FF2B5EF4-FFF2-40B4-BE49-F238E27FC236}">
                <a16:creationId xmlns:a16="http://schemas.microsoft.com/office/drawing/2014/main" id="{CC5843A2-D213-48CB-A039-700B1403777E}"/>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Frozen experiment and scoring protocol</a:t>
            </a:r>
          </a:p>
        </p:txBody>
      </p:sp>
      <p:sp>
        <p:nvSpPr>
          <p:cNvPr id="3" name="8">
            <a:extLst xmlns:a="http://schemas.openxmlformats.org/drawingml/2006/main">
              <a:ext uri="{FF2B5EF4-FFF2-40B4-BE49-F238E27FC236}">
                <a16:creationId xmlns:a16="http://schemas.microsoft.com/office/drawing/2014/main" id="{F2BB24AC-B831-41BB-BBE5-BB5B16712C28}"/>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8</a:t>
            </a:r>
          </a:p>
        </p:txBody>
      </p:sp>
      <p:sp>
        <p:nvSpPr>
          <p:cNvPr id="4" name="Original operations">
            <a:extLst xmlns:a="http://schemas.openxmlformats.org/drawingml/2006/main">
              <a:ext uri="{FF2B5EF4-FFF2-40B4-BE49-F238E27FC236}">
                <a16:creationId xmlns:a16="http://schemas.microsoft.com/office/drawing/2014/main" id="{DB42CF14-555D-447B-9B03-8D87CF17FEEC}"/>
              </a:ext>
            </a:extLst>
          </p:cNvPr>
          <p:cNvSpPr>
            <a:spLocks xmlns:a="http://schemas.openxmlformats.org/drawingml/2006/main" noGrp="1"/>
          </p:cNvSpPr>
          <p:nvPr/>
        </p:nvSpPr>
        <p:spPr>
          <a:xfrm xmlns:a="http://schemas.openxmlformats.org/drawingml/2006/main">
            <a:off x="647700" y="15906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Original operations</a:t>
            </a:r>
          </a:p>
        </p:txBody>
      </p:sp>
      <p:sp>
        <p:nvSpPr>
          <p:cNvPr id="5" name="5 main conditions x 256 questions&#10;2 oracle diagnostics ">
            <a:extLst xmlns:a="http://schemas.openxmlformats.org/drawingml/2006/main">
              <a:ext uri="{FF2B5EF4-FFF2-40B4-BE49-F238E27FC236}">
                <a16:creationId xmlns:a16="http://schemas.microsoft.com/office/drawing/2014/main" id="{9D61C3AD-23A3-473D-979B-A5FBD8EAA466}"/>
              </a:ext>
            </a:extLst>
          </p:cNvPr>
          <p:cNvSpPr>
            <a:spLocks xmlns:a="http://schemas.openxmlformats.org/drawingml/2006/main" noGrp="1"/>
          </p:cNvSpPr>
          <p:nvPr/>
        </p:nvSpPr>
        <p:spPr>
          <a:xfrm xmlns:a="http://schemas.openxmlformats.org/drawingml/2006/main">
            <a:off x="647700" y="2181225"/>
            <a:ext cx="5143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2B2B"/>
                </a:solidFill>
                <a:latin typeface="Calibri"/>
                <a:ea typeface="Calibri"/>
                <a:cs typeface="Calibri"/>
              </a:defRPr>
            </a:defPPr>
            <a:lvl1pPr>
              <a:defRPr sz="2175" b="0">
                <a:solidFill>
                  <a:srgbClr val="152B2B"/>
                </a:solidFill>
                <a:latin typeface="Calibri"/>
                <a:ea typeface="Calibri"/>
                <a:cs typeface="Calibri"/>
              </a:defRPr>
            </a:lvl1pPr>
            <a:lvl2pPr>
              <a:defRPr sz="2175" b="0">
                <a:solidFill>
                  <a:srgbClr val="152B2B"/>
                </a:solidFill>
                <a:latin typeface="Calibri"/>
                <a:ea typeface="Calibri"/>
                <a:cs typeface="Calibri"/>
              </a:defRPr>
            </a:lvl2pPr>
            <a:lvl3pPr>
              <a:defRPr sz="2175" b="0">
                <a:solidFill>
                  <a:srgbClr val="152B2B"/>
                </a:solidFill>
                <a:latin typeface="Calibri"/>
                <a:ea typeface="Calibri"/>
                <a:cs typeface="Calibri"/>
              </a:defRPr>
            </a:lvl3pPr>
            <a:lvl4pPr>
              <a:defRPr sz="2175" b="0">
                <a:solidFill>
                  <a:srgbClr val="152B2B"/>
                </a:solidFill>
                <a:latin typeface="Calibri"/>
                <a:ea typeface="Calibri"/>
                <a:cs typeface="Calibri"/>
              </a:defRPr>
            </a:lvl4pPr>
            <a:lvl5pPr>
              <a:defRPr sz="2175" b="0">
                <a:solidFill>
                  <a:srgbClr val="152B2B"/>
                </a:solidFill>
                <a:latin typeface="Calibri"/>
                <a:ea typeface="Calibri"/>
                <a:cs typeface="Calibri"/>
              </a:defRPr>
            </a:lvl5pPr>
            <a:lvl6pPr>
              <a:defRPr sz="2175" b="0">
                <a:solidFill>
                  <a:srgbClr val="152B2B"/>
                </a:solidFill>
                <a:latin typeface="Calibri"/>
                <a:ea typeface="Calibri"/>
                <a:cs typeface="Calibri"/>
              </a:defRPr>
            </a:lvl6pPr>
            <a:lvl7pPr>
              <a:defRPr sz="2175" b="0">
                <a:solidFill>
                  <a:srgbClr val="152B2B"/>
                </a:solidFill>
                <a:latin typeface="Calibri"/>
                <a:ea typeface="Calibri"/>
                <a:cs typeface="Calibri"/>
              </a:defRPr>
            </a:lvl7pPr>
            <a:lvl8pPr>
              <a:defRPr sz="2175" b="0">
                <a:solidFill>
                  <a:srgbClr val="152B2B"/>
                </a:solidFill>
                <a:latin typeface="Calibri"/>
                <a:ea typeface="Calibri"/>
                <a:cs typeface="Calibri"/>
              </a:defRPr>
            </a:lvl8pPr>
            <a:lvl9pPr>
              <a:defRPr sz="2175" b="0">
                <a:solidFill>
                  <a:srgbClr val="152B2B"/>
                </a:solidFill>
                <a:latin typeface="Calibri"/>
                <a:ea typeface="Calibri"/>
                <a:cs typeface="Calibri"/>
              </a:defRPr>
            </a:lvl9pPr>
          </a:lstStyle>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5 main conditions x 256 questions</a:t>
            </a:r>
          </a:p>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2 oracle diagnostics x 16 questions</a:t>
            </a:r>
          </a:p>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1,312 assigned generations</a:t>
            </a:r>
          </a:p>
        </p:txBody>
      </p:sp>
      <p:sp>
        <p:nvSpPr>
          <p:cNvPr id="6" name="Separate depth">
            <a:extLst xmlns:a="http://schemas.openxmlformats.org/drawingml/2006/main">
              <a:ext uri="{FF2B5EF4-FFF2-40B4-BE49-F238E27FC236}">
                <a16:creationId xmlns:a16="http://schemas.microsoft.com/office/drawing/2014/main" id="{77BB28C9-26C6-4FA9-A74F-CFC7B092DE35}"/>
              </a:ext>
            </a:extLst>
          </p:cNvPr>
          <p:cNvSpPr>
            <a:spLocks xmlns:a="http://schemas.openxmlformats.org/drawingml/2006/main" noGrp="1"/>
          </p:cNvSpPr>
          <p:nvPr/>
        </p:nvSpPr>
        <p:spPr>
          <a:xfrm xmlns:a="http://schemas.openxmlformats.org/drawingml/2006/main">
            <a:off x="6543675" y="159067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Separate depth</a:t>
            </a:r>
          </a:p>
        </p:txBody>
      </p:sp>
      <p:sp>
        <p:nvSpPr>
          <p:cNvPr id="7" name="2 models x (256 main + 16 oracle)&#10;544 assigned generati">
            <a:extLst xmlns:a="http://schemas.openxmlformats.org/drawingml/2006/main">
              <a:ext uri="{FF2B5EF4-FFF2-40B4-BE49-F238E27FC236}">
                <a16:creationId xmlns:a16="http://schemas.microsoft.com/office/drawing/2014/main" id="{774F4547-A8DE-48C8-909E-0DDCE79828BA}"/>
              </a:ext>
            </a:extLst>
          </p:cNvPr>
          <p:cNvSpPr>
            <a:spLocks xmlns:a="http://schemas.openxmlformats.org/drawingml/2006/main" noGrp="1"/>
          </p:cNvSpPr>
          <p:nvPr/>
        </p:nvSpPr>
        <p:spPr>
          <a:xfrm xmlns:a="http://schemas.openxmlformats.org/drawingml/2006/main">
            <a:off x="6543675" y="2181225"/>
            <a:ext cx="50006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2B2B"/>
                </a:solidFill>
                <a:latin typeface="Calibri"/>
                <a:ea typeface="Calibri"/>
                <a:cs typeface="Calibri"/>
              </a:defRPr>
            </a:defPPr>
            <a:lvl1pPr>
              <a:defRPr sz="2175" b="0">
                <a:solidFill>
                  <a:srgbClr val="152B2B"/>
                </a:solidFill>
                <a:latin typeface="Calibri"/>
                <a:ea typeface="Calibri"/>
                <a:cs typeface="Calibri"/>
              </a:defRPr>
            </a:lvl1pPr>
            <a:lvl2pPr>
              <a:defRPr sz="2175" b="0">
                <a:solidFill>
                  <a:srgbClr val="152B2B"/>
                </a:solidFill>
                <a:latin typeface="Calibri"/>
                <a:ea typeface="Calibri"/>
                <a:cs typeface="Calibri"/>
              </a:defRPr>
            </a:lvl2pPr>
            <a:lvl3pPr>
              <a:defRPr sz="2175" b="0">
                <a:solidFill>
                  <a:srgbClr val="152B2B"/>
                </a:solidFill>
                <a:latin typeface="Calibri"/>
                <a:ea typeface="Calibri"/>
                <a:cs typeface="Calibri"/>
              </a:defRPr>
            </a:lvl3pPr>
            <a:lvl4pPr>
              <a:defRPr sz="2175" b="0">
                <a:solidFill>
                  <a:srgbClr val="152B2B"/>
                </a:solidFill>
                <a:latin typeface="Calibri"/>
                <a:ea typeface="Calibri"/>
                <a:cs typeface="Calibri"/>
              </a:defRPr>
            </a:lvl4pPr>
            <a:lvl5pPr>
              <a:defRPr sz="2175" b="0">
                <a:solidFill>
                  <a:srgbClr val="152B2B"/>
                </a:solidFill>
                <a:latin typeface="Calibri"/>
                <a:ea typeface="Calibri"/>
                <a:cs typeface="Calibri"/>
              </a:defRPr>
            </a:lvl5pPr>
            <a:lvl6pPr>
              <a:defRPr sz="2175" b="0">
                <a:solidFill>
                  <a:srgbClr val="152B2B"/>
                </a:solidFill>
                <a:latin typeface="Calibri"/>
                <a:ea typeface="Calibri"/>
                <a:cs typeface="Calibri"/>
              </a:defRPr>
            </a:lvl6pPr>
            <a:lvl7pPr>
              <a:defRPr sz="2175" b="0">
                <a:solidFill>
                  <a:srgbClr val="152B2B"/>
                </a:solidFill>
                <a:latin typeface="Calibri"/>
                <a:ea typeface="Calibri"/>
                <a:cs typeface="Calibri"/>
              </a:defRPr>
            </a:lvl7pPr>
            <a:lvl8pPr>
              <a:defRPr sz="2175" b="0">
                <a:solidFill>
                  <a:srgbClr val="152B2B"/>
                </a:solidFill>
                <a:latin typeface="Calibri"/>
                <a:ea typeface="Calibri"/>
                <a:cs typeface="Calibri"/>
              </a:defRPr>
            </a:lvl8pPr>
            <a:lvl9pPr>
              <a:defRPr sz="2175" b="0">
                <a:solidFill>
                  <a:srgbClr val="152B2B"/>
                </a:solidFill>
                <a:latin typeface="Calibri"/>
                <a:ea typeface="Calibri"/>
                <a:cs typeface="Calibri"/>
              </a:defRPr>
            </a:lvl9pPr>
          </a:lstStyle>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2 models x (256 main + 16 oracle)</a:t>
            </a:r>
          </a:p>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544 assigned generations</a:t>
            </a:r>
          </a:p>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Shared selected fact IDs per question</a:t>
            </a:r>
          </a:p>
        </p:txBody>
      </p:sp>
      <p:sp>
        <p:nvSpPr>
          <p:cNvPr id="8" name="Primary accuracy = correct / all assigned">
            <a:extLst xmlns:a="http://schemas.openxmlformats.org/drawingml/2006/main">
              <a:ext uri="{FF2B5EF4-FFF2-40B4-BE49-F238E27FC236}">
                <a16:creationId xmlns:a16="http://schemas.microsoft.com/office/drawing/2014/main" id="{3FD5F380-6AFF-4138-BB39-177B3CB30AF7}"/>
              </a:ext>
            </a:extLst>
          </p:cNvPr>
          <p:cNvSpPr>
            <a:spLocks xmlns:a="http://schemas.openxmlformats.org/drawingml/2006/main" noGrp="1"/>
          </p:cNvSpPr>
          <p:nvPr/>
        </p:nvSpPr>
        <p:spPr>
          <a:xfrm xmlns:a="http://schemas.openxmlformats.org/drawingml/2006/main">
            <a:off x="647700" y="4191000"/>
            <a:ext cx="10715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152B2B"/>
                </a:solidFill>
                <a:latin typeface="Calibri"/>
                <a:ea typeface="Calibri"/>
                <a:cs typeface="Calibri"/>
              </a:defRPr>
            </a:defPPr>
            <a:lvl1pPr>
              <a:defRPr sz="2475" b="1">
                <a:solidFill>
                  <a:srgbClr val="152B2B"/>
                </a:solidFill>
                <a:latin typeface="Calibri"/>
                <a:ea typeface="Calibri"/>
                <a:cs typeface="Calibri"/>
              </a:defRPr>
            </a:lvl1pPr>
            <a:lvl2pPr>
              <a:defRPr sz="2475" b="1">
                <a:solidFill>
                  <a:srgbClr val="152B2B"/>
                </a:solidFill>
                <a:latin typeface="Calibri"/>
                <a:ea typeface="Calibri"/>
                <a:cs typeface="Calibri"/>
              </a:defRPr>
            </a:lvl2pPr>
            <a:lvl3pPr>
              <a:defRPr sz="2475" b="1">
                <a:solidFill>
                  <a:srgbClr val="152B2B"/>
                </a:solidFill>
                <a:latin typeface="Calibri"/>
                <a:ea typeface="Calibri"/>
                <a:cs typeface="Calibri"/>
              </a:defRPr>
            </a:lvl3pPr>
            <a:lvl4pPr>
              <a:defRPr sz="2475" b="1">
                <a:solidFill>
                  <a:srgbClr val="152B2B"/>
                </a:solidFill>
                <a:latin typeface="Calibri"/>
                <a:ea typeface="Calibri"/>
                <a:cs typeface="Calibri"/>
              </a:defRPr>
            </a:lvl4pPr>
            <a:lvl5pPr>
              <a:defRPr sz="2475" b="1">
                <a:solidFill>
                  <a:srgbClr val="152B2B"/>
                </a:solidFill>
                <a:latin typeface="Calibri"/>
                <a:ea typeface="Calibri"/>
                <a:cs typeface="Calibri"/>
              </a:defRPr>
            </a:lvl5pPr>
            <a:lvl6pPr>
              <a:defRPr sz="2475" b="1">
                <a:solidFill>
                  <a:srgbClr val="152B2B"/>
                </a:solidFill>
                <a:latin typeface="Calibri"/>
                <a:ea typeface="Calibri"/>
                <a:cs typeface="Calibri"/>
              </a:defRPr>
            </a:lvl6pPr>
            <a:lvl7pPr>
              <a:defRPr sz="2475" b="1">
                <a:solidFill>
                  <a:srgbClr val="152B2B"/>
                </a:solidFill>
                <a:latin typeface="Calibri"/>
                <a:ea typeface="Calibri"/>
                <a:cs typeface="Calibri"/>
              </a:defRPr>
            </a:lvl7pPr>
            <a:lvl8pPr>
              <a:defRPr sz="2475" b="1">
                <a:solidFill>
                  <a:srgbClr val="152B2B"/>
                </a:solidFill>
                <a:latin typeface="Calibri"/>
                <a:ea typeface="Calibri"/>
                <a:cs typeface="Calibri"/>
              </a:defRPr>
            </a:lvl8pPr>
            <a:lvl9pPr>
              <a:defRPr sz="2475" b="1">
                <a:solidFill>
                  <a:srgbClr val="152B2B"/>
                </a:solidFill>
                <a:latin typeface="Calibri"/>
                <a:ea typeface="Calibri"/>
                <a:cs typeface="Calibri"/>
              </a:defRPr>
            </a:lvl9pPr>
          </a:lstStyle>
          <a:p xmlns:a="http://schemas.openxmlformats.org/drawingml/2006/main">
            <a:pPr>
              <a:defRPr sz="2475" b="1">
                <a:solidFill>
                  <a:srgbClr val="152B2B"/>
                </a:solidFill>
                <a:latin typeface="Calibri"/>
                <a:ea typeface="Calibri"/>
                <a:cs typeface="Calibri"/>
              </a:defRPr>
            </a:pPr>
            <a:r>
              <a:rPr sz="2475" b="1">
                <a:solidFill>
                  <a:srgbClr val="152B2B"/>
                </a:solidFill>
                <a:latin typeface="Calibri"/>
                <a:ea typeface="Calibri"/>
                <a:cs typeface="Calibri"/>
              </a:rPr>
              <a:t>Primary accuracy = correct / all assigned</a:t>
            </a:r>
          </a:p>
        </p:txBody>
      </p:sp>
      <p:sp>
        <p:nvSpPr>
          <p:cNvPr id="9" name="Score the endorsed subject, relation and short answer. ">
            <a:extLst xmlns:a="http://schemas.openxmlformats.org/drawingml/2006/main">
              <a:ext uri="{FF2B5EF4-FFF2-40B4-BE49-F238E27FC236}">
                <a16:creationId xmlns:a16="http://schemas.microsoft.com/office/drawing/2014/main" id="{4E4DA08F-4D9C-400A-83A1-47C01AE108EA}"/>
              </a:ext>
            </a:extLst>
          </p:cNvPr>
          <p:cNvSpPr>
            <a:spLocks xmlns:a="http://schemas.openxmlformats.org/drawingml/2006/main" noGrp="1"/>
          </p:cNvSpPr>
          <p:nvPr/>
        </p:nvSpPr>
        <p:spPr>
          <a:xfrm xmlns:a="http://schemas.openxmlformats.org/drawingml/2006/main">
            <a:off x="647700" y="4829175"/>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26464"/>
                </a:solidFill>
                <a:latin typeface="Calibri"/>
                <a:ea typeface="Calibri"/>
                <a:cs typeface="Calibri"/>
              </a:defRPr>
            </a:defPPr>
            <a:lvl1pPr>
              <a:defRPr sz="1950" b="0">
                <a:solidFill>
                  <a:srgbClr val="526464"/>
                </a:solidFill>
                <a:latin typeface="Calibri"/>
                <a:ea typeface="Calibri"/>
                <a:cs typeface="Calibri"/>
              </a:defRPr>
            </a:lvl1pPr>
            <a:lvl2pPr>
              <a:defRPr sz="1950" b="0">
                <a:solidFill>
                  <a:srgbClr val="526464"/>
                </a:solidFill>
                <a:latin typeface="Calibri"/>
                <a:ea typeface="Calibri"/>
                <a:cs typeface="Calibri"/>
              </a:defRPr>
            </a:lvl2pPr>
            <a:lvl3pPr>
              <a:defRPr sz="1950" b="0">
                <a:solidFill>
                  <a:srgbClr val="526464"/>
                </a:solidFill>
                <a:latin typeface="Calibri"/>
                <a:ea typeface="Calibri"/>
                <a:cs typeface="Calibri"/>
              </a:defRPr>
            </a:lvl3pPr>
            <a:lvl4pPr>
              <a:defRPr sz="1950" b="0">
                <a:solidFill>
                  <a:srgbClr val="526464"/>
                </a:solidFill>
                <a:latin typeface="Calibri"/>
                <a:ea typeface="Calibri"/>
                <a:cs typeface="Calibri"/>
              </a:defRPr>
            </a:lvl4pPr>
            <a:lvl5pPr>
              <a:defRPr sz="1950" b="0">
                <a:solidFill>
                  <a:srgbClr val="526464"/>
                </a:solidFill>
                <a:latin typeface="Calibri"/>
                <a:ea typeface="Calibri"/>
                <a:cs typeface="Calibri"/>
              </a:defRPr>
            </a:lvl5pPr>
            <a:lvl6pPr>
              <a:defRPr sz="1950" b="0">
                <a:solidFill>
                  <a:srgbClr val="526464"/>
                </a:solidFill>
                <a:latin typeface="Calibri"/>
                <a:ea typeface="Calibri"/>
                <a:cs typeface="Calibri"/>
              </a:defRPr>
            </a:lvl6pPr>
            <a:lvl7pPr>
              <a:defRPr sz="1950" b="0">
                <a:solidFill>
                  <a:srgbClr val="526464"/>
                </a:solidFill>
                <a:latin typeface="Calibri"/>
                <a:ea typeface="Calibri"/>
                <a:cs typeface="Calibri"/>
              </a:defRPr>
            </a:lvl7pPr>
            <a:lvl8pPr>
              <a:defRPr sz="1950" b="0">
                <a:solidFill>
                  <a:srgbClr val="526464"/>
                </a:solidFill>
                <a:latin typeface="Calibri"/>
                <a:ea typeface="Calibri"/>
                <a:cs typeface="Calibri"/>
              </a:defRPr>
            </a:lvl8pPr>
            <a:lvl9pPr>
              <a:defRPr sz="1950" b="0">
                <a:solidFill>
                  <a:srgbClr val="526464"/>
                </a:solidFill>
                <a:latin typeface="Calibri"/>
                <a:ea typeface="Calibri"/>
                <a:cs typeface="Calibri"/>
              </a:defRPr>
            </a:lvl9pPr>
          </a:lstStyle>
          <a:p xmlns:a="http://schemas.openxmlformats.org/drawingml/2006/main">
            <a:pPr>
              <a:defRPr sz="1950" b="0">
                <a:solidFill>
                  <a:srgbClr val="526464"/>
                </a:solidFill>
                <a:latin typeface="Calibri"/>
                <a:ea typeface="Calibri"/>
                <a:cs typeface="Calibri"/>
              </a:defRPr>
            </a:pPr>
            <a:r>
              <a:rPr sz="1950" b="0">
                <a:solidFill>
                  <a:srgbClr val="526464"/>
                </a:solidFill>
                <a:latin typeface="Calibri"/>
                <a:ea typeface="Calibri"/>
                <a:cs typeface="Calibri"/>
              </a:rPr>
              <a:t>Score the endorsed subject, relation and short answer. UNKNOWN receives zero credit.</a:t>
            </a:r>
          </a:p>
          <a:p xmlns:a="http://schemas.openxmlformats.org/drawingml/2006/main">
            <a:pPr>
              <a:defRPr sz="1950" b="0">
                <a:solidFill>
                  <a:srgbClr val="526464"/>
                </a:solidFill>
                <a:latin typeface="Calibri"/>
                <a:ea typeface="Calibri"/>
                <a:cs typeface="Calibri"/>
              </a:defRPr>
            </a:pPr>
            <a:r>
              <a:rPr sz="1950" b="0">
                <a:solidFill>
                  <a:srgbClr val="526464"/>
                </a:solidFill>
                <a:latin typeface="Calibri"/>
                <a:ea typeface="Calibri"/>
                <a:cs typeface="Calibri"/>
              </a:rPr>
              <a:t>Separate retrieval completeness, gold support diagnostics and generation quality.</a:t>
            </a:r>
          </a:p>
        </p:txBody>
      </p:sp>
      <p:sp>
        <p:nvSpPr>
          <p:cNvPr id="10" name="Updated baselines receive the same approved facts. Sett">
            <a:extLst xmlns:a="http://schemas.openxmlformats.org/drawingml/2006/main">
              <a:ext uri="{FF2B5EF4-FFF2-40B4-BE49-F238E27FC236}">
                <a16:creationId xmlns:a16="http://schemas.microsoft.com/office/drawing/2014/main" id="{F199F2B7-C4ED-4768-94CA-FFBDDA9DC94B}"/>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Updated baselines receive the same approved facts. Settings and scoring freeze before final inference.</a:t>
            </a:r>
          </a:p>
        </p:txBody>
      </p:sp>
    </p:spTree>
    <p:extLst>
      <p:ext uri="{BB962C8B-B14F-4D97-AF65-F5344CB8AC3E}">
        <p14:creationId xmlns:p14="http://schemas.microsoft.com/office/powerpoint/2010/main" val="294819730"/>
      </p:ext>
    </p:extLst>
  </p:cSld>
</p:sld>
</file>

<file path=ppt/slides/slide9.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Original study and the full memory failure">
            <a:extLst xmlns:a="http://schemas.openxmlformats.org/drawingml/2006/main">
              <a:ext uri="{FF2B5EF4-FFF2-40B4-BE49-F238E27FC236}">
                <a16:creationId xmlns:a16="http://schemas.microsoft.com/office/drawing/2014/main" id="{5DDF550C-1153-4220-82AB-38AA93F3AA45}"/>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Original study and the full memory failure</a:t>
            </a:r>
          </a:p>
        </p:txBody>
      </p:sp>
      <p:sp>
        <p:nvSpPr>
          <p:cNvPr id="3" name="256 assigned questions per updated condition. Count eve">
            <a:extLst xmlns:a="http://schemas.openxmlformats.org/drawingml/2006/main">
              <a:ext uri="{FF2B5EF4-FFF2-40B4-BE49-F238E27FC236}">
                <a16:creationId xmlns:a16="http://schemas.microsoft.com/office/drawing/2014/main" id="{59D56F29-CC76-4CA0-A57F-5031495A6B50}"/>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256 assigned questions per updated condition. Count every strict mismatch and abstention.</a:t>
            </a:r>
          </a:p>
        </p:txBody>
      </p:sp>
      <p:sp>
        <p:nvSpPr>
          <p:cNvPr id="4" name="9">
            <a:extLst xmlns:a="http://schemas.openxmlformats.org/drawingml/2006/main">
              <a:ext uri="{FF2B5EF4-FFF2-40B4-BE49-F238E27FC236}">
                <a16:creationId xmlns:a16="http://schemas.microsoft.com/office/drawing/2014/main" id="{BE5A9CBA-5C4E-441F-AA79-DA192BC5D748}"/>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9</a:t>
            </a:r>
          </a:p>
        </p:txBody>
      </p:sp>
      <p:graphicFrame>
        <p:nvGraphicFramePr>
          <p:cNvPr id="5" name="Chart">
            <a:extLst xmlns:a="http://schemas.openxmlformats.org/drawingml/2006/main">
              <a:ext uri="{FF2B5EF4-FFF2-40B4-BE49-F238E27FC236}">
                <a16:creationId xmlns:a16="http://schemas.microsoft.com/office/drawing/2014/main" id="{CBDF8803-79A7-4F92-8FE6-DCCCCA08D2EB}"/>
              </a:ext>
            </a:extLst>
          </p:cNvPr>
          <p:cNvGraphicFramePr/>
          <p:nvPr/>
        </p:nvGraphicFramePr>
        <p:xfrm>
          <a:off xmlns:a="http://schemas.openxmlformats.org/drawingml/2006/main" x="571500" y="1752600"/>
          <a:ext xmlns:a="http://schemas.openxmlformats.org/drawingml/2006/main" cx="7667625" cy="3857625"/>
        </p:xfrm>
        <a:graphic xmlns:a="http://schemas.openxmlformats.org/drawingml/2006/main">
          <a:graphicData uri="http://schemas.openxmlformats.org/drawingml/2006/chart">
            <c:chart xmlns:r="http://schemas.openxmlformats.org/officeDocument/2006/relationships" xmlns:c="http://schemas.openxmlformats.org/drawingml/2006/chart" r:id="R7ed61daa0e75406f"/>
          </a:graphicData>
        </a:graphic>
      </p:graphicFrame>
      <p:sp>
        <p:nvSpPr>
          <p:cNvPr id="6" name="Retrieved Qwen">
            <a:extLst xmlns:a="http://schemas.openxmlformats.org/drawingml/2006/main">
              <a:ext uri="{FF2B5EF4-FFF2-40B4-BE49-F238E27FC236}">
                <a16:creationId xmlns:a16="http://schemas.microsoft.com/office/drawing/2014/main" id="{3151B449-E217-47F2-97F9-41695CF87F7C}"/>
              </a:ext>
            </a:extLst>
          </p:cNvPr>
          <p:cNvSpPr>
            <a:spLocks xmlns:a="http://schemas.openxmlformats.org/drawingml/2006/main" noGrp="1"/>
          </p:cNvSpPr>
          <p:nvPr/>
        </p:nvSpPr>
        <p:spPr>
          <a:xfrm xmlns:a="http://schemas.openxmlformats.org/drawingml/2006/main">
            <a:off x="8591550" y="2085975"/>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Retrieved Qwen</a:t>
            </a:r>
          </a:p>
        </p:txBody>
      </p:sp>
      <p:sp>
        <p:nvSpPr>
          <p:cNvPr id="7" name="15 UNKNOWN&#10;0 wrong answers">
            <a:extLst xmlns:a="http://schemas.openxmlformats.org/drawingml/2006/main">
              <a:ext uri="{FF2B5EF4-FFF2-40B4-BE49-F238E27FC236}">
                <a16:creationId xmlns:a16="http://schemas.microsoft.com/office/drawing/2014/main" id="{AC42E5F3-7E98-435F-906F-29994914944B}"/>
              </a:ext>
            </a:extLst>
          </p:cNvPr>
          <p:cNvSpPr>
            <a:spLocks xmlns:a="http://schemas.openxmlformats.org/drawingml/2006/main" noGrp="1"/>
          </p:cNvSpPr>
          <p:nvPr/>
        </p:nvSpPr>
        <p:spPr>
          <a:xfrm xmlns:a="http://schemas.openxmlformats.org/drawingml/2006/main">
            <a:off x="8591550" y="2628900"/>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15 UNKNOWN</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0 wrong answers</a:t>
            </a:r>
          </a:p>
        </p:txBody>
      </p:sp>
      <p:sp>
        <p:nvSpPr>
          <p:cNvPr id="8" name="Full memory ReasonKE">
            <a:extLst xmlns:a="http://schemas.openxmlformats.org/drawingml/2006/main">
              <a:ext uri="{FF2B5EF4-FFF2-40B4-BE49-F238E27FC236}">
                <a16:creationId xmlns:a16="http://schemas.microsoft.com/office/drawing/2014/main" id="{4D17C446-634B-4FDB-9706-BB13F1B83677}"/>
              </a:ext>
            </a:extLst>
          </p:cNvPr>
          <p:cNvSpPr>
            <a:spLocks xmlns:a="http://schemas.openxmlformats.org/drawingml/2006/main" noGrp="1"/>
          </p:cNvSpPr>
          <p:nvPr/>
        </p:nvSpPr>
        <p:spPr>
          <a:xfrm xmlns:a="http://schemas.openxmlformats.org/drawingml/2006/main">
            <a:off x="8591550" y="39909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B2B"/>
                </a:solidFill>
                <a:latin typeface="Calibri"/>
                <a:ea typeface="Calibri"/>
                <a:cs typeface="Calibri"/>
              </a:defRPr>
            </a:defPPr>
            <a:lvl1pPr>
              <a:defRPr sz="2175" b="1">
                <a:solidFill>
                  <a:srgbClr val="152B2B"/>
                </a:solidFill>
                <a:latin typeface="Calibri"/>
                <a:ea typeface="Calibri"/>
                <a:cs typeface="Calibri"/>
              </a:defRPr>
            </a:lvl1pPr>
            <a:lvl2pPr>
              <a:defRPr sz="2175" b="1">
                <a:solidFill>
                  <a:srgbClr val="152B2B"/>
                </a:solidFill>
                <a:latin typeface="Calibri"/>
                <a:ea typeface="Calibri"/>
                <a:cs typeface="Calibri"/>
              </a:defRPr>
            </a:lvl2pPr>
            <a:lvl3pPr>
              <a:defRPr sz="2175" b="1">
                <a:solidFill>
                  <a:srgbClr val="152B2B"/>
                </a:solidFill>
                <a:latin typeface="Calibri"/>
                <a:ea typeface="Calibri"/>
                <a:cs typeface="Calibri"/>
              </a:defRPr>
            </a:lvl3pPr>
            <a:lvl4pPr>
              <a:defRPr sz="2175" b="1">
                <a:solidFill>
                  <a:srgbClr val="152B2B"/>
                </a:solidFill>
                <a:latin typeface="Calibri"/>
                <a:ea typeface="Calibri"/>
                <a:cs typeface="Calibri"/>
              </a:defRPr>
            </a:lvl4pPr>
            <a:lvl5pPr>
              <a:defRPr sz="2175" b="1">
                <a:solidFill>
                  <a:srgbClr val="152B2B"/>
                </a:solidFill>
                <a:latin typeface="Calibri"/>
                <a:ea typeface="Calibri"/>
                <a:cs typeface="Calibri"/>
              </a:defRPr>
            </a:lvl5pPr>
            <a:lvl6pPr>
              <a:defRPr sz="2175" b="1">
                <a:solidFill>
                  <a:srgbClr val="152B2B"/>
                </a:solidFill>
                <a:latin typeface="Calibri"/>
                <a:ea typeface="Calibri"/>
                <a:cs typeface="Calibri"/>
              </a:defRPr>
            </a:lvl6pPr>
            <a:lvl7pPr>
              <a:defRPr sz="2175" b="1">
                <a:solidFill>
                  <a:srgbClr val="152B2B"/>
                </a:solidFill>
                <a:latin typeface="Calibri"/>
                <a:ea typeface="Calibri"/>
                <a:cs typeface="Calibri"/>
              </a:defRPr>
            </a:lvl7pPr>
            <a:lvl8pPr>
              <a:defRPr sz="2175" b="1">
                <a:solidFill>
                  <a:srgbClr val="152B2B"/>
                </a:solidFill>
                <a:latin typeface="Calibri"/>
                <a:ea typeface="Calibri"/>
                <a:cs typeface="Calibri"/>
              </a:defRPr>
            </a:lvl8pPr>
            <a:lvl9pPr>
              <a:defRPr sz="2175" b="1">
                <a:solidFill>
                  <a:srgbClr val="152B2B"/>
                </a:solidFill>
                <a:latin typeface="Calibri"/>
                <a:ea typeface="Calibri"/>
                <a:cs typeface="Calibri"/>
              </a:defRPr>
            </a:lvl9pPr>
          </a:lstStyle>
          <a:p xmlns:a="http://schemas.openxmlformats.org/drawingml/2006/main">
            <a:pPr>
              <a:defRPr sz="2175" b="1">
                <a:solidFill>
                  <a:srgbClr val="152B2B"/>
                </a:solidFill>
                <a:latin typeface="Calibri"/>
                <a:ea typeface="Calibri"/>
                <a:cs typeface="Calibri"/>
              </a:defRPr>
            </a:pPr>
            <a:r>
              <a:rPr sz="2175" b="1">
                <a:solidFill>
                  <a:srgbClr val="152B2B"/>
                </a:solidFill>
                <a:latin typeface="Calibri"/>
                <a:ea typeface="Calibri"/>
                <a:cs typeface="Calibri"/>
              </a:rPr>
              <a:t>Full memory ReasonKE</a:t>
            </a:r>
          </a:p>
        </p:txBody>
      </p:sp>
      <p:sp>
        <p:nvSpPr>
          <p:cNvPr id="9" name="25 strict wrong answers">
            <a:extLst xmlns:a="http://schemas.openxmlformats.org/drawingml/2006/main">
              <a:ext uri="{FF2B5EF4-FFF2-40B4-BE49-F238E27FC236}">
                <a16:creationId xmlns:a16="http://schemas.microsoft.com/office/drawing/2014/main" id="{BB37D54B-AF12-4628-81EA-255D62C49130}"/>
              </a:ext>
            </a:extLst>
          </p:cNvPr>
          <p:cNvSpPr>
            <a:spLocks xmlns:a="http://schemas.openxmlformats.org/drawingml/2006/main" noGrp="1"/>
          </p:cNvSpPr>
          <p:nvPr/>
        </p:nvSpPr>
        <p:spPr>
          <a:xfrm xmlns:a="http://schemas.openxmlformats.org/drawingml/2006/main">
            <a:off x="8591550" y="48672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B2B"/>
                </a:solidFill>
                <a:latin typeface="Calibri"/>
                <a:ea typeface="Calibri"/>
                <a:cs typeface="Calibri"/>
              </a:defRPr>
            </a:defPPr>
            <a:lvl1pPr>
              <a:defRPr sz="2025" b="0">
                <a:solidFill>
                  <a:srgbClr val="152B2B"/>
                </a:solidFill>
                <a:latin typeface="Calibri"/>
                <a:ea typeface="Calibri"/>
                <a:cs typeface="Calibri"/>
              </a:defRPr>
            </a:lvl1pPr>
            <a:lvl2pPr>
              <a:defRPr sz="2025" b="0">
                <a:solidFill>
                  <a:srgbClr val="152B2B"/>
                </a:solidFill>
                <a:latin typeface="Calibri"/>
                <a:ea typeface="Calibri"/>
                <a:cs typeface="Calibri"/>
              </a:defRPr>
            </a:lvl2pPr>
            <a:lvl3pPr>
              <a:defRPr sz="2025" b="0">
                <a:solidFill>
                  <a:srgbClr val="152B2B"/>
                </a:solidFill>
                <a:latin typeface="Calibri"/>
                <a:ea typeface="Calibri"/>
                <a:cs typeface="Calibri"/>
              </a:defRPr>
            </a:lvl3pPr>
            <a:lvl4pPr>
              <a:defRPr sz="2025" b="0">
                <a:solidFill>
                  <a:srgbClr val="152B2B"/>
                </a:solidFill>
                <a:latin typeface="Calibri"/>
                <a:ea typeface="Calibri"/>
                <a:cs typeface="Calibri"/>
              </a:defRPr>
            </a:lvl4pPr>
            <a:lvl5pPr>
              <a:defRPr sz="2025" b="0">
                <a:solidFill>
                  <a:srgbClr val="152B2B"/>
                </a:solidFill>
                <a:latin typeface="Calibri"/>
                <a:ea typeface="Calibri"/>
                <a:cs typeface="Calibri"/>
              </a:defRPr>
            </a:lvl5pPr>
            <a:lvl6pPr>
              <a:defRPr sz="2025" b="0">
                <a:solidFill>
                  <a:srgbClr val="152B2B"/>
                </a:solidFill>
                <a:latin typeface="Calibri"/>
                <a:ea typeface="Calibri"/>
                <a:cs typeface="Calibri"/>
              </a:defRPr>
            </a:lvl6pPr>
            <a:lvl7pPr>
              <a:defRPr sz="2025" b="0">
                <a:solidFill>
                  <a:srgbClr val="152B2B"/>
                </a:solidFill>
                <a:latin typeface="Calibri"/>
                <a:ea typeface="Calibri"/>
                <a:cs typeface="Calibri"/>
              </a:defRPr>
            </a:lvl7pPr>
            <a:lvl8pPr>
              <a:defRPr sz="2025" b="0">
                <a:solidFill>
                  <a:srgbClr val="152B2B"/>
                </a:solidFill>
                <a:latin typeface="Calibri"/>
                <a:ea typeface="Calibri"/>
                <a:cs typeface="Calibri"/>
              </a:defRPr>
            </a:lvl8pPr>
            <a:lvl9pPr>
              <a:defRPr sz="2025" b="0">
                <a:solidFill>
                  <a:srgbClr val="152B2B"/>
                </a:solidFill>
                <a:latin typeface="Calibri"/>
                <a:ea typeface="Calibri"/>
                <a:cs typeface="Calibri"/>
              </a:defRPr>
            </a:lvl9pPr>
          </a:lstStyle>
          <a:p xmlns:a="http://schemas.openxmlformats.org/drawingml/2006/main">
            <a:pPr>
              <a:defRPr sz="2025" b="0">
                <a:solidFill>
                  <a:srgbClr val="152B2B"/>
                </a:solidFill>
                <a:latin typeface="Calibri"/>
                <a:ea typeface="Calibri"/>
                <a:cs typeface="Calibri"/>
              </a:defRPr>
            </a:pPr>
            <a:r>
              <a:rPr sz="2025" b="0">
                <a:solidFill>
                  <a:srgbClr val="152B2B"/>
                </a:solidFill>
                <a:latin typeface="Calibri"/>
                <a:ea typeface="Calibri"/>
                <a:cs typeface="Calibri"/>
              </a:rPr>
              <a:t>25 strict wrong answers</a:t>
            </a:r>
          </a:p>
        </p:txBody>
      </p:sp>
      <p:sp>
        <p:nvSpPr>
          <p:cNvPr id="10" name="ReasonKE retrieval: 124/124 baseline correct controls r">
            <a:extLst xmlns:a="http://schemas.openxmlformats.org/drawingml/2006/main">
              <a:ext uri="{FF2B5EF4-FFF2-40B4-BE49-F238E27FC236}">
                <a16:creationId xmlns:a16="http://schemas.microsoft.com/office/drawing/2014/main" id="{89440F06-DEA2-4F44-BF3C-20F00868D9A4}"/>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ReasonKE retrieval: 124/124 baseline correct controls retained, 128/128 total controls correct.</a:t>
            </a:r>
          </a:p>
        </p:txBody>
      </p:sp>
    </p:spTree>
    <p:extLst>
      <p:ext uri="{BB962C8B-B14F-4D97-AF65-F5344CB8AC3E}">
        <p14:creationId xmlns:p14="http://schemas.microsoft.com/office/powerpoint/2010/main" val="69249774"/>
      </p:ext>
    </p:extLst>
  </p:cSld>
</p:sld>
</file>

<file path=ppt/slides/slide10.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Depth results, uncertainty and latency">
            <a:extLst xmlns:a="http://schemas.openxmlformats.org/drawingml/2006/main">
              <a:ext uri="{FF2B5EF4-FFF2-40B4-BE49-F238E27FC236}">
                <a16:creationId xmlns:a16="http://schemas.microsoft.com/office/drawing/2014/main" id="{42B573A1-A12A-4372-96C7-799850D81781}"/>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Depth results, uncertainty and latency</a:t>
            </a:r>
          </a:p>
        </p:txBody>
      </p:sp>
      <p:sp>
        <p:nvSpPr>
          <p:cNvPr id="3" name="64 assigned questions per group and model in the separa">
            <a:extLst xmlns:a="http://schemas.openxmlformats.org/drawingml/2006/main">
              <a:ext uri="{FF2B5EF4-FFF2-40B4-BE49-F238E27FC236}">
                <a16:creationId xmlns:a16="http://schemas.microsoft.com/office/drawing/2014/main" id="{0C544C14-CA71-458E-BBC8-C94305DF4DD9}"/>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64 assigned questions per group and model in the separate depth study</a:t>
            </a:r>
          </a:p>
        </p:txBody>
      </p:sp>
      <p:sp>
        <p:nvSpPr>
          <p:cNvPr id="4" name="10">
            <a:extLst xmlns:a="http://schemas.openxmlformats.org/drawingml/2006/main">
              <a:ext uri="{FF2B5EF4-FFF2-40B4-BE49-F238E27FC236}">
                <a16:creationId xmlns:a16="http://schemas.microsoft.com/office/drawing/2014/main" id="{3F0E74C1-3AA1-4C3E-961D-998251B15DA5}"/>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10</a:t>
            </a:r>
          </a:p>
        </p:txBody>
      </p:sp>
      <p:graphicFrame>
        <p:nvGraphicFramePr>
          <p:cNvPr id="5" name="Chart">
            <a:extLst xmlns:a="http://schemas.openxmlformats.org/drawingml/2006/main">
              <a:ext uri="{FF2B5EF4-FFF2-40B4-BE49-F238E27FC236}">
                <a16:creationId xmlns:a16="http://schemas.microsoft.com/office/drawing/2014/main" id="{194E2A9A-C639-4CD5-BC55-2A1AA794BF9F}"/>
              </a:ext>
            </a:extLst>
          </p:cNvPr>
          <p:cNvGraphicFramePr/>
          <p:nvPr/>
        </p:nvGraphicFramePr>
        <p:xfrm>
          <a:off xmlns:a="http://schemas.openxmlformats.org/drawingml/2006/main" x="571500" y="1752600"/>
          <a:ext xmlns:a="http://schemas.openxmlformats.org/drawingml/2006/main" cx="7524750" cy="3857625"/>
        </p:xfrm>
        <a:graphic xmlns:a="http://schemas.openxmlformats.org/drawingml/2006/main">
          <a:graphicData uri="http://schemas.openxmlformats.org/drawingml/2006/chart">
            <c:chart xmlns:r="http://schemas.openxmlformats.org/officeDocument/2006/relationships" xmlns:c="http://schemas.openxmlformats.org/drawingml/2006/chart" r:id="Rdf679ecf8d7c45e4"/>
          </a:graphicData>
        </a:graphic>
      </p:graphicFrame>
      <p:sp>
        <p:nvSpPr>
          <p:cNvPr id="6" name="Main answers">
            <a:extLst xmlns:a="http://schemas.openxmlformats.org/drawingml/2006/main">
              <a:ext uri="{FF2B5EF4-FFF2-40B4-BE49-F238E27FC236}">
                <a16:creationId xmlns:a16="http://schemas.microsoft.com/office/drawing/2014/main" id="{A0CAD768-317E-4F49-8B5A-282C5E4A3B19}"/>
              </a:ext>
            </a:extLst>
          </p:cNvPr>
          <p:cNvSpPr>
            <a:spLocks xmlns:a="http://schemas.openxmlformats.org/drawingml/2006/main" noGrp="1"/>
          </p:cNvSpPr>
          <p:nvPr/>
        </p:nvSpPr>
        <p:spPr>
          <a:xfrm xmlns:a="http://schemas.openxmlformats.org/drawingml/2006/main">
            <a:off x="8458200" y="18192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6766D"/>
                </a:solidFill>
                <a:latin typeface="Calibri"/>
                <a:ea typeface="Calibri"/>
                <a:cs typeface="Calibri"/>
              </a:defRPr>
            </a:defPPr>
            <a:lvl1pPr>
              <a:defRPr sz="2100" b="1">
                <a:solidFill>
                  <a:srgbClr val="26766D"/>
                </a:solidFill>
                <a:latin typeface="Calibri"/>
                <a:ea typeface="Calibri"/>
                <a:cs typeface="Calibri"/>
              </a:defRPr>
            </a:lvl1pPr>
            <a:lvl2pPr>
              <a:defRPr sz="2100" b="1">
                <a:solidFill>
                  <a:srgbClr val="26766D"/>
                </a:solidFill>
                <a:latin typeface="Calibri"/>
                <a:ea typeface="Calibri"/>
                <a:cs typeface="Calibri"/>
              </a:defRPr>
            </a:lvl2pPr>
            <a:lvl3pPr>
              <a:defRPr sz="2100" b="1">
                <a:solidFill>
                  <a:srgbClr val="26766D"/>
                </a:solidFill>
                <a:latin typeface="Calibri"/>
                <a:ea typeface="Calibri"/>
                <a:cs typeface="Calibri"/>
              </a:defRPr>
            </a:lvl3pPr>
            <a:lvl4pPr>
              <a:defRPr sz="2100" b="1">
                <a:solidFill>
                  <a:srgbClr val="26766D"/>
                </a:solidFill>
                <a:latin typeface="Calibri"/>
                <a:ea typeface="Calibri"/>
                <a:cs typeface="Calibri"/>
              </a:defRPr>
            </a:lvl4pPr>
            <a:lvl5pPr>
              <a:defRPr sz="2100" b="1">
                <a:solidFill>
                  <a:srgbClr val="26766D"/>
                </a:solidFill>
                <a:latin typeface="Calibri"/>
                <a:ea typeface="Calibri"/>
                <a:cs typeface="Calibri"/>
              </a:defRPr>
            </a:lvl5pPr>
            <a:lvl6pPr>
              <a:defRPr sz="2100" b="1">
                <a:solidFill>
                  <a:srgbClr val="26766D"/>
                </a:solidFill>
                <a:latin typeface="Calibri"/>
                <a:ea typeface="Calibri"/>
                <a:cs typeface="Calibri"/>
              </a:defRPr>
            </a:lvl6pPr>
            <a:lvl7pPr>
              <a:defRPr sz="2100" b="1">
                <a:solidFill>
                  <a:srgbClr val="26766D"/>
                </a:solidFill>
                <a:latin typeface="Calibri"/>
                <a:ea typeface="Calibri"/>
                <a:cs typeface="Calibri"/>
              </a:defRPr>
            </a:lvl7pPr>
            <a:lvl8pPr>
              <a:defRPr sz="2100" b="1">
                <a:solidFill>
                  <a:srgbClr val="26766D"/>
                </a:solidFill>
                <a:latin typeface="Calibri"/>
                <a:ea typeface="Calibri"/>
                <a:cs typeface="Calibri"/>
              </a:defRPr>
            </a:lvl8pPr>
            <a:lvl9pPr>
              <a:defRPr sz="2100" b="1">
                <a:solidFill>
                  <a:srgbClr val="26766D"/>
                </a:solidFill>
                <a:latin typeface="Calibri"/>
                <a:ea typeface="Calibri"/>
                <a:cs typeface="Calibri"/>
              </a:defRPr>
            </a:lvl9pPr>
          </a:lstStyle>
          <a:p xmlns:a="http://schemas.openxmlformats.org/drawingml/2006/main">
            <a:pPr>
              <a:defRPr sz="2100" b="1">
                <a:solidFill>
                  <a:srgbClr val="26766D"/>
                </a:solidFill>
                <a:latin typeface="Calibri"/>
                <a:ea typeface="Calibri"/>
                <a:cs typeface="Calibri"/>
              </a:defRPr>
            </a:pPr>
            <a:r>
              <a:rPr sz="2100" b="1">
                <a:solidFill>
                  <a:srgbClr val="26766D"/>
                </a:solidFill>
                <a:latin typeface="Calibri"/>
                <a:ea typeface="Calibri"/>
                <a:cs typeface="Calibri"/>
              </a:rPr>
              <a:t>Main answers</a:t>
            </a:r>
          </a:p>
        </p:txBody>
      </p:sp>
      <p:sp>
        <p:nvSpPr>
          <p:cNvPr id="7" name="256/256 vs 248/256">
            <a:extLst xmlns:a="http://schemas.openxmlformats.org/drawingml/2006/main">
              <a:ext uri="{FF2B5EF4-FFF2-40B4-BE49-F238E27FC236}">
                <a16:creationId xmlns:a16="http://schemas.microsoft.com/office/drawing/2014/main" id="{0115C1EC-84B8-48ED-8C42-CF9AB0C055E7}"/>
              </a:ext>
            </a:extLst>
          </p:cNvPr>
          <p:cNvSpPr>
            <a:spLocks xmlns:a="http://schemas.openxmlformats.org/drawingml/2006/main" noGrp="1"/>
          </p:cNvSpPr>
          <p:nvPr/>
        </p:nvSpPr>
        <p:spPr>
          <a:xfrm xmlns:a="http://schemas.openxmlformats.org/drawingml/2006/main">
            <a:off x="8458200" y="2333625"/>
            <a:ext cx="304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52B2B"/>
                </a:solidFill>
                <a:latin typeface="Calibri"/>
                <a:ea typeface="Calibri"/>
                <a:cs typeface="Calibri"/>
              </a:defRPr>
            </a:defPPr>
            <a:lvl1pPr>
              <a:defRPr sz="2325" b="1">
                <a:solidFill>
                  <a:srgbClr val="152B2B"/>
                </a:solidFill>
                <a:latin typeface="Calibri"/>
                <a:ea typeface="Calibri"/>
                <a:cs typeface="Calibri"/>
              </a:defRPr>
            </a:lvl1pPr>
            <a:lvl2pPr>
              <a:defRPr sz="2325" b="1">
                <a:solidFill>
                  <a:srgbClr val="152B2B"/>
                </a:solidFill>
                <a:latin typeface="Calibri"/>
                <a:ea typeface="Calibri"/>
                <a:cs typeface="Calibri"/>
              </a:defRPr>
            </a:lvl2pPr>
            <a:lvl3pPr>
              <a:defRPr sz="2325" b="1">
                <a:solidFill>
                  <a:srgbClr val="152B2B"/>
                </a:solidFill>
                <a:latin typeface="Calibri"/>
                <a:ea typeface="Calibri"/>
                <a:cs typeface="Calibri"/>
              </a:defRPr>
            </a:lvl3pPr>
            <a:lvl4pPr>
              <a:defRPr sz="2325" b="1">
                <a:solidFill>
                  <a:srgbClr val="152B2B"/>
                </a:solidFill>
                <a:latin typeface="Calibri"/>
                <a:ea typeface="Calibri"/>
                <a:cs typeface="Calibri"/>
              </a:defRPr>
            </a:lvl4pPr>
            <a:lvl5pPr>
              <a:defRPr sz="2325" b="1">
                <a:solidFill>
                  <a:srgbClr val="152B2B"/>
                </a:solidFill>
                <a:latin typeface="Calibri"/>
                <a:ea typeface="Calibri"/>
                <a:cs typeface="Calibri"/>
              </a:defRPr>
            </a:lvl5pPr>
            <a:lvl6pPr>
              <a:defRPr sz="2325" b="1">
                <a:solidFill>
                  <a:srgbClr val="152B2B"/>
                </a:solidFill>
                <a:latin typeface="Calibri"/>
                <a:ea typeface="Calibri"/>
                <a:cs typeface="Calibri"/>
              </a:defRPr>
            </a:lvl6pPr>
            <a:lvl7pPr>
              <a:defRPr sz="2325" b="1">
                <a:solidFill>
                  <a:srgbClr val="152B2B"/>
                </a:solidFill>
                <a:latin typeface="Calibri"/>
                <a:ea typeface="Calibri"/>
                <a:cs typeface="Calibri"/>
              </a:defRPr>
            </a:lvl7pPr>
            <a:lvl8pPr>
              <a:defRPr sz="2325" b="1">
                <a:solidFill>
                  <a:srgbClr val="152B2B"/>
                </a:solidFill>
                <a:latin typeface="Calibri"/>
                <a:ea typeface="Calibri"/>
                <a:cs typeface="Calibri"/>
              </a:defRPr>
            </a:lvl8pPr>
            <a:lvl9pPr>
              <a:defRPr sz="2325" b="1">
                <a:solidFill>
                  <a:srgbClr val="152B2B"/>
                </a:solidFill>
                <a:latin typeface="Calibri"/>
                <a:ea typeface="Calibri"/>
                <a:cs typeface="Calibri"/>
              </a:defRPr>
            </a:lvl9pPr>
          </a:lstStyle>
          <a:p xmlns:a="http://schemas.openxmlformats.org/drawingml/2006/main">
            <a:pPr>
              <a:defRPr sz="2325" b="1">
                <a:solidFill>
                  <a:srgbClr val="152B2B"/>
                </a:solidFill>
                <a:latin typeface="Calibri"/>
                <a:ea typeface="Calibri"/>
                <a:cs typeface="Calibri"/>
              </a:defRPr>
            </a:pPr>
            <a:r>
              <a:rPr sz="2325" b="1">
                <a:solidFill>
                  <a:srgbClr val="152B2B"/>
                </a:solidFill>
                <a:latin typeface="Calibri"/>
                <a:ea typeface="Calibri"/>
                <a:cs typeface="Calibri"/>
              </a:rPr>
              <a:t>256/256 vs 248/256</a:t>
            </a:r>
          </a:p>
        </p:txBody>
      </p:sp>
      <p:sp>
        <p:nvSpPr>
          <p:cNvPr id="8" name="Warm p50 / p95">
            <a:extLst xmlns:a="http://schemas.openxmlformats.org/drawingml/2006/main">
              <a:ext uri="{FF2B5EF4-FFF2-40B4-BE49-F238E27FC236}">
                <a16:creationId xmlns:a16="http://schemas.microsoft.com/office/drawing/2014/main" id="{61582DF8-BCB4-45E5-8C95-0BC8FC16B4A6}"/>
              </a:ext>
            </a:extLst>
          </p:cNvPr>
          <p:cNvSpPr>
            <a:spLocks xmlns:a="http://schemas.openxmlformats.org/drawingml/2006/main" noGrp="1"/>
          </p:cNvSpPr>
          <p:nvPr/>
        </p:nvSpPr>
        <p:spPr>
          <a:xfrm xmlns:a="http://schemas.openxmlformats.org/drawingml/2006/main">
            <a:off x="8458200" y="32004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6766D"/>
                </a:solidFill>
                <a:latin typeface="Calibri"/>
                <a:ea typeface="Calibri"/>
                <a:cs typeface="Calibri"/>
              </a:defRPr>
            </a:defPPr>
            <a:lvl1pPr>
              <a:defRPr sz="2025" b="1">
                <a:solidFill>
                  <a:srgbClr val="26766D"/>
                </a:solidFill>
                <a:latin typeface="Calibri"/>
                <a:ea typeface="Calibri"/>
                <a:cs typeface="Calibri"/>
              </a:defRPr>
            </a:lvl1pPr>
            <a:lvl2pPr>
              <a:defRPr sz="2025" b="1">
                <a:solidFill>
                  <a:srgbClr val="26766D"/>
                </a:solidFill>
                <a:latin typeface="Calibri"/>
                <a:ea typeface="Calibri"/>
                <a:cs typeface="Calibri"/>
              </a:defRPr>
            </a:lvl2pPr>
            <a:lvl3pPr>
              <a:defRPr sz="2025" b="1">
                <a:solidFill>
                  <a:srgbClr val="26766D"/>
                </a:solidFill>
                <a:latin typeface="Calibri"/>
                <a:ea typeface="Calibri"/>
                <a:cs typeface="Calibri"/>
              </a:defRPr>
            </a:lvl3pPr>
            <a:lvl4pPr>
              <a:defRPr sz="2025" b="1">
                <a:solidFill>
                  <a:srgbClr val="26766D"/>
                </a:solidFill>
                <a:latin typeface="Calibri"/>
                <a:ea typeface="Calibri"/>
                <a:cs typeface="Calibri"/>
              </a:defRPr>
            </a:lvl4pPr>
            <a:lvl5pPr>
              <a:defRPr sz="2025" b="1">
                <a:solidFill>
                  <a:srgbClr val="26766D"/>
                </a:solidFill>
                <a:latin typeface="Calibri"/>
                <a:ea typeface="Calibri"/>
                <a:cs typeface="Calibri"/>
              </a:defRPr>
            </a:lvl5pPr>
            <a:lvl6pPr>
              <a:defRPr sz="2025" b="1">
                <a:solidFill>
                  <a:srgbClr val="26766D"/>
                </a:solidFill>
                <a:latin typeface="Calibri"/>
                <a:ea typeface="Calibri"/>
                <a:cs typeface="Calibri"/>
              </a:defRPr>
            </a:lvl6pPr>
            <a:lvl7pPr>
              <a:defRPr sz="2025" b="1">
                <a:solidFill>
                  <a:srgbClr val="26766D"/>
                </a:solidFill>
                <a:latin typeface="Calibri"/>
                <a:ea typeface="Calibri"/>
                <a:cs typeface="Calibri"/>
              </a:defRPr>
            </a:lvl7pPr>
            <a:lvl8pPr>
              <a:defRPr sz="2025" b="1">
                <a:solidFill>
                  <a:srgbClr val="26766D"/>
                </a:solidFill>
                <a:latin typeface="Calibri"/>
                <a:ea typeface="Calibri"/>
                <a:cs typeface="Calibri"/>
              </a:defRPr>
            </a:lvl8pPr>
            <a:lvl9pPr>
              <a:defRPr sz="2025" b="1">
                <a:solidFill>
                  <a:srgbClr val="26766D"/>
                </a:solidFill>
                <a:latin typeface="Calibri"/>
                <a:ea typeface="Calibri"/>
                <a:cs typeface="Calibri"/>
              </a:defRPr>
            </a:lvl9pPr>
          </a:lstStyle>
          <a:p xmlns:a="http://schemas.openxmlformats.org/drawingml/2006/main">
            <a:pPr>
              <a:defRPr sz="2025" b="1">
                <a:solidFill>
                  <a:srgbClr val="26766D"/>
                </a:solidFill>
                <a:latin typeface="Calibri"/>
                <a:ea typeface="Calibri"/>
                <a:cs typeface="Calibri"/>
              </a:defRPr>
            </a:pPr>
            <a:r>
              <a:rPr sz="2025" b="1">
                <a:solidFill>
                  <a:srgbClr val="26766D"/>
                </a:solidFill>
                <a:latin typeface="Calibri"/>
                <a:ea typeface="Calibri"/>
                <a:cs typeface="Calibri"/>
              </a:rPr>
              <a:t>Warm p50 / p95</a:t>
            </a:r>
          </a:p>
        </p:txBody>
      </p:sp>
      <p:sp>
        <p:nvSpPr>
          <p:cNvPr id="9" name="ReasonKE 15.94 / 19.28 s&#10;Qwen 1.12 / 1.38 s">
            <a:extLst xmlns:a="http://schemas.openxmlformats.org/drawingml/2006/main">
              <a:ext uri="{FF2B5EF4-FFF2-40B4-BE49-F238E27FC236}">
                <a16:creationId xmlns:a16="http://schemas.microsoft.com/office/drawing/2014/main" id="{F1E76A63-6927-4483-9E12-03A42A97A05B}"/>
              </a:ext>
            </a:extLst>
          </p:cNvPr>
          <p:cNvSpPr>
            <a:spLocks xmlns:a="http://schemas.openxmlformats.org/drawingml/2006/main" noGrp="1"/>
          </p:cNvSpPr>
          <p:nvPr/>
        </p:nvSpPr>
        <p:spPr>
          <a:xfrm xmlns:a="http://schemas.openxmlformats.org/drawingml/2006/main">
            <a:off x="8458200" y="374332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ReasonKE 15.94 / 19.28 s</a:t>
            </a:r>
          </a:p>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Qwen 1.12 / 1.38 s</a:t>
            </a:r>
          </a:p>
        </p:txBody>
      </p:sp>
      <p:sp>
        <p:nvSpPr>
          <p:cNvPr id="10" name="Eight Qwen abstentions">
            <a:extLst xmlns:a="http://schemas.openxmlformats.org/drawingml/2006/main">
              <a:ext uri="{FF2B5EF4-FFF2-40B4-BE49-F238E27FC236}">
                <a16:creationId xmlns:a16="http://schemas.microsoft.com/office/drawing/2014/main" id="{98D9DB58-A5F7-426B-A650-087937EB9371}"/>
              </a:ext>
            </a:extLst>
          </p:cNvPr>
          <p:cNvSpPr>
            <a:spLocks xmlns:a="http://schemas.openxmlformats.org/drawingml/2006/main" noGrp="1"/>
          </p:cNvSpPr>
          <p:nvPr/>
        </p:nvSpPr>
        <p:spPr>
          <a:xfrm xmlns:a="http://schemas.openxmlformats.org/drawingml/2006/main">
            <a:off x="8458200" y="51244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Eight Qwen abstentions</a:t>
            </a:r>
          </a:p>
        </p:txBody>
      </p:sp>
      <p:sp>
        <p:nvSpPr>
          <p:cNvPr id="11" name="Main gain +3.125 pp, paired lineage 95% interval +1.56 ">
            <a:extLst xmlns:a="http://schemas.openxmlformats.org/drawingml/2006/main">
              <a:ext uri="{FF2B5EF4-FFF2-40B4-BE49-F238E27FC236}">
                <a16:creationId xmlns:a16="http://schemas.microsoft.com/office/drawing/2014/main" id="{A6A56B34-71DE-4ACF-83D7-B2E683ABCA8E}"/>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Main gain +3.125 pp, paired lineage 95% interval +1.56 to +5.08. Three hop interval includes zero.</a:t>
            </a:r>
          </a:p>
        </p:txBody>
      </p:sp>
    </p:spTree>
    <p:extLst>
      <p:ext uri="{BB962C8B-B14F-4D97-AF65-F5344CB8AC3E}">
        <p14:creationId xmlns:p14="http://schemas.microsoft.com/office/powerpoint/2010/main" val="213637169"/>
      </p:ext>
    </p:extLst>
  </p:cSld>
</p:sld>
</file>

<file path=ppt/slides/slide11.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Failure analysis and the meaning of 100%">
            <a:extLst xmlns:a="http://schemas.openxmlformats.org/drawingml/2006/main">
              <a:ext uri="{FF2B5EF4-FFF2-40B4-BE49-F238E27FC236}">
                <a16:creationId xmlns:a16="http://schemas.microsoft.com/office/drawing/2014/main" id="{CDCA5DB9-D638-49A3-85F8-3F652F18041E}"/>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Failure analysis and the meaning of 100%</a:t>
            </a:r>
          </a:p>
        </p:txBody>
      </p:sp>
      <p:sp>
        <p:nvSpPr>
          <p:cNvPr id="3" name="11">
            <a:extLst xmlns:a="http://schemas.openxmlformats.org/drawingml/2006/main">
              <a:ext uri="{FF2B5EF4-FFF2-40B4-BE49-F238E27FC236}">
                <a16:creationId xmlns:a16="http://schemas.microsoft.com/office/drawing/2014/main" id="{ADB2D7AC-1F9D-4627-AED7-8FF18D36B46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11</a:t>
            </a:r>
          </a:p>
        </p:txBody>
      </p:sp>
      <p:sp>
        <p:nvSpPr>
          <p:cNvPr id="4" name="Observed failure pattern">
            <a:extLst xmlns:a="http://schemas.openxmlformats.org/drawingml/2006/main">
              <a:ext uri="{FF2B5EF4-FFF2-40B4-BE49-F238E27FC236}">
                <a16:creationId xmlns:a16="http://schemas.microsoft.com/office/drawing/2014/main" id="{F6477F5A-6BC2-4A55-869D-0A51F91BCC91}"/>
              </a:ext>
            </a:extLst>
          </p:cNvPr>
          <p:cNvSpPr>
            <a:spLocks xmlns:a="http://schemas.openxmlformats.org/drawingml/2006/main" noGrp="1"/>
          </p:cNvSpPr>
          <p:nvPr/>
        </p:nvSpPr>
        <p:spPr>
          <a:xfrm xmlns:a="http://schemas.openxmlformats.org/drawingml/2006/main">
            <a:off x="647700" y="16859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6766D"/>
                </a:solidFill>
                <a:latin typeface="Calibri"/>
                <a:ea typeface="Calibri"/>
                <a:cs typeface="Calibri"/>
              </a:defRPr>
            </a:defPPr>
            <a:lvl1pPr>
              <a:defRPr sz="2400" b="1">
                <a:solidFill>
                  <a:srgbClr val="26766D"/>
                </a:solidFill>
                <a:latin typeface="Calibri"/>
                <a:ea typeface="Calibri"/>
                <a:cs typeface="Calibri"/>
              </a:defRPr>
            </a:lvl1pPr>
            <a:lvl2pPr>
              <a:defRPr sz="2400" b="1">
                <a:solidFill>
                  <a:srgbClr val="26766D"/>
                </a:solidFill>
                <a:latin typeface="Calibri"/>
                <a:ea typeface="Calibri"/>
                <a:cs typeface="Calibri"/>
              </a:defRPr>
            </a:lvl2pPr>
            <a:lvl3pPr>
              <a:defRPr sz="2400" b="1">
                <a:solidFill>
                  <a:srgbClr val="26766D"/>
                </a:solidFill>
                <a:latin typeface="Calibri"/>
                <a:ea typeface="Calibri"/>
                <a:cs typeface="Calibri"/>
              </a:defRPr>
            </a:lvl3pPr>
            <a:lvl4pPr>
              <a:defRPr sz="2400" b="1">
                <a:solidFill>
                  <a:srgbClr val="26766D"/>
                </a:solidFill>
                <a:latin typeface="Calibri"/>
                <a:ea typeface="Calibri"/>
                <a:cs typeface="Calibri"/>
              </a:defRPr>
            </a:lvl4pPr>
            <a:lvl5pPr>
              <a:defRPr sz="2400" b="1">
                <a:solidFill>
                  <a:srgbClr val="26766D"/>
                </a:solidFill>
                <a:latin typeface="Calibri"/>
                <a:ea typeface="Calibri"/>
                <a:cs typeface="Calibri"/>
              </a:defRPr>
            </a:lvl5pPr>
            <a:lvl6pPr>
              <a:defRPr sz="2400" b="1">
                <a:solidFill>
                  <a:srgbClr val="26766D"/>
                </a:solidFill>
                <a:latin typeface="Calibri"/>
                <a:ea typeface="Calibri"/>
                <a:cs typeface="Calibri"/>
              </a:defRPr>
            </a:lvl6pPr>
            <a:lvl7pPr>
              <a:defRPr sz="2400" b="1">
                <a:solidFill>
                  <a:srgbClr val="26766D"/>
                </a:solidFill>
                <a:latin typeface="Calibri"/>
                <a:ea typeface="Calibri"/>
                <a:cs typeface="Calibri"/>
              </a:defRPr>
            </a:lvl7pPr>
            <a:lvl8pPr>
              <a:defRPr sz="2400" b="1">
                <a:solidFill>
                  <a:srgbClr val="26766D"/>
                </a:solidFill>
                <a:latin typeface="Calibri"/>
                <a:ea typeface="Calibri"/>
                <a:cs typeface="Calibri"/>
              </a:defRPr>
            </a:lvl8pPr>
            <a:lvl9pPr>
              <a:defRPr sz="2400" b="1">
                <a:solidFill>
                  <a:srgbClr val="26766D"/>
                </a:solidFill>
                <a:latin typeface="Calibri"/>
                <a:ea typeface="Calibri"/>
                <a:cs typeface="Calibri"/>
              </a:defRPr>
            </a:lvl9pPr>
          </a:lstStyle>
          <a:p xmlns:a="http://schemas.openxmlformats.org/drawingml/2006/main">
            <a:pPr>
              <a:defRPr sz="2400" b="1">
                <a:solidFill>
                  <a:srgbClr val="26766D"/>
                </a:solidFill>
                <a:latin typeface="Calibri"/>
                <a:ea typeface="Calibri"/>
                <a:cs typeface="Calibri"/>
              </a:defRPr>
            </a:pPr>
            <a:r>
              <a:rPr sz="2400" b="1">
                <a:solidFill>
                  <a:srgbClr val="26766D"/>
                </a:solidFill>
                <a:latin typeface="Calibri"/>
                <a:ea typeface="Calibri"/>
                <a:cs typeface="Calibri"/>
              </a:rPr>
              <a:t>Observed failure pattern</a:t>
            </a:r>
          </a:p>
        </p:txBody>
      </p:sp>
      <p:sp>
        <p:nvSpPr>
          <p:cNvPr id="5" name="Seven Qwen two hop abstentions share one direct wording">
            <a:extLst xmlns:a="http://schemas.openxmlformats.org/drawingml/2006/main">
              <a:ext uri="{FF2B5EF4-FFF2-40B4-BE49-F238E27FC236}">
                <a16:creationId xmlns:a16="http://schemas.microsoft.com/office/drawing/2014/main" id="{7BB9DE97-89FA-4210-B167-86443986FF56}"/>
              </a:ext>
            </a:extLst>
          </p:cNvPr>
          <p:cNvSpPr>
            <a:spLocks xmlns:a="http://schemas.openxmlformats.org/drawingml/2006/main" noGrp="1"/>
          </p:cNvSpPr>
          <p:nvPr/>
        </p:nvSpPr>
        <p:spPr>
          <a:xfrm xmlns:a="http://schemas.openxmlformats.org/drawingml/2006/main">
            <a:off x="647700" y="2247900"/>
            <a:ext cx="10715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Seven Qwen two hop abstentions share one direct wording template.</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Required supporting facts were present in all eight depth abstentions.</a:t>
            </a:r>
          </a:p>
        </p:txBody>
      </p:sp>
      <p:sp>
        <p:nvSpPr>
          <p:cNvPr id="6" name="Perfect scores have a bounded population">
            <a:extLst xmlns:a="http://schemas.openxmlformats.org/drawingml/2006/main">
              <a:ext uri="{FF2B5EF4-FFF2-40B4-BE49-F238E27FC236}">
                <a16:creationId xmlns:a16="http://schemas.microsoft.com/office/drawing/2014/main" id="{70B98209-3465-4FE5-8220-E7FF289BA386}"/>
              </a:ext>
            </a:extLst>
          </p:cNvPr>
          <p:cNvSpPr>
            <a:spLocks xmlns:a="http://schemas.openxmlformats.org/drawingml/2006/main" noGrp="1"/>
          </p:cNvSpPr>
          <p:nvPr/>
        </p:nvSpPr>
        <p:spPr>
          <a:xfrm xmlns:a="http://schemas.openxmlformats.org/drawingml/2006/main">
            <a:off x="647700" y="3648075"/>
            <a:ext cx="1071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52B2B"/>
                </a:solidFill>
                <a:latin typeface="Calibri"/>
                <a:ea typeface="Calibri"/>
                <a:cs typeface="Calibri"/>
              </a:defRPr>
            </a:defPPr>
            <a:lvl1pPr>
              <a:defRPr sz="2400" b="1">
                <a:solidFill>
                  <a:srgbClr val="152B2B"/>
                </a:solidFill>
                <a:latin typeface="Calibri"/>
                <a:ea typeface="Calibri"/>
                <a:cs typeface="Calibri"/>
              </a:defRPr>
            </a:lvl1pPr>
            <a:lvl2pPr>
              <a:defRPr sz="2400" b="1">
                <a:solidFill>
                  <a:srgbClr val="152B2B"/>
                </a:solidFill>
                <a:latin typeface="Calibri"/>
                <a:ea typeface="Calibri"/>
                <a:cs typeface="Calibri"/>
              </a:defRPr>
            </a:lvl2pPr>
            <a:lvl3pPr>
              <a:defRPr sz="2400" b="1">
                <a:solidFill>
                  <a:srgbClr val="152B2B"/>
                </a:solidFill>
                <a:latin typeface="Calibri"/>
                <a:ea typeface="Calibri"/>
                <a:cs typeface="Calibri"/>
              </a:defRPr>
            </a:lvl3pPr>
            <a:lvl4pPr>
              <a:defRPr sz="2400" b="1">
                <a:solidFill>
                  <a:srgbClr val="152B2B"/>
                </a:solidFill>
                <a:latin typeface="Calibri"/>
                <a:ea typeface="Calibri"/>
                <a:cs typeface="Calibri"/>
              </a:defRPr>
            </a:lvl4pPr>
            <a:lvl5pPr>
              <a:defRPr sz="2400" b="1">
                <a:solidFill>
                  <a:srgbClr val="152B2B"/>
                </a:solidFill>
                <a:latin typeface="Calibri"/>
                <a:ea typeface="Calibri"/>
                <a:cs typeface="Calibri"/>
              </a:defRPr>
            </a:lvl5pPr>
            <a:lvl6pPr>
              <a:defRPr sz="2400" b="1">
                <a:solidFill>
                  <a:srgbClr val="152B2B"/>
                </a:solidFill>
                <a:latin typeface="Calibri"/>
                <a:ea typeface="Calibri"/>
                <a:cs typeface="Calibri"/>
              </a:defRPr>
            </a:lvl6pPr>
            <a:lvl7pPr>
              <a:defRPr sz="2400" b="1">
                <a:solidFill>
                  <a:srgbClr val="152B2B"/>
                </a:solidFill>
                <a:latin typeface="Calibri"/>
                <a:ea typeface="Calibri"/>
                <a:cs typeface="Calibri"/>
              </a:defRPr>
            </a:lvl7pPr>
            <a:lvl8pPr>
              <a:defRPr sz="2400" b="1">
                <a:solidFill>
                  <a:srgbClr val="152B2B"/>
                </a:solidFill>
                <a:latin typeface="Calibri"/>
                <a:ea typeface="Calibri"/>
                <a:cs typeface="Calibri"/>
              </a:defRPr>
            </a:lvl8pPr>
            <a:lvl9pPr>
              <a:defRPr sz="2400" b="1">
                <a:solidFill>
                  <a:srgbClr val="152B2B"/>
                </a:solidFill>
                <a:latin typeface="Calibri"/>
                <a:ea typeface="Calibri"/>
                <a:cs typeface="Calibri"/>
              </a:defRPr>
            </a:lvl9pPr>
          </a:lstStyle>
          <a:p xmlns:a="http://schemas.openxmlformats.org/drawingml/2006/main">
            <a:pPr>
              <a:defRPr sz="2400" b="1">
                <a:solidFill>
                  <a:srgbClr val="152B2B"/>
                </a:solidFill>
                <a:latin typeface="Calibri"/>
                <a:ea typeface="Calibri"/>
                <a:cs typeface="Calibri"/>
              </a:defRPr>
            </a:pPr>
            <a:r>
              <a:rPr sz="2400" b="1">
                <a:solidFill>
                  <a:srgbClr val="152B2B"/>
                </a:solidFill>
                <a:latin typeface="Calibri"/>
                <a:ea typeface="Calibri"/>
                <a:cs typeface="Calibri"/>
              </a:rPr>
              <a:t>Perfect scores have a bounded population</a:t>
            </a:r>
          </a:p>
        </p:txBody>
      </p:sp>
      <p:sp>
        <p:nvSpPr>
          <p:cNvPr id="7" name="32 held out lineages per study, with eight correlated q">
            <a:extLst xmlns:a="http://schemas.openxmlformats.org/drawingml/2006/main">
              <a:ext uri="{FF2B5EF4-FFF2-40B4-BE49-F238E27FC236}">
                <a16:creationId xmlns:a16="http://schemas.microsoft.com/office/drawing/2014/main" id="{81E9C24F-C3FA-41E8-899F-3652B25DD62C}"/>
              </a:ext>
            </a:extLst>
          </p:cNvPr>
          <p:cNvSpPr>
            <a:spLocks xmlns:a="http://schemas.openxmlformats.org/drawingml/2006/main" noGrp="1"/>
          </p:cNvSpPr>
          <p:nvPr/>
        </p:nvSpPr>
        <p:spPr>
          <a:xfrm xmlns:a="http://schemas.openxmlformats.org/drawingml/2006/main">
            <a:off x="647700" y="4200525"/>
            <a:ext cx="10715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26464"/>
                </a:solidFill>
                <a:latin typeface="Calibri"/>
                <a:ea typeface="Calibri"/>
                <a:cs typeface="Calibri"/>
              </a:defRPr>
            </a:defPPr>
            <a:lvl1pPr>
              <a:defRPr sz="2025" b="0">
                <a:solidFill>
                  <a:srgbClr val="526464"/>
                </a:solidFill>
                <a:latin typeface="Calibri"/>
                <a:ea typeface="Calibri"/>
                <a:cs typeface="Calibri"/>
              </a:defRPr>
            </a:lvl1pPr>
            <a:lvl2pPr>
              <a:defRPr sz="2025" b="0">
                <a:solidFill>
                  <a:srgbClr val="526464"/>
                </a:solidFill>
                <a:latin typeface="Calibri"/>
                <a:ea typeface="Calibri"/>
                <a:cs typeface="Calibri"/>
              </a:defRPr>
            </a:lvl2pPr>
            <a:lvl3pPr>
              <a:defRPr sz="2025" b="0">
                <a:solidFill>
                  <a:srgbClr val="526464"/>
                </a:solidFill>
                <a:latin typeface="Calibri"/>
                <a:ea typeface="Calibri"/>
                <a:cs typeface="Calibri"/>
              </a:defRPr>
            </a:lvl3pPr>
            <a:lvl4pPr>
              <a:defRPr sz="2025" b="0">
                <a:solidFill>
                  <a:srgbClr val="526464"/>
                </a:solidFill>
                <a:latin typeface="Calibri"/>
                <a:ea typeface="Calibri"/>
                <a:cs typeface="Calibri"/>
              </a:defRPr>
            </a:lvl4pPr>
            <a:lvl5pPr>
              <a:defRPr sz="2025" b="0">
                <a:solidFill>
                  <a:srgbClr val="526464"/>
                </a:solidFill>
                <a:latin typeface="Calibri"/>
                <a:ea typeface="Calibri"/>
                <a:cs typeface="Calibri"/>
              </a:defRPr>
            </a:lvl5pPr>
            <a:lvl6pPr>
              <a:defRPr sz="2025" b="0">
                <a:solidFill>
                  <a:srgbClr val="526464"/>
                </a:solidFill>
                <a:latin typeface="Calibri"/>
                <a:ea typeface="Calibri"/>
                <a:cs typeface="Calibri"/>
              </a:defRPr>
            </a:lvl6pPr>
            <a:lvl7pPr>
              <a:defRPr sz="2025" b="0">
                <a:solidFill>
                  <a:srgbClr val="526464"/>
                </a:solidFill>
                <a:latin typeface="Calibri"/>
                <a:ea typeface="Calibri"/>
                <a:cs typeface="Calibri"/>
              </a:defRPr>
            </a:lvl7pPr>
            <a:lvl8pPr>
              <a:defRPr sz="2025" b="0">
                <a:solidFill>
                  <a:srgbClr val="526464"/>
                </a:solidFill>
                <a:latin typeface="Calibri"/>
                <a:ea typeface="Calibri"/>
                <a:cs typeface="Calibri"/>
              </a:defRPr>
            </a:lvl8pPr>
            <a:lvl9pPr>
              <a:defRPr sz="2025" b="0">
                <a:solidFill>
                  <a:srgbClr val="526464"/>
                </a:solidFill>
                <a:latin typeface="Calibri"/>
                <a:ea typeface="Calibri"/>
                <a:cs typeface="Calibri"/>
              </a:defRPr>
            </a:lvl9pPr>
          </a:lstStyle>
          <a:p xmlns:a="http://schemas.openxmlformats.org/drawingml/2006/main">
            <a:pPr>
              <a:defRPr sz="2025" b="0">
                <a:solidFill>
                  <a:srgbClr val="526464"/>
                </a:solidFill>
                <a:latin typeface="Calibri"/>
                <a:ea typeface="Calibri"/>
                <a:cs typeface="Calibri"/>
              </a:defRPr>
            </a:pPr>
            <a:r>
              <a:rPr sz="2025" b="0">
                <a:solidFill>
                  <a:srgbClr val="526464"/>
                </a:solidFill>
                <a:latin typeface="Calibri"/>
                <a:ea typeface="Calibri"/>
                <a:cs typeface="Calibri"/>
              </a:rPr>
              <a:t>32 held out lineages per study, with eight correlated question variants.</a:t>
            </a:r>
          </a:p>
          <a:p xmlns:a="http://schemas.openxmlformats.org/drawingml/2006/main">
            <a:pPr>
              <a:defRPr sz="2025" b="0">
                <a:solidFill>
                  <a:srgbClr val="526464"/>
                </a:solidFill>
                <a:latin typeface="Calibri"/>
                <a:ea typeface="Calibri"/>
                <a:cs typeface="Calibri"/>
              </a:defRPr>
            </a:pPr>
            <a:r>
              <a:rPr sz="2025" b="0">
                <a:solidFill>
                  <a:srgbClr val="526464"/>
                </a:solidFill>
                <a:latin typeface="Calibri"/>
                <a:ea typeface="Calibri"/>
                <a:cs typeface="Calibri"/>
              </a:rPr>
              <a:t>Small fact worlds and repeated templates with complete retrieved support.</a:t>
            </a:r>
          </a:p>
          <a:p xmlns:a="http://schemas.openxmlformats.org/drawingml/2006/main">
            <a:pPr>
              <a:defRPr sz="2025" b="0">
                <a:solidFill>
                  <a:srgbClr val="526464"/>
                </a:solidFill>
                <a:latin typeface="Calibri"/>
                <a:ea typeface="Calibri"/>
                <a:cs typeface="Calibri"/>
              </a:defRPr>
            </a:pPr>
            <a:r>
              <a:rPr sz="2025" b="0">
                <a:solidFill>
                  <a:srgbClr val="526464"/>
                </a:solidFill>
                <a:latin typeface="Calibri"/>
                <a:ea typeface="Calibri"/>
                <a:cs typeface="Calibri"/>
              </a:rPr>
              <a:t>Automated labels and no independent human semantic review.</a:t>
            </a:r>
          </a:p>
        </p:txBody>
      </p:sp>
      <p:sp>
        <p:nvSpPr>
          <p:cNvPr id="8" name="Exact final answers do not prove explanation faithfulne">
            <a:extLst xmlns:a="http://schemas.openxmlformats.org/drawingml/2006/main">
              <a:ext uri="{FF2B5EF4-FFF2-40B4-BE49-F238E27FC236}">
                <a16:creationId xmlns:a16="http://schemas.microsoft.com/office/drawing/2014/main" id="{D3428FFE-3F6B-4E68-B362-0DF8FA5F35E2}"/>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Exact final answers do not prove explanation faithfulness or unrestricted conversation accuracy.</a:t>
            </a:r>
          </a:p>
        </p:txBody>
      </p:sp>
    </p:spTree>
    <p:extLst>
      <p:ext uri="{BB962C8B-B14F-4D97-AF65-F5344CB8AC3E}">
        <p14:creationId xmlns:p14="http://schemas.microsoft.com/office/powerpoint/2010/main" val="706635076"/>
      </p:ext>
    </p:extLst>
  </p:cSld>
</p:sld>
</file>

<file path=ppt/slides/slide1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Application acceptance and project contribution">
            <a:extLst xmlns:a="http://schemas.openxmlformats.org/drawingml/2006/main">
              <a:ext uri="{FF2B5EF4-FFF2-40B4-BE49-F238E27FC236}">
                <a16:creationId xmlns:a16="http://schemas.microsoft.com/office/drawing/2014/main" id="{156027AF-B0BE-46E7-8885-20A0E18F4C14}"/>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Application acceptance and project contribution</a:t>
            </a:r>
          </a:p>
        </p:txBody>
      </p:sp>
      <p:sp>
        <p:nvSpPr>
          <p:cNvPr id="3" name="12">
            <a:extLst xmlns:a="http://schemas.openxmlformats.org/drawingml/2006/main">
              <a:ext uri="{FF2B5EF4-FFF2-40B4-BE49-F238E27FC236}">
                <a16:creationId xmlns:a16="http://schemas.microsoft.com/office/drawing/2014/main" id="{4CED5376-487C-4736-82AC-421ECCBFB6A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12</a:t>
            </a:r>
          </a:p>
        </p:txBody>
      </p:sp>
      <p:sp>
        <p:nvSpPr>
          <p:cNvPr id="4" name="Measured correction workflow">
            <a:extLst xmlns:a="http://schemas.openxmlformats.org/drawingml/2006/main">
              <a:ext uri="{FF2B5EF4-FFF2-40B4-BE49-F238E27FC236}">
                <a16:creationId xmlns:a16="http://schemas.microsoft.com/office/drawing/2014/main" id="{F2E3C281-240B-46AD-BACD-E349906EE631}"/>
              </a:ext>
            </a:extLst>
          </p:cNvPr>
          <p:cNvSpPr>
            <a:spLocks xmlns:a="http://schemas.openxmlformats.org/drawingml/2006/main" noGrp="1"/>
          </p:cNvSpPr>
          <p:nvPr/>
        </p:nvSpPr>
        <p:spPr>
          <a:xfrm xmlns:a="http://schemas.openxmlformats.org/drawingml/2006/main">
            <a:off x="647700" y="16954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26766D"/>
                </a:solidFill>
                <a:latin typeface="Calibri"/>
                <a:ea typeface="Calibri"/>
                <a:cs typeface="Calibri"/>
              </a:defRPr>
            </a:defPPr>
            <a:lvl1pPr>
              <a:defRPr sz="2475" b="1">
                <a:solidFill>
                  <a:srgbClr val="26766D"/>
                </a:solidFill>
                <a:latin typeface="Calibri"/>
                <a:ea typeface="Calibri"/>
                <a:cs typeface="Calibri"/>
              </a:defRPr>
            </a:lvl1pPr>
            <a:lvl2pPr>
              <a:defRPr sz="2475" b="1">
                <a:solidFill>
                  <a:srgbClr val="26766D"/>
                </a:solidFill>
                <a:latin typeface="Calibri"/>
                <a:ea typeface="Calibri"/>
                <a:cs typeface="Calibri"/>
              </a:defRPr>
            </a:lvl2pPr>
            <a:lvl3pPr>
              <a:defRPr sz="2475" b="1">
                <a:solidFill>
                  <a:srgbClr val="26766D"/>
                </a:solidFill>
                <a:latin typeface="Calibri"/>
                <a:ea typeface="Calibri"/>
                <a:cs typeface="Calibri"/>
              </a:defRPr>
            </a:lvl3pPr>
            <a:lvl4pPr>
              <a:defRPr sz="2475" b="1">
                <a:solidFill>
                  <a:srgbClr val="26766D"/>
                </a:solidFill>
                <a:latin typeface="Calibri"/>
                <a:ea typeface="Calibri"/>
                <a:cs typeface="Calibri"/>
              </a:defRPr>
            </a:lvl4pPr>
            <a:lvl5pPr>
              <a:defRPr sz="2475" b="1">
                <a:solidFill>
                  <a:srgbClr val="26766D"/>
                </a:solidFill>
                <a:latin typeface="Calibri"/>
                <a:ea typeface="Calibri"/>
                <a:cs typeface="Calibri"/>
              </a:defRPr>
            </a:lvl5pPr>
            <a:lvl6pPr>
              <a:defRPr sz="2475" b="1">
                <a:solidFill>
                  <a:srgbClr val="26766D"/>
                </a:solidFill>
                <a:latin typeface="Calibri"/>
                <a:ea typeface="Calibri"/>
                <a:cs typeface="Calibri"/>
              </a:defRPr>
            </a:lvl6pPr>
            <a:lvl7pPr>
              <a:defRPr sz="2475" b="1">
                <a:solidFill>
                  <a:srgbClr val="26766D"/>
                </a:solidFill>
                <a:latin typeface="Calibri"/>
                <a:ea typeface="Calibri"/>
                <a:cs typeface="Calibri"/>
              </a:defRPr>
            </a:lvl7pPr>
            <a:lvl8pPr>
              <a:defRPr sz="2475" b="1">
                <a:solidFill>
                  <a:srgbClr val="26766D"/>
                </a:solidFill>
                <a:latin typeface="Calibri"/>
                <a:ea typeface="Calibri"/>
                <a:cs typeface="Calibri"/>
              </a:defRPr>
            </a:lvl8pPr>
            <a:lvl9pPr>
              <a:defRPr sz="2475" b="1">
                <a:solidFill>
                  <a:srgbClr val="26766D"/>
                </a:solidFill>
                <a:latin typeface="Calibri"/>
                <a:ea typeface="Calibri"/>
                <a:cs typeface="Calibri"/>
              </a:defRPr>
            </a:lvl9pPr>
          </a:lstStyle>
          <a:p xmlns:a="http://schemas.openxmlformats.org/drawingml/2006/main">
            <a:pPr>
              <a:defRPr sz="2475" b="1">
                <a:solidFill>
                  <a:srgbClr val="26766D"/>
                </a:solidFill>
                <a:latin typeface="Calibri"/>
                <a:ea typeface="Calibri"/>
                <a:cs typeface="Calibri"/>
              </a:defRPr>
            </a:pPr>
            <a:r>
              <a:rPr sz="2475" b="1">
                <a:solidFill>
                  <a:srgbClr val="26766D"/>
                </a:solidFill>
                <a:latin typeface="Calibri"/>
                <a:ea typeface="Calibri"/>
                <a:cs typeface="Calibri"/>
              </a:rPr>
              <a:t>Measured correction workflow</a:t>
            </a:r>
          </a:p>
        </p:txBody>
      </p:sp>
      <p:sp>
        <p:nvSpPr>
          <p:cNvPr id="5" name="Initial memory r9. Ownership replacement r10. Atomic ro">
            <a:extLst xmlns:a="http://schemas.openxmlformats.org/drawingml/2006/main">
              <a:ext uri="{FF2B5EF4-FFF2-40B4-BE49-F238E27FC236}">
                <a16:creationId xmlns:a16="http://schemas.microsoft.com/office/drawing/2014/main" id="{4CC59A30-2621-4A86-9AAA-CCB6CACE52D3}"/>
              </a:ext>
            </a:extLst>
          </p:cNvPr>
          <p:cNvSpPr>
            <a:spLocks xmlns:a="http://schemas.openxmlformats.org/drawingml/2006/main" noGrp="1"/>
          </p:cNvSpPr>
          <p:nvPr/>
        </p:nvSpPr>
        <p:spPr>
          <a:xfrm xmlns:a="http://schemas.openxmlformats.org/drawingml/2006/main">
            <a:off x="647700" y="2314575"/>
            <a:ext cx="10715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2B2B"/>
                </a:solidFill>
                <a:latin typeface="Calibri"/>
                <a:ea typeface="Calibri"/>
                <a:cs typeface="Calibri"/>
              </a:defRPr>
            </a:defPPr>
            <a:lvl1pPr>
              <a:defRPr sz="2175" b="0">
                <a:solidFill>
                  <a:srgbClr val="152B2B"/>
                </a:solidFill>
                <a:latin typeface="Calibri"/>
                <a:ea typeface="Calibri"/>
                <a:cs typeface="Calibri"/>
              </a:defRPr>
            </a:lvl1pPr>
            <a:lvl2pPr>
              <a:defRPr sz="2175" b="0">
                <a:solidFill>
                  <a:srgbClr val="152B2B"/>
                </a:solidFill>
                <a:latin typeface="Calibri"/>
                <a:ea typeface="Calibri"/>
                <a:cs typeface="Calibri"/>
              </a:defRPr>
            </a:lvl2pPr>
            <a:lvl3pPr>
              <a:defRPr sz="2175" b="0">
                <a:solidFill>
                  <a:srgbClr val="152B2B"/>
                </a:solidFill>
                <a:latin typeface="Calibri"/>
                <a:ea typeface="Calibri"/>
                <a:cs typeface="Calibri"/>
              </a:defRPr>
            </a:lvl3pPr>
            <a:lvl4pPr>
              <a:defRPr sz="2175" b="0">
                <a:solidFill>
                  <a:srgbClr val="152B2B"/>
                </a:solidFill>
                <a:latin typeface="Calibri"/>
                <a:ea typeface="Calibri"/>
                <a:cs typeface="Calibri"/>
              </a:defRPr>
            </a:lvl4pPr>
            <a:lvl5pPr>
              <a:defRPr sz="2175" b="0">
                <a:solidFill>
                  <a:srgbClr val="152B2B"/>
                </a:solidFill>
                <a:latin typeface="Calibri"/>
                <a:ea typeface="Calibri"/>
                <a:cs typeface="Calibri"/>
              </a:defRPr>
            </a:lvl5pPr>
            <a:lvl6pPr>
              <a:defRPr sz="2175" b="0">
                <a:solidFill>
                  <a:srgbClr val="152B2B"/>
                </a:solidFill>
                <a:latin typeface="Calibri"/>
                <a:ea typeface="Calibri"/>
                <a:cs typeface="Calibri"/>
              </a:defRPr>
            </a:lvl6pPr>
            <a:lvl7pPr>
              <a:defRPr sz="2175" b="0">
                <a:solidFill>
                  <a:srgbClr val="152B2B"/>
                </a:solidFill>
                <a:latin typeface="Calibri"/>
                <a:ea typeface="Calibri"/>
                <a:cs typeface="Calibri"/>
              </a:defRPr>
            </a:lvl7pPr>
            <a:lvl8pPr>
              <a:defRPr sz="2175" b="0">
                <a:solidFill>
                  <a:srgbClr val="152B2B"/>
                </a:solidFill>
                <a:latin typeface="Calibri"/>
                <a:ea typeface="Calibri"/>
                <a:cs typeface="Calibri"/>
              </a:defRPr>
            </a:lvl8pPr>
            <a:lvl9pPr>
              <a:defRPr sz="2175" b="0">
                <a:solidFill>
                  <a:srgbClr val="152B2B"/>
                </a:solidFill>
                <a:latin typeface="Calibri"/>
                <a:ea typeface="Calibri"/>
                <a:cs typeface="Calibri"/>
              </a:defRPr>
            </a:lvl9pPr>
          </a:lstStyle>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Initial memory r9. Ownership replacement r10. Atomic rollback r11.</a:t>
            </a:r>
          </a:p>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14/14 actual model answers and 12 consistency checks passed.</a:t>
            </a:r>
          </a:p>
        </p:txBody>
      </p:sp>
      <p:sp>
        <p:nvSpPr>
          <p:cNvPr id="6" name="Engineering contribution">
            <a:extLst xmlns:a="http://schemas.openxmlformats.org/drawingml/2006/main">
              <a:ext uri="{FF2B5EF4-FFF2-40B4-BE49-F238E27FC236}">
                <a16:creationId xmlns:a16="http://schemas.microsoft.com/office/drawing/2014/main" id="{4B810821-5CE2-4E82-B28A-953AADA19C25}"/>
              </a:ext>
            </a:extLst>
          </p:cNvPr>
          <p:cNvSpPr>
            <a:spLocks xmlns:a="http://schemas.openxmlformats.org/drawingml/2006/main" noGrp="1"/>
          </p:cNvSpPr>
          <p:nvPr/>
        </p:nvSpPr>
        <p:spPr>
          <a:xfrm xmlns:a="http://schemas.openxmlformats.org/drawingml/2006/main">
            <a:off x="647700" y="37528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152B2B"/>
                </a:solidFill>
                <a:latin typeface="Calibri"/>
                <a:ea typeface="Calibri"/>
                <a:cs typeface="Calibri"/>
              </a:defRPr>
            </a:defPPr>
            <a:lvl1pPr>
              <a:defRPr sz="2475" b="1">
                <a:solidFill>
                  <a:srgbClr val="152B2B"/>
                </a:solidFill>
                <a:latin typeface="Calibri"/>
                <a:ea typeface="Calibri"/>
                <a:cs typeface="Calibri"/>
              </a:defRPr>
            </a:lvl1pPr>
            <a:lvl2pPr>
              <a:defRPr sz="2475" b="1">
                <a:solidFill>
                  <a:srgbClr val="152B2B"/>
                </a:solidFill>
                <a:latin typeface="Calibri"/>
                <a:ea typeface="Calibri"/>
                <a:cs typeface="Calibri"/>
              </a:defRPr>
            </a:lvl2pPr>
            <a:lvl3pPr>
              <a:defRPr sz="2475" b="1">
                <a:solidFill>
                  <a:srgbClr val="152B2B"/>
                </a:solidFill>
                <a:latin typeface="Calibri"/>
                <a:ea typeface="Calibri"/>
                <a:cs typeface="Calibri"/>
              </a:defRPr>
            </a:lvl3pPr>
            <a:lvl4pPr>
              <a:defRPr sz="2475" b="1">
                <a:solidFill>
                  <a:srgbClr val="152B2B"/>
                </a:solidFill>
                <a:latin typeface="Calibri"/>
                <a:ea typeface="Calibri"/>
                <a:cs typeface="Calibri"/>
              </a:defRPr>
            </a:lvl4pPr>
            <a:lvl5pPr>
              <a:defRPr sz="2475" b="1">
                <a:solidFill>
                  <a:srgbClr val="152B2B"/>
                </a:solidFill>
                <a:latin typeface="Calibri"/>
                <a:ea typeface="Calibri"/>
                <a:cs typeface="Calibri"/>
              </a:defRPr>
            </a:lvl5pPr>
            <a:lvl6pPr>
              <a:defRPr sz="2475" b="1">
                <a:solidFill>
                  <a:srgbClr val="152B2B"/>
                </a:solidFill>
                <a:latin typeface="Calibri"/>
                <a:ea typeface="Calibri"/>
                <a:cs typeface="Calibri"/>
              </a:defRPr>
            </a:lvl6pPr>
            <a:lvl7pPr>
              <a:defRPr sz="2475" b="1">
                <a:solidFill>
                  <a:srgbClr val="152B2B"/>
                </a:solidFill>
                <a:latin typeface="Calibri"/>
                <a:ea typeface="Calibri"/>
                <a:cs typeface="Calibri"/>
              </a:defRPr>
            </a:lvl7pPr>
            <a:lvl8pPr>
              <a:defRPr sz="2475" b="1">
                <a:solidFill>
                  <a:srgbClr val="152B2B"/>
                </a:solidFill>
                <a:latin typeface="Calibri"/>
                <a:ea typeface="Calibri"/>
                <a:cs typeface="Calibri"/>
              </a:defRPr>
            </a:lvl8pPr>
            <a:lvl9pPr>
              <a:defRPr sz="2475" b="1">
                <a:solidFill>
                  <a:srgbClr val="152B2B"/>
                </a:solidFill>
                <a:latin typeface="Calibri"/>
                <a:ea typeface="Calibri"/>
                <a:cs typeface="Calibri"/>
              </a:defRPr>
            </a:lvl9pPr>
          </a:lstStyle>
          <a:p xmlns:a="http://schemas.openxmlformats.org/drawingml/2006/main">
            <a:pPr>
              <a:defRPr sz="2475" b="1">
                <a:solidFill>
                  <a:srgbClr val="152B2B"/>
                </a:solidFill>
                <a:latin typeface="Calibri"/>
                <a:ea typeface="Calibri"/>
                <a:cs typeface="Calibri"/>
              </a:defRPr>
            </a:pPr>
            <a:r>
              <a:rPr sz="2475" b="1">
                <a:solidFill>
                  <a:srgbClr val="152B2B"/>
                </a:solidFill>
                <a:latin typeface="Calibri"/>
                <a:ea typeface="Calibri"/>
                <a:cs typeface="Calibri"/>
              </a:rPr>
              <a:t>Engineering contribution</a:t>
            </a:r>
          </a:p>
        </p:txBody>
      </p:sp>
      <p:sp>
        <p:nvSpPr>
          <p:cNvPr id="7" name="Versioned memory and history, context selection adaptat">
            <a:extLst xmlns:a="http://schemas.openxmlformats.org/drawingml/2006/main">
              <a:ext uri="{FF2B5EF4-FFF2-40B4-BE49-F238E27FC236}">
                <a16:creationId xmlns:a16="http://schemas.microsoft.com/office/drawing/2014/main" id="{D7DAC7CA-71D9-4F04-BEF1-831202414276}"/>
              </a:ext>
            </a:extLst>
          </p:cNvPr>
          <p:cNvSpPr>
            <a:spLocks xmlns:a="http://schemas.openxmlformats.org/drawingml/2006/main" noGrp="1"/>
          </p:cNvSpPr>
          <p:nvPr/>
        </p:nvSpPr>
        <p:spPr>
          <a:xfrm xmlns:a="http://schemas.openxmlformats.org/drawingml/2006/main">
            <a:off x="647700" y="4333875"/>
            <a:ext cx="1071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Versioned memory and history, context selection adaptations, independent data,</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finite matched evaluation, raw output audits and an inspectable application.</a:t>
            </a:r>
          </a:p>
        </p:txBody>
      </p:sp>
      <p:sp>
        <p:nvSpPr>
          <p:cNvPr id="8" name="One fictional display lineage, separate from held out a">
            <a:extLst xmlns:a="http://schemas.openxmlformats.org/drawingml/2006/main">
              <a:ext uri="{FF2B5EF4-FFF2-40B4-BE49-F238E27FC236}">
                <a16:creationId xmlns:a16="http://schemas.microsoft.com/office/drawing/2014/main" id="{C7BBCE78-ADAF-48D6-AE66-303E5D3CB172}"/>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One fictional display lineage, separate from held out accuracy. Training and the model method belong upstream.</a:t>
            </a:r>
          </a:p>
        </p:txBody>
      </p:sp>
    </p:spTree>
    <p:extLst>
      <p:ext uri="{BB962C8B-B14F-4D97-AF65-F5344CB8AC3E}">
        <p14:creationId xmlns:p14="http://schemas.microsoft.com/office/powerpoint/2010/main" val="7484183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2026-10-30T05:59:20.5910000Z</dcterms:created>
  <dcterms:modified xsi:type="dcterms:W3CDTF">2026-10-30T05:59:20.5910000Z</dcterms:modified>
</coreProperties>
</file>