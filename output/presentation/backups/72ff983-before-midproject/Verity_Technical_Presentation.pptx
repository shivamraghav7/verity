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c57590cc1e4d3c" /><Relationship Type="http://schemas.openxmlformats.org/officeDocument/2006/relationships/extended-properties" Target="/docProps/app.xml" Id="R6ad9e69bae304d4d" /><Relationship Type="http://schemas.openxmlformats.org/officeDocument/2006/relationships/officeDocument" Target="/ppt/presentation.xml" Id="Ra0e0d5aa9ff44bbf" /></Relationships>
</file>

<file path=ppt/presentation.xml><?xml version="1.0" encoding="utf-8"?>
<p:presentation xmlns:p="http://schemas.openxmlformats.org/presentationml/2006/main">
  <p:sldMasterIdLst>
    <p:sldMasterId xmlns:r="http://schemas.openxmlformats.org/officeDocument/2006/relationships" id="2147483648" r:id="Re17a8ff3eba74c46"/>
  </p:sldMasterIdLst>
  <p:notesMasterIdLst>
    <p:notesMasterId xmlns:r="http://schemas.openxmlformats.org/officeDocument/2006/relationships" r:id="R2c1e9527460e402e"/>
  </p:notesMasterIdLst>
  <p:sldIdLst>
    <p:sldId xmlns:r="http://schemas.openxmlformats.org/officeDocument/2006/relationships" id="256" r:id="R2686cf7c87224175"/>
    <p:sldId xmlns:r="http://schemas.openxmlformats.org/officeDocument/2006/relationships" id="257" r:id="R98401b7bdddb479d"/>
    <p:sldId xmlns:r="http://schemas.openxmlformats.org/officeDocument/2006/relationships" id="258" r:id="R1db10ac56f3e4f3d"/>
    <p:sldId xmlns:r="http://schemas.openxmlformats.org/officeDocument/2006/relationships" id="259" r:id="R1ab63f17105c4044"/>
    <p:sldId xmlns:r="http://schemas.openxmlformats.org/officeDocument/2006/relationships" id="260" r:id="R0bc1e9f0aeb44cbc"/>
    <p:sldId xmlns:r="http://schemas.openxmlformats.org/officeDocument/2006/relationships" id="261" r:id="R72123efd7c3c4f19"/>
    <p:sldId xmlns:r="http://schemas.openxmlformats.org/officeDocument/2006/relationships" id="262" r:id="Rb746e520fc2e4b05"/>
    <p:sldId xmlns:r="http://schemas.openxmlformats.org/officeDocument/2006/relationships" id="263" r:id="Rc9f8c92538e741df"/>
    <p:sldId xmlns:r="http://schemas.openxmlformats.org/officeDocument/2006/relationships" id="264" r:id="Rc6d290f2eb1f4b82"/>
    <p:sldId xmlns:r="http://schemas.openxmlformats.org/officeDocument/2006/relationships" id="265" r:id="Rf2febd36df4b465b"/>
    <p:sldId xmlns:r="http://schemas.openxmlformats.org/officeDocument/2006/relationships" id="266" r:id="Rbf8497bf39324ccc"/>
    <p:sldId xmlns:r="http://schemas.openxmlformats.org/officeDocument/2006/relationships" id="267" r:id="R2e38a08f4fcc42b9"/>
    <p:sldId xmlns:r="http://schemas.openxmlformats.org/officeDocument/2006/relationships" id="268" r:id="Radf83ece13c5485f"/>
    <p:sldId xmlns:r="http://schemas.openxmlformats.org/officeDocument/2006/relationships" id="269" r:id="R06cfb1e6d81b422f"/>
    <p:sldId xmlns:r="http://schemas.openxmlformats.org/officeDocument/2006/relationships" id="270" r:id="Re06bcc39197f4b8c"/>
    <p:sldId xmlns:r="http://schemas.openxmlformats.org/officeDocument/2006/relationships" id="271" r:id="Rb9afdfbbbecb4e22"/>
    <p:sldId xmlns:r="http://schemas.openxmlformats.org/officeDocument/2006/relationships" id="272" r:id="Raceafc354dea41c9"/>
    <p:sldId xmlns:r="http://schemas.openxmlformats.org/officeDocument/2006/relationships" id="273" r:id="R7432500ab0824307"/>
    <p:sldId xmlns:r="http://schemas.openxmlformats.org/officeDocument/2006/relationships" id="274" r:id="Rc593ba3725a04dd6"/>
    <p:sldId xmlns:r="http://schemas.openxmlformats.org/officeDocument/2006/relationships" id="275" r:id="R3086cbb8216a4e9e"/>
    <p:sldId xmlns:r="http://schemas.openxmlformats.org/officeDocument/2006/relationships" id="276" r:id="R33162b1107cb4536"/>
    <p:sldId xmlns:r="http://schemas.openxmlformats.org/officeDocument/2006/relationships" id="277" r:id="R1d064767593f4332"/>
    <p:sldId xmlns:r="http://schemas.openxmlformats.org/officeDocument/2006/relationships" id="278" r:id="Ra229eb295f2f466d"/>
    <p:sldId xmlns:r="http://schemas.openxmlformats.org/officeDocument/2006/relationships" id="279" r:id="R13764628cd2b4faa"/>
    <p:sldId xmlns:r="http://schemas.openxmlformats.org/officeDocument/2006/relationships" id="280" r:id="R284980e8c4d34bd5"/>
    <p:sldId xmlns:r="http://schemas.openxmlformats.org/officeDocument/2006/relationships" id="281" r:id="R052b90597f39487a"/>
    <p:sldId xmlns:r="http://schemas.openxmlformats.org/officeDocument/2006/relationships" id="282" r:id="R5ea73e0009424435"/>
    <p:sldId xmlns:r="http://schemas.openxmlformats.org/officeDocument/2006/relationships" id="283" r:id="R15199606a4fd4945"/>
    <p:sldId xmlns:r="http://schemas.openxmlformats.org/officeDocument/2006/relationships" id="284" r:id="R550c3b072a924811"/>
    <p:sldId xmlns:r="http://schemas.openxmlformats.org/officeDocument/2006/relationships" id="285" r:id="R2c8dcabcb0694515"/>
    <p:sldId xmlns:r="http://schemas.openxmlformats.org/officeDocument/2006/relationships" id="286" r:id="Rdf6ed72c56b64c20"/>
    <p:sldId xmlns:r="http://schemas.openxmlformats.org/officeDocument/2006/relationships" id="287" r:id="R7ae3f58b4d7a4e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e13640a8c74a0c" /><Relationship Type="http://schemas.openxmlformats.org/officeDocument/2006/relationships/slideMaster" Target="/ppt/slideMasters/slideMaster1.xml" Id="Re17a8ff3eba74c46" /><Relationship Type="http://schemas.openxmlformats.org/officeDocument/2006/relationships/notesMaster" Target="/ppt/notesMasters/notesMaster1.xml" Id="R2c1e9527460e402e" /><Relationship Type="http://schemas.openxmlformats.org/officeDocument/2006/relationships/presProps" Target="/ppt/presProps.xml" Id="R448f9a1723374f47" /><Relationship Type="http://schemas.openxmlformats.org/officeDocument/2006/relationships/tableStyles" Target="/ppt/tableStyles.xml" Id="Re24c71dd59af4de6" /><Relationship Type="http://schemas.openxmlformats.org/officeDocument/2006/relationships/slide" Target="/ppt/slides/slide1.xml" Id="R2686cf7c87224175" /><Relationship Type="http://schemas.openxmlformats.org/officeDocument/2006/relationships/slide" Target="/ppt/slides/slide2.xml" Id="R98401b7bdddb479d" /><Relationship Type="http://schemas.openxmlformats.org/officeDocument/2006/relationships/slide" Target="/ppt/slides/slide3.xml" Id="R1db10ac56f3e4f3d" /><Relationship Type="http://schemas.openxmlformats.org/officeDocument/2006/relationships/slide" Target="/ppt/slides/slide4.xml" Id="R1ab63f17105c4044" /><Relationship Type="http://schemas.openxmlformats.org/officeDocument/2006/relationships/slide" Target="/ppt/slides/slide5.xml" Id="R0bc1e9f0aeb44cbc" /><Relationship Type="http://schemas.openxmlformats.org/officeDocument/2006/relationships/slide" Target="/ppt/slides/slide6.xml" Id="R72123efd7c3c4f19" /><Relationship Type="http://schemas.openxmlformats.org/officeDocument/2006/relationships/slide" Target="/ppt/slides/slide7.xml" Id="Rb746e520fc2e4b05" /><Relationship Type="http://schemas.openxmlformats.org/officeDocument/2006/relationships/slide" Target="/ppt/slides/slide8.xml" Id="Rc9f8c92538e741df" /><Relationship Type="http://schemas.openxmlformats.org/officeDocument/2006/relationships/slide" Target="/ppt/slides/slide9.xml" Id="Rc6d290f2eb1f4b82" /><Relationship Type="http://schemas.openxmlformats.org/officeDocument/2006/relationships/slide" Target="/ppt/slides/slide10.xml" Id="Rf2febd36df4b465b" /><Relationship Type="http://schemas.openxmlformats.org/officeDocument/2006/relationships/slide" Target="/ppt/slides/slide11.xml" Id="Rbf8497bf39324ccc" /><Relationship Type="http://schemas.openxmlformats.org/officeDocument/2006/relationships/slide" Target="/ppt/slides/slide12.xml" Id="R2e38a08f4fcc42b9" /><Relationship Type="http://schemas.openxmlformats.org/officeDocument/2006/relationships/slide" Target="/ppt/slides/slide13.xml" Id="Radf83ece13c5485f" /><Relationship Type="http://schemas.openxmlformats.org/officeDocument/2006/relationships/slide" Target="/ppt/slides/slide14.xml" Id="R06cfb1e6d81b422f" /><Relationship Type="http://schemas.openxmlformats.org/officeDocument/2006/relationships/slide" Target="/ppt/slides/slide15.xml" Id="Re06bcc39197f4b8c" /><Relationship Type="http://schemas.openxmlformats.org/officeDocument/2006/relationships/slide" Target="/ppt/slides/slide16.xml" Id="Rb9afdfbbbecb4e22" /><Relationship Type="http://schemas.openxmlformats.org/officeDocument/2006/relationships/slide" Target="/ppt/slides/slide17.xml" Id="Raceafc354dea41c9" /><Relationship Type="http://schemas.openxmlformats.org/officeDocument/2006/relationships/slide" Target="/ppt/slides/slide18.xml" Id="R7432500ab0824307" /><Relationship Type="http://schemas.openxmlformats.org/officeDocument/2006/relationships/slide" Target="/ppt/slides/slide19.xml" Id="Rc593ba3725a04dd6" /><Relationship Type="http://schemas.openxmlformats.org/officeDocument/2006/relationships/slide" Target="/ppt/slides/slide20.xml" Id="R3086cbb8216a4e9e" /><Relationship Type="http://schemas.openxmlformats.org/officeDocument/2006/relationships/slide" Target="/ppt/slides/slide21.xml" Id="R33162b1107cb4536" /><Relationship Type="http://schemas.openxmlformats.org/officeDocument/2006/relationships/slide" Target="/ppt/slides/slide22.xml" Id="R1d064767593f4332" /><Relationship Type="http://schemas.openxmlformats.org/officeDocument/2006/relationships/slide" Target="/ppt/slides/slide23.xml" Id="Ra229eb295f2f466d" /><Relationship Type="http://schemas.openxmlformats.org/officeDocument/2006/relationships/slide" Target="/ppt/slides/slide24.xml" Id="R13764628cd2b4faa" /><Relationship Type="http://schemas.openxmlformats.org/officeDocument/2006/relationships/slide" Target="/ppt/slides/slide25.xml" Id="R284980e8c4d34bd5" /><Relationship Type="http://schemas.openxmlformats.org/officeDocument/2006/relationships/slide" Target="/ppt/slides/slide26.xml" Id="R052b90597f39487a" /><Relationship Type="http://schemas.openxmlformats.org/officeDocument/2006/relationships/slide" Target="/ppt/slides/slide27.xml" Id="R5ea73e0009424435" /><Relationship Type="http://schemas.openxmlformats.org/officeDocument/2006/relationships/slide" Target="/ppt/slides/slide28.xml" Id="R15199606a4fd4945" /><Relationship Type="http://schemas.openxmlformats.org/officeDocument/2006/relationships/slide" Target="/ppt/slides/slide29.xml" Id="R550c3b072a924811" /><Relationship Type="http://schemas.openxmlformats.org/officeDocument/2006/relationships/slide" Target="/ppt/slides/slide30.xml" Id="R2c8dcabcb0694515" /><Relationship Type="http://schemas.openxmlformats.org/officeDocument/2006/relationships/slide" Target="/ppt/slides/slide31.xml" Id="Rdf6ed72c56b64c20" /><Relationship Type="http://schemas.openxmlformats.org/officeDocument/2006/relationships/slide" Target="/ppt/slides/slide32.xml" Id="R7ae3f58b4d7a4e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a5751d865c4f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f6919055ba4fca" /><Relationship Type="http://schemas.openxmlformats.org/officeDocument/2006/relationships/notesMaster" Target="/ppt/notesMasters/notesMaster1.xml" Id="Re10edd8b0e3544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a61eb631e241ff" /><Relationship Type="http://schemas.openxmlformats.org/officeDocument/2006/relationships/notesMaster" Target="/ppt/notesMasters/notesMaster1.xml" Id="R977c4953abb347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dd8883cbbc4c22" /><Relationship Type="http://schemas.openxmlformats.org/officeDocument/2006/relationships/notesMaster" Target="/ppt/notesMasters/notesMaster1.xml" Id="R55fcac76ba5246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6398f62e54f08" /><Relationship Type="http://schemas.openxmlformats.org/officeDocument/2006/relationships/notesMaster" Target="/ppt/notesMasters/notesMaster1.xml" Id="Rce854201307440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c8ebff7cb64b34" /><Relationship Type="http://schemas.openxmlformats.org/officeDocument/2006/relationships/notesMaster" Target="/ppt/notesMasters/notesMaster1.xml" Id="R639216fec2ec4f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aafe81164d4966" /><Relationship Type="http://schemas.openxmlformats.org/officeDocument/2006/relationships/notesMaster" Target="/ppt/notesMasters/notesMaster1.xml" Id="Rcd45ce59a44140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7e2a9f5bd94ae2" /><Relationship Type="http://schemas.openxmlformats.org/officeDocument/2006/relationships/notesMaster" Target="/ppt/notesMasters/notesMaster1.xml" Id="R882f175939104b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0f4ab192f44c73" /><Relationship Type="http://schemas.openxmlformats.org/officeDocument/2006/relationships/notesMaster" Target="/ppt/notesMasters/notesMaster1.xml" Id="Rdeaec33bdd804a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c1556763e44c4a" /><Relationship Type="http://schemas.openxmlformats.org/officeDocument/2006/relationships/notesMaster" Target="/ppt/notesMasters/notesMaster1.xml" Id="Reafe705db66140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dce9978619483c" /><Relationship Type="http://schemas.openxmlformats.org/officeDocument/2006/relationships/notesMaster" Target="/ppt/notesMasters/notesMaster1.xml" Id="R247527005faa4c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cf6ceb77684e23" /><Relationship Type="http://schemas.openxmlformats.org/officeDocument/2006/relationships/notesMaster" Target="/ppt/notesMasters/notesMaster1.xml" Id="Rddc2a36d0b1e4a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1ab02ec4a3460f" /><Relationship Type="http://schemas.openxmlformats.org/officeDocument/2006/relationships/notesMaster" Target="/ppt/notesMasters/notesMaster1.xml" Id="R32b2bf00835040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a3471de3804de1" /><Relationship Type="http://schemas.openxmlformats.org/officeDocument/2006/relationships/notesMaster" Target="/ppt/notesMasters/notesMaster1.xml" Id="Rff7513e2360648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8a03020c0b4835" /><Relationship Type="http://schemas.openxmlformats.org/officeDocument/2006/relationships/notesMaster" Target="/ppt/notesMasters/notesMaster1.xml" Id="R1a4a6f45b37a4d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cf6d9b30ce45c4" /><Relationship Type="http://schemas.openxmlformats.org/officeDocument/2006/relationships/notesMaster" Target="/ppt/notesMasters/notesMaster1.xml" Id="R88594bdec21640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d5a019f4144de8" /><Relationship Type="http://schemas.openxmlformats.org/officeDocument/2006/relationships/notesMaster" Target="/ppt/notesMasters/notesMaster1.xml" Id="Rb74d8a54ef9b4f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68f8b45a804ca4" /><Relationship Type="http://schemas.openxmlformats.org/officeDocument/2006/relationships/notesMaster" Target="/ppt/notesMasters/notesMaster1.xml" Id="Rd532ce0f4ffc4c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28b25774c54faa" /><Relationship Type="http://schemas.openxmlformats.org/officeDocument/2006/relationships/notesMaster" Target="/ppt/notesMasters/notesMaster1.xml" Id="R4326eee036b94c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17791fc55074461" /><Relationship Type="http://schemas.openxmlformats.org/officeDocument/2006/relationships/notesMaster" Target="/ppt/notesMasters/notesMaster1.xml" Id="R044eb74f55494f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1ea4ac93314166" /><Relationship Type="http://schemas.openxmlformats.org/officeDocument/2006/relationships/notesMaster" Target="/ppt/notesMasters/notesMaster1.xml" Id="Re313fbc81b134a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4d9c8cce3240b1" /><Relationship Type="http://schemas.openxmlformats.org/officeDocument/2006/relationships/notesMaster" Target="/ppt/notesMasters/notesMaster1.xml" Id="R87c986493343460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ad30f4c24e4be6" /><Relationship Type="http://schemas.openxmlformats.org/officeDocument/2006/relationships/notesMaster" Target="/ppt/notesMasters/notesMaster1.xml" Id="Re941ef3299c94fa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e04a9afbb6e4f23" /><Relationship Type="http://schemas.openxmlformats.org/officeDocument/2006/relationships/notesMaster" Target="/ppt/notesMasters/notesMaster1.xml" Id="R5d307b07b1424ce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b6fce1066b4293" /><Relationship Type="http://schemas.openxmlformats.org/officeDocument/2006/relationships/notesMaster" Target="/ppt/notesMasters/notesMaster1.xml" Id="R0004f7a903ee415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2593c363b54868" /><Relationship Type="http://schemas.openxmlformats.org/officeDocument/2006/relationships/notesMaster" Target="/ppt/notesMasters/notesMaster1.xml" Id="Re081a197461244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ca7e8636754c71" /><Relationship Type="http://schemas.openxmlformats.org/officeDocument/2006/relationships/notesMaster" Target="/ppt/notesMasters/notesMaster1.xml" Id="R121805430b2b42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797325075e4d06" /><Relationship Type="http://schemas.openxmlformats.org/officeDocument/2006/relationships/notesMaster" Target="/ppt/notesMasters/notesMaster1.xml" Id="R82a229716992470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78e7d01eb14387" /><Relationship Type="http://schemas.openxmlformats.org/officeDocument/2006/relationships/notesMaster" Target="/ppt/notesMasters/notesMaster1.xml" Id="Re8761cdb2bde4f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b6ec42a446543bf" /><Relationship Type="http://schemas.openxmlformats.org/officeDocument/2006/relationships/notesMaster" Target="/ppt/notesMasters/notesMaster1.xml" Id="R3953bf1710474f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6ff557b1264a38" /><Relationship Type="http://schemas.openxmlformats.org/officeDocument/2006/relationships/notesMaster" Target="/ppt/notesMasters/notesMaster1.xml" Id="R7ef1c8b2773a4d5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739f932ac9f49da" /><Relationship Type="http://schemas.openxmlformats.org/officeDocument/2006/relationships/notesMaster" Target="/ppt/notesMasters/notesMaster1.xml" Id="Ra25613c667c9455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e1a7a37d549492f" /><Relationship Type="http://schemas.openxmlformats.org/officeDocument/2006/relationships/notesMaster" Target="/ppt/notesMasters/notesMaster1.xml" Id="Rff76b075ce8243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Verity addresses a specific maintenance problem: an assistant must use an approved correction when answering connected factual questions, preserve information outside its scope, and support reversal. Updating a webpage or database establishes the new fact. The additional question is whether a conversational model uses that state correctly. We built a versioned memory platform around Reason-KE++, then evaluated the complete retrieval and generation path. Our evidence covers short factual answers, controlled paraphrases and reasoning paths of up to three relations.</a:t>
            </a:r>
          </a:p>
          <a:p xmlns:a="http://schemas.openxmlformats.org/drawingml/2006/main">
            <a:r>
              <a:t/>
            </a:r>
          </a:p>
          <a:p xmlns:a="http://schemas.openxmlformats.org/drawingml/2006/main">
            <a:r>
              <a:t>Technical detail</a:t>
            </a:r>
          </a:p>
          <a:p xmlns:a="http://schemas.openxmlformats.org/drawingml/2006/main">
            <a:r>
              <a:t>The final system uses a frozen released checkpoint and external approved memory. It is a parameter-preserving editing deployment. It supports ordinary text conversation, but the scientific accuracy claim concerns the bounded factual task. The presentation separates the published learning method, our implementation and our measured outcomes.</a:t>
            </a:r>
          </a:p>
          <a:p xmlns:a="http://schemas.openxmlformats.org/drawingml/2006/main">
            <a:r>
              <a:t/>
            </a:r>
          </a:p>
          <a:p xmlns:a="http://schemas.openxmlformats.org/drawingml/2006/main">
            <a:r>
              <a:t>Visual cue</a:t>
            </a:r>
          </a:p>
          <a:p xmlns:a="http://schemas.openxmlformats.org/drawingml/2006/main">
            <a:r>
              <a:t>State the maintenance problem and the evaluated contract.</a:t>
            </a:r>
          </a:p>
          <a:p xmlns:a="http://schemas.openxmlformats.org/drawingml/2006/main">
            <a:r>
              <a:t/>
            </a:r>
          </a:p>
          <a:p xmlns:a="http://schemas.openxmlformats.org/drawingml/2006/main">
            <a:r>
              <a:t>Evidence</a:t>
            </a:r>
          </a:p>
          <a:p xmlns:a="http://schemas.openxmlformats.org/drawingml/2006/main">
            <a:r>
              <a:t>https://github.com/ShivamRaghav7/verity/blob/codex/reasonke-integration/docs/CURRENT_ARCHITECTURE.md</a:t>
            </a:r>
          </a:p>
          <a:p xmlns:a="http://schemas.openxmlformats.org/drawingml/2006/main">
            <a:r>
              <a:t>https://github.com/ShivamRaghav7/verity/blob/codex/reasonke-integration/docs/CONTRIBUTIONS_AND_EVIDENCE.md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This example comes from the implemented India demonstration. Kaveri Payment Gateway in release two initially belongs to Bengaluru Platform Team. That team’s contact is Meera Iyer, whose office is in Chennai. Replacing only ownership with Pune Reliability Team changes the connected path to Arjun Deshmukh and Hyderabad. The hosting city must remain Bengaluru. The Pro service and release one retain separate owners. These services, people and assignments are fictional. The familiar Indian locations help us demonstrate a real software workflow without making claims about an actual company.</a:t>
            </a:r>
          </a:p>
          <a:p xmlns:a="http://schemas.openxmlformats.org/drawingml/2006/main">
            <a:r>
              <a:t/>
            </a:r>
          </a:p>
          <a:p xmlns:a="http://schemas.openxmlformats.org/drawingml/2006/main">
            <a:r>
              <a:t>Technical detail</a:t>
            </a:r>
          </a:p>
          <a:p xmlns:a="http://schemas.openxmlformats.org/drawingml/2006/main">
            <a:r>
              <a:t>The replacement changes one approved ownership record. The alternate team's contact and office records already exist. The three-hop answer changes by following owner, on_call_contact and office_city. An unchanged hosting answer tests another relation on the same entity. The older release and Pro service test version and similarly named entity boundaries.</a:t>
            </a:r>
          </a:p>
          <a:p xmlns:a="http://schemas.openxmlformats.org/drawingml/2006/main">
            <a:r>
              <a:t/>
            </a:r>
          </a:p>
          <a:p xmlns:a="http://schemas.openxmlformats.org/drawingml/2006/main">
            <a:r>
              <a:t>Visual cue</a:t>
            </a:r>
          </a:p>
          <a:p xmlns:a="http://schemas.openxmlformats.org/drawingml/2006/main">
            <a:r>
              <a:t>Trace the initial and replacement paths, then point to the unchanged controls.</a:t>
            </a:r>
          </a:p>
          <a:p xmlns:a="http://schemas.openxmlformats.org/drawingml/2006/main">
            <a:r>
              <a:t/>
            </a:r>
          </a:p>
          <a:p xmlns:a="http://schemas.openxmlformats.org/drawingml/2006/main">
            <a:r>
              <a:t>Evidence</a:t>
            </a:r>
          </a:p>
          <a:p xmlns:a="http://schemas.openxmlformats.org/drawingml/2006/main">
            <a:r>
              <a:t>https://github.com/ShivamRaghav7/verity/blob/codex/reasonke-integration/docs/INDIA_DEMO.md</a:t>
            </a:r>
          </a:p>
          <a:p xmlns:a="http://schemas.openxmlformats.org/drawingml/2006/main">
            <a:r>
              <a:t>https://github.com/ShivamRaghav7/verity/blob/codex/reasonke-integration/editguard_chat/examples.py</a:t>
            </a:r>
          </a:p>
          <a:p xmlns:a="http://schemas.openxmlformats.org/drawingml/2006/main">
            <a:r>
              <a:t>https://github.com/ShivamRaghav7/verity/blob/codex/reasonke-integration/reports/reasonke/depth-final/india-acceptance.json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We define success through observable requirements. A relevant direct or paraphrased question should endorse the corrected answer. A connected question should follow the revised chain. An unaffected question should retain the applicable fact, including its release or plan scope. A competing correction must not silently overwrite active knowledge. Approval and rollback must update fact state and audit history together. We score actual model answers separately from database consistency. Abstentions and errors remain in the evaluation denominator. These requirements give the project a finite, testable objective without promising universal language accuracy.</a:t>
            </a:r>
          </a:p>
          <a:p xmlns:a="http://schemas.openxmlformats.org/drawingml/2006/main">
            <a:r>
              <a:t/>
            </a:r>
          </a:p>
          <a:p xmlns:a="http://schemas.openxmlformats.org/drawingml/2006/main">
            <a:r>
              <a:t>Technical detail</a:t>
            </a:r>
          </a:p>
          <a:p xmlns:a="http://schemas.openxmlformats.org/drawingml/2006/main">
            <a:r>
              <a:t>The fact store determines authority, not real-world truth. Scope is represented by canonical IDs and explicit text, rather than a calibrated semantic applicability classifier. Conflicts under the same represented key can be rejected deterministically. Arbitrary contradictions under unrelated keys and ambiguous customer language remain limits. A rule-based clarification must never count as a neural answer success.</a:t>
            </a:r>
          </a:p>
          <a:p xmlns:a="http://schemas.openxmlformats.org/drawingml/2006/main">
            <a:r>
              <a:t/>
            </a:r>
          </a:p>
          <a:p xmlns:a="http://schemas.openxmlformats.org/drawingml/2006/main">
            <a:r>
              <a:t>Visual cue</a:t>
            </a:r>
          </a:p>
          <a:p xmlns:a="http://schemas.openxmlformats.org/drawingml/2006/main">
            <a:r>
              <a:t>Separate answer quality, locality and operational consistency.</a:t>
            </a:r>
          </a:p>
          <a:p xmlns:a="http://schemas.openxmlformats.org/drawingml/2006/main">
            <a:r>
              <a:t/>
            </a:r>
          </a:p>
          <a:p xmlns:a="http://schemas.openxmlformats.org/drawingml/2006/main">
            <a:r>
              <a:t>Evidence</a:t>
            </a:r>
          </a:p>
          <a:p xmlns:a="http://schemas.openxmlformats.org/drawingml/2006/main">
            <a:r>
              <a:t>https://github.com/ShivamRaghav7/verity/blob/codex/reasonke-integration/docs/CURRENT_ARCHITECTURE.md</a:t>
            </a:r>
          </a:p>
          <a:p xmlns:a="http://schemas.openxmlformats.org/drawingml/2006/main">
            <a:r>
              <a:t>https://github.com/ShivamRaghav7/verity/blob/codex/reasonke-integration/docs/CHAT_API.md</a:t>
            </a:r>
          </a:p>
          <a:p xmlns:a="http://schemas.openxmlformats.org/drawingml/2006/main">
            <a:r>
              <a:t>https://github.com/ShivamRaghav7/verity/blob/codex/reasonke-integration/tests/test_chat_store.py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Conventional RAG retrieves context and asks a general instruction model to answer. Parametric editing changes model weights. Our approach keeps the weights fixed, maintains approved corrections externally, and uses a reasoner trained to apply contextual updates across connected facts. Retrieval is still part of the system. The documented development comparison selected bounded retrieval because the deployed Reason-KE++ checkpoint answered twenty-four of twenty-four questions, versus twenty-one with full memory. Qwen also answered twenty-four with retrieval. That development result selected a context policy; it did not establish model superiority or a causal benefit from training.</a:t>
            </a:r>
          </a:p>
          <a:p xmlns:a="http://schemas.openxmlformats.org/drawingml/2006/main">
            <a:r>
              <a:t/>
            </a:r>
          </a:p>
          <a:p xmlns:a="http://schemas.openxmlformats.org/drawingml/2006/main">
            <a:r>
              <a:t>Technical detail</a:t>
            </a:r>
          </a:p>
          <a:p xmlns:a="http://schemas.openxmlformats.org/drawingml/2006/main">
            <a:r>
              <a:t>The project first built governance and earlier editor experiments, then integrated the released reasoner on 25 October. We do not claim a complete parametric-method comparison or an originally planned progression. Source-pinned integration established feasibility on a T4. The deployment-policy receipt records three development lineages and twenty-four questions per condition. Final results were not used to select that policy. Reason-KE++ and RAG are complementary layers here, not mutually exclusive labels.</a:t>
            </a:r>
          </a:p>
          <a:p xmlns:a="http://schemas.openxmlformats.org/drawingml/2006/main">
            <a:r>
              <a:t/>
            </a:r>
          </a:p>
          <a:p xmlns:a="http://schemas.openxmlformats.org/drawingml/2006/main">
            <a:r>
              <a:t>Visual cue</a:t>
            </a:r>
          </a:p>
          <a:p xmlns:a="http://schemas.openxmlformats.org/drawingml/2006/main">
            <a:r>
              <a:t>Distinguish the editing route from the context-delivery mechanism.</a:t>
            </a:r>
          </a:p>
          <a:p xmlns:a="http://schemas.openxmlformats.org/drawingml/2006/main">
            <a:r>
              <a:t/>
            </a:r>
          </a:p>
          <a:p xmlns:a="http://schemas.openxmlformats.org/drawingml/2006/main">
            <a:r>
              <a:t>Evidence</a:t>
            </a:r>
          </a:p>
          <a:p xmlns:a="http://schemas.openxmlformats.org/drawingml/2006/main">
            <a:r>
              <a:t>https://github.com/ShivamRaghav7/verity/blob/codex/reasonke-integration/docs/REASONKE_INTEGRATION.md</a:t>
            </a:r>
          </a:p>
          <a:p xmlns:a="http://schemas.openxmlformats.org/drawingml/2006/main">
            <a:r>
              <a:t>https://github.com/ShivamRaghav7/verity/blob/codex/reasonke-integration/docs/PROJECT_JOURNEY_AND_FINISH_PLAN.md</a:t>
            </a:r>
          </a:p>
          <a:p xmlns:a="http://schemas.openxmlformats.org/drawingml/2006/main">
            <a:r>
              <a:t>https://github.com/ShivamRaghav7/verity/blob/codex/reasonke-integration/configs/deployment-policy.json</a:t>
            </a:r>
          </a:p>
          <a:p xmlns:a="http://schemas.openxmlformats.org/drawingml/2006/main">
            <a:r>
              <a:t>https://github.com/ShivamRaghav7/verity/blob/codex/reasonke-integration/reports/reasonke/operations-development-v1/results.json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The learning method comes from Wu and colleagues’ Reason-KE++ paper and official implementation. We use their released ReasonKE_plus checkpoint; we did not run its SFT or PPO training. The data generator supplies a rewritten fact and a portability question to a teacher model. Supervised learning then teaches a structured response format. PPO subsequently trains against signals that inspect intermediate work as well as the final answer. This matters because a model can reproduce a reasoning format or reach a correct endpoint while using an incorrect intermediate association. Our independent operations datasets evaluate the deployed system, not this training pipeline.</a:t>
            </a:r>
          </a:p>
          <a:p xmlns:a="http://schemas.openxmlformats.org/drawingml/2006/main">
            <a:r>
              <a:t/>
            </a:r>
          </a:p>
          <a:p xmlns:a="http://schemas.openxmlformats.org/drawingml/2006/main">
            <a:r>
              <a:t>Technical detail</a:t>
            </a:r>
          </a:p>
          <a:p xmlns:a="http://schemas.openxmlformats.org/drawingml/2006/main">
            <a:r>
              <a:t>The data-generation code reads requested_rewrite and portability.New Question and calls gpt-4o-mini. The paper's Appendix A reports 718 curated cold-start instances and an 8,296/922 MQuAKE-CF PPO partition. Section 3.2 and Appendix A describe the cold-start source differently in granularity; use the concrete generation code and Appendix A rather than claiming a re-created dataset. The SFT trainer requests assistant-completion-only loss when that TRL collator is available, with a language-model collator fallback. No training-loss curves for our deployment exist. The exact released revision is not linked to the paper's headline score in a model card.</a:t>
            </a:r>
          </a:p>
          <a:p xmlns:a="http://schemas.openxmlformats.org/drawingml/2006/main">
            <a:r>
              <a:t/>
            </a:r>
          </a:p>
          <a:p xmlns:a="http://schemas.openxmlformats.org/drawingml/2006/main">
            <a:r>
              <a:t>Visual cue</a:t>
            </a:r>
          </a:p>
          <a:p xmlns:a="http://schemas.openxmlformats.org/drawingml/2006/main">
            <a:r>
              <a:t>Explain training once, then distinguish it from runtime editing.</a:t>
            </a:r>
          </a:p>
          <a:p xmlns:a="http://schemas.openxmlformats.org/drawingml/2006/main">
            <a:r>
              <a:t/>
            </a:r>
          </a:p>
          <a:p xmlns:a="http://schemas.openxmlformats.org/drawingml/2006/main">
            <a:r>
              <a:t>Evidence</a:t>
            </a:r>
          </a:p>
          <a:p xmlns:a="http://schemas.openxmlformats.org/drawingml/2006/main">
            <a:r>
              <a:t>https://aclanthology.org/2026.findings-acl.1137/</a:t>
            </a:r>
          </a:p>
          <a:p xmlns:a="http://schemas.openxmlformats.org/drawingml/2006/main">
            <a:r>
              <a:t>https://github.com/YukinoshitaKaren/Reason-KE/blob/d515c6ac5ec747029484af65103a6270fa693058/ReasonKE%2B%2B/data_preprocessing/generate_sft_data.py</a:t>
            </a:r>
          </a:p>
          <a:p xmlns:a="http://schemas.openxmlformats.org/drawingml/2006/main">
            <a:r>
              <a:t>https://github.com/YukinoshitaKaren/Reason-KE/blob/d515c6ac5ec747029484af65103a6270fa693058/ReasonKE%2B%2B/train/sft.py</a:t>
            </a:r>
          </a:p>
          <a:p xmlns:a="http://schemas.openxmlformats.org/drawingml/2006/main">
            <a:r>
              <a:t>https://github.com/YukinoshitaKaren/Reason-KE/blob/d515c6ac5ec747029484af65103a6270fa693058/ReasonKE%2B%2B/train/sft.sh</a:t>
            </a:r>
          </a:p>
          <a:p xmlns:a="http://schemas.openxmlformats.org/drawingml/2006/main">
            <a:r>
              <a:t>https://github.com/ShivamRaghav7/verity/blob/codex/reasonke-integration/configs/reasonke-model.json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Reason-KE++ organizes output into acknowledge, decompose and action stages, followed by a final answer. The reward first rejects malformed structure. For valid output, the released reward code combines a hop-count check, semantic similarity between aligned subquestions, exact subanswer checks and final-answer token F1. PPO uses those reward components to update a policy while limiting large policy changes. Intermediate-step supervision here means scoring the generated stages. It does not mean that Verity verifies every displayed explanation or calls a separate neural verifier during chat. The deployment only runs the trained checkpoint for inference.</a:t>
            </a:r>
          </a:p>
          <a:p xmlns:a="http://schemas.openxmlformats.org/drawingml/2006/main">
            <a:r>
              <a:t/>
            </a:r>
          </a:p>
          <a:p xmlns:a="http://schemas.openxmlformats.org/drawingml/2006/main">
            <a:r>
              <a:t>Technical detail</a:t>
            </a:r>
          </a:p>
          <a:p xmlns:a="http://schemas.openxmlformats.org/drawingml/2006/main">
            <a:r>
              <a:t>The pinned reward implementation uses process = 0.2H + 0.4D + 0.4A and total = process + final F1. D uses all-MiniLM-L6-v2 cosine similarity on aligned action-section subquestions when hop count matches. A is the fraction of exact or alias-matched boxed subanswers. Invalid format returns -1. The paper instead writes alpha*process+(1-alpha)*outcome, with alpha=0.5 as its main setting. The code's sum is twice that normalized blend, which can affect reward scale relative to KL. This is documented in the backup slide. Dense component scoring is not evidence of a separate reward on every generated token.</a:t>
            </a:r>
          </a:p>
          <a:p xmlns:a="http://schemas.openxmlformats.org/drawingml/2006/main">
            <a:r>
              <a:t/>
            </a:r>
          </a:p>
          <a:p xmlns:a="http://schemas.openxmlformats.org/drawingml/2006/main">
            <a:r>
              <a:t>Visual cue</a:t>
            </a:r>
          </a:p>
          <a:p xmlns:a="http://schemas.openxmlformats.org/drawingml/2006/main">
            <a:r>
              <a:t>Read the structured stages, then the separate reward components.</a:t>
            </a:r>
          </a:p>
          <a:p xmlns:a="http://schemas.openxmlformats.org/drawingml/2006/main">
            <a:r>
              <a:t/>
            </a:r>
          </a:p>
          <a:p xmlns:a="http://schemas.openxmlformats.org/drawingml/2006/main">
            <a:r>
              <a:t>Evidence</a:t>
            </a:r>
          </a:p>
          <a:p xmlns:a="http://schemas.openxmlformats.org/drawingml/2006/main">
            <a:r>
              <a:t>https://aclanthology.org/2026.findings-acl.1137/</a:t>
            </a:r>
          </a:p>
          <a:p xmlns:a="http://schemas.openxmlformats.org/drawingml/2006/main">
            <a:r>
              <a:t>https://github.com/YukinoshitaKaren/Reason-KE/blob/d515c6ac5ec747029484af65103a6270fa693058/ReasonKE%2B%2B/verl/verl/utils/reward_score/my_reward.py</a:t>
            </a:r>
          </a:p>
          <a:p xmlns:a="http://schemas.openxmlformats.org/drawingml/2006/main">
            <a:r>
              <a:t>https://github.com/YukinoshitaKaren/Reason-KE/blob/d515c6ac5ec747029484af65103a6270fa693058/ReasonKE%2B%2B/verl/reasonke.sh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application separates deterministic state, deterministic retrieval and neural generation. The browser sends a question to the Python API. SQLite stores approved fact versions, chats and audit events. The selector ranks the current approved snapshot and supplies at most four records. A history filter adds compatible conversation pairs. An authenticated private worker runs the pinned checkpoint and returns generated text. The API extracts and persists the answer together with its supplied facts, revision and model metadata. The website can therefore display the exact evidence associated with a response. Source display establishes what the model received, not that every generated sentence is true.</a:t>
            </a:r>
          </a:p>
          <a:p xmlns:a="http://schemas.openxmlformats.org/drawingml/2006/main">
            <a:r>
              <a:t/>
            </a:r>
          </a:p>
          <a:p xmlns:a="http://schemas.openxmlformats.org/drawingml/2006/main">
            <a:r>
              <a:t>Technical detail</a:t>
            </a:r>
          </a:p>
          <a:p xmlns:a="http://schemas.openxmlformats.org/drawingml/2006/main">
            <a:r>
              <a:t>The website and worker are separate processes. The application lock serializes mutation and generation operations for a single local operator. The worker has separate request validation and a bearer-token boundary. An unavailable worker produces an explicit unavailable state rather than a template answer. The 200-record retrieval bound is a software guard; neural tests use much smaller worlds.</a:t>
            </a:r>
          </a:p>
          <a:p xmlns:a="http://schemas.openxmlformats.org/drawingml/2006/main">
            <a:r>
              <a:t/>
            </a:r>
          </a:p>
          <a:p xmlns:a="http://schemas.openxmlformats.org/drawingml/2006/main">
            <a:r>
              <a:t>Visual cue</a:t>
            </a:r>
          </a:p>
          <a:p xmlns:a="http://schemas.openxmlformats.org/drawingml/2006/main">
            <a:r>
              <a:t>Follow the request across the three computation categories.</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https://github.com/ShivamRaghav7/verity/blob/codex/reasonke-integration/editguard_chat/reasonke_backend.py</a:t>
            </a:r>
          </a:p>
          <a:p xmlns:a="http://schemas.openxmlformats.org/drawingml/2006/main">
            <a:r>
              <a:t>https://github.com/ShivamRaghav7/verity/blob/codex/reasonke-integration/editguard_reasonke/server.py</a:t>
            </a:r>
          </a:p>
          <a:p xmlns:a="http://schemas.openxmlformats.org/drawingml/2006/main">
            <a:r>
              <a:t>https://github.com/ShivamRaghav7/verity/blob/codex/reasonke-integration/docs/CURRENT_ARCHITECTURE.md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Consider the office-city question after rollback, at revision eleven. The API validates the message and operating mode under the application operation lock. It captures the knowledge revision, reads active approved facts, and passes the question to the iterative selector. It combines selected records with permitted history and calls the worker. Only after a successful response does SQLite commit the user and assistant messages, evidence and conversation metadata together. A failed model call leaves no dangling user turn. The revision stays fixed across this operation. The long generation call is outside the short SQLite transaction, although the application lock remains held.</a:t>
            </a:r>
          </a:p>
          <a:p xmlns:a="http://schemas.openxmlformats.org/drawingml/2006/main">
            <a:r>
              <a:t/>
            </a:r>
          </a:p>
          <a:p xmlns:a="http://schemas.openxmlformats.org/drawingml/2006/main">
            <a:r>
              <a:t>Technical detail</a:t>
            </a:r>
          </a:p>
          <a:p xmlns:a="http://schemas.openxmlformats.org/drawingml/2006/main">
            <a:r>
              <a:t>mutate() acquires the operation lock non-blockingly and reports HTTP 409 if another operation is running. ask() checks model readiness, obtains history and revision, generates before storing, then calls add_turn(). The message transaction and the knowledge-change transaction are different boundaries. This local lock is not a distributed concurrency guarantee. The matched benchmark uses local worker IPC and does not measure the website network path.</a:t>
            </a:r>
          </a:p>
          <a:p xmlns:a="http://schemas.openxmlformats.org/drawingml/2006/main">
            <a:r>
              <a:t/>
            </a:r>
          </a:p>
          <a:p xmlns:a="http://schemas.openxmlformats.org/drawingml/2006/main">
            <a:r>
              <a:t>Visual cue</a:t>
            </a:r>
          </a:p>
          <a:p xmlns:a="http://schemas.openxmlformats.org/drawingml/2006/main">
            <a:r>
              <a:t>Trace request validation, revision capture, generation and atomic turn persistence.</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https://github.com/ShivamRaghav7/verity/blob/codex/reasonke-integration/tests/test_chat_reasonke.py</a:t>
            </a:r>
          </a:p>
          <a:p xmlns:a="http://schemas.openxmlformats.org/drawingml/2006/main">
            <a:r>
              <a:t>https://github.com/ShivamRaghav7/verity/blob/codex/reasonke-integration/tests/test_chat_store.py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A fact has a canonical entity, relation and scope key. The ownership key for the gateway’s second release is distinct from hosting, release one and the Pro service. Each approved version also retains its question, answer, source, aliases, approval metadata and lineage links. A draft remains in the browser until the operator explicitly approves it. A first approval creates an active record and event. A replacement must identify the active predecessor for the same key. A partial unique index prevents two active versions for that represented identity. These controls define authoritative state without turning customer messages into approved facts.</a:t>
            </a:r>
          </a:p>
          <a:p xmlns:a="http://schemas.openxmlformats.org/drawingml/2006/main">
            <a:r>
              <a:t/>
            </a:r>
          </a:p>
          <a:p xmlns:a="http://schemas.openxmlformats.org/drawingml/2006/main">
            <a:r>
              <a:t>Technical detail</a:t>
            </a:r>
          </a:p>
          <a:p xmlns:a="http://schemas.openxmlformats.org/drawingml/2006/main">
            <a:r>
              <a:t>The normalized canonical key is encoded through question_key and scope_key. All three canonical identifiers must be supplied together. Without them, legacy records use normalized question/scope text. Aliases are metadata, not a trained entity resolver. Status can change between active, superseded and withdrawn, while fact content/version records and audit events preserve lineage. Approval actor metadata identifies a local research operator, not an independently authenticated enterprise administrator role.</a:t>
            </a:r>
          </a:p>
          <a:p xmlns:a="http://schemas.openxmlformats.org/drawingml/2006/main">
            <a:r>
              <a:t/>
            </a:r>
          </a:p>
          <a:p xmlns:a="http://schemas.openxmlformats.org/drawingml/2006/main">
            <a:r>
              <a:t>Visual cue</a:t>
            </a:r>
          </a:p>
          <a:p xmlns:a="http://schemas.openxmlformats.org/drawingml/2006/main">
            <a:r>
              <a:t>Distinguish the browser draft from committed approved state.</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https://github.com/ShivamRaghav7/verity/blob/codex/reasonke-integration/editguard_chat/workspace.py</a:t>
            </a:r>
          </a:p>
          <a:p xmlns:a="http://schemas.openxmlformats.org/drawingml/2006/main">
            <a:r>
              <a:t>https://github.com/ShivamRaghav7/verity/blob/codex/reasonke-integration/editguard_chat/static/app.js</a:t>
            </a:r>
          </a:p>
          <a:p xmlns:a="http://schemas.openxmlformats.org/drawingml/2006/main">
            <a:r>
              <a:t>https://github.com/ShivamRaghav7/verity/blob/codex/reasonke-integration/docs/CHAT_API.md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critical guarantee is that fact state, revision and audit events change together. Replacement supersedes the old version and activates the new one at a shared revision. Rollback validates an active replacement and its direct same-key predecessor. Inside BEGIN IMMEDIATE it withdraws the replacement, restores the predecessor, advances the revision once and writes both events. Any exception rolls back every write. Tests inject a late audit-event failure to check that boundary. A competing active approval returns HTTP 409. Historical reads replay earlier events without changing current memory, and knowledge changes invalidate the retriever interface cache.</a:t>
            </a:r>
          </a:p>
          <a:p xmlns:a="http://schemas.openxmlformats.org/drawingml/2006/main">
            <a:r>
              <a:t/>
            </a:r>
          </a:p>
          <a:p xmlns:a="http://schemas.openxmlformats.org/drawingml/2006/main">
            <a:r>
              <a:t>Technical detail</a:t>
            </a:r>
          </a:p>
          <a:p xmlns:a="http://schemas.openxmlformats.org/drawingml/2006/main">
            <a:r>
              <a:t>Rollback is idempotent when the predecessor is already active. An obsolete replacement cannot revert a newer successor. WAL, foreign keys, a thread-safe connection and explicit transactions provide local durability/concurrency behavior. The current lexical selector has no persistent embedding or answer cache to serve a withdrawn correction. Transaction tests establish consistency, not factual model correctness or automatic semantic conflict detection across unrelated keys.</a:t>
            </a:r>
          </a:p>
          <a:p xmlns:a="http://schemas.openxmlformats.org/drawingml/2006/main">
            <a:r>
              <a:t/>
            </a:r>
          </a:p>
          <a:p xmlns:a="http://schemas.openxmlformats.org/drawingml/2006/main">
            <a:r>
              <a:t>Visual cue</a:t>
            </a:r>
          </a:p>
          <a:p xmlns:a="http://schemas.openxmlformats.org/drawingml/2006/main">
            <a:r>
              <a:t>Show the one-revision, two-event rollback boundary.</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https://github.com/ShivamRaghav7/verity/blob/codex/reasonke-integration/tests/test_chat_store.py</a:t>
            </a:r>
          </a:p>
          <a:p xmlns:a="http://schemas.openxmlformats.org/drawingml/2006/main">
            <a:r>
              <a:t>https://github.com/ShivamRaghav7/verity/blob/codex/reasonke-integration/tests/test_chat_workspace.py</a:t>
            </a:r>
          </a:p>
          <a:p xmlns:a="http://schemas.openxmlformats.org/drawingml/2006/main">
            <a:r>
              <a:t>https://github.com/ShivamRaghav7/verity/blob/codex/reasonke-integration/docs/CURRENT_ARCHITECTURE.md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ranker tokenizes approved question, scope and answer text and applies a BM25-style score. It removes declared stop words and breaks ties by fact identifier. The query first selects two seed records. Their answer text becomes the search frontier. Each expansion round adds the highest-ranked unseen fact and advances the frontier to that fact’s answer. The selected deployment stops at four records, exhaustion or the round bound. With two seeds and a four-fact cap, at most two additions are normally needed. This is deterministic lexical expansion. It never reads a target answer, depth label or gold supporting identifier during retrieval.</a:t>
            </a:r>
          </a:p>
          <a:p xmlns:a="http://schemas.openxmlformats.org/drawingml/2006/main">
            <a:r>
              <a:t/>
            </a:r>
          </a:p>
          <a:p xmlns:a="http://schemas.openxmlformats.org/drawingml/2006/main">
            <a:r>
              <a:t>Technical detail</a:t>
            </a:r>
          </a:p>
          <a:p xmlns:a="http://schemas.openxmlformats.org/drawingml/2006/main">
            <a:r>
              <a:t>The ranker uses k1=1.2 and b=0.75, unique query terms and idf=log(1+(N-df+0.5)/(df+0.5)). The iterative method permits at most three rounds and fills any unused slots from the last frontier ranking. In the concrete India query, hosting and ownership seed the search, then the selected owner answer retrieves its contact and that contact retrieves the office. The inclusion of a hosting distractor is visible rather than hidden. Ranking may still retrieve irrelevant records or fail unfamiliar wording.</a:t>
            </a:r>
          </a:p>
          <a:p xmlns:a="http://schemas.openxmlformats.org/drawingml/2006/main">
            <a:r>
              <a:t/>
            </a:r>
          </a:p>
          <a:p xmlns:a="http://schemas.openxmlformats.org/drawingml/2006/main">
            <a:r>
              <a:t>Visual cue</a:t>
            </a:r>
          </a:p>
          <a:p xmlns:a="http://schemas.openxmlformats.org/drawingml/2006/main">
            <a:r>
              <a:t>Explain the frontier update and the finite stopping rules.</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https://github.com/ShivamRaghav7/verity/blob/codex/reasonke-integration/editguard_benchmark/retrieval.py</a:t>
            </a:r>
          </a:p>
          <a:p xmlns:a="http://schemas.openxmlformats.org/drawingml/2006/main">
            <a:r>
              <a:t>https://github.com/ShivamRaghav7/verity/blob/codex/reasonke-integration/editguard_depth/retrieval.py</a:t>
            </a:r>
          </a:p>
          <a:p xmlns:a="http://schemas.openxmlformats.org/drawingml/2006/main">
            <a:r>
              <a:t>https://github.com/ShivamRaghav7/verity/blob/codex/reasonke-integration/reports/reasonke/depth-final/india-acceptance.json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original two-stage selector expanded its query only once. On the new depth development packet it completed ninety-six of 128 supporting paths, including zero of thirty-two three-hop paths. The iterative policy completed all 128, including all thirty-two three-hop paths. Selection compared six declared candidates before neural profiling and final freeze. An explicit India display-development question exposed a one-seed distractor, so the final choice used two seeds and four facts after checking both display states. These figures measure support retrieval on development data. They are separate from final generated-answer accuracy and do not prove that more supplied context is always better.</a:t>
            </a:r>
          </a:p>
          <a:p xmlns:a="http://schemas.openxmlformats.org/drawingml/2006/main">
            <a:r>
              <a:t/>
            </a:r>
          </a:p>
          <a:p xmlns:a="http://schemas.openxmlformats.org/drawingml/2006/main">
            <a:r>
              <a:t>Technical detail</a:t>
            </a:r>
          </a:p>
          <a:p xmlns:a="http://schemas.openxmlformats.org/drawingml/2006/main">
            <a:r>
              <a:t>The original method found 192/224 required fact occurrences. Every candidate completed the packet; the additional two display memory states distinguish the selected policy. Selection revision two documents that adjustment before profiling/freeze. The selected candidate completed 230/230 required occurrences across the 128 packet questions and two display states. Those two states are not independent held-out questions. The depth challenge preserves the original frozen operations retriever and results.</a:t>
            </a:r>
          </a:p>
          <a:p xmlns:a="http://schemas.openxmlformats.org/drawingml/2006/main">
            <a:r>
              <a:t/>
            </a:r>
          </a:p>
          <a:p xmlns:a="http://schemas.openxmlformats.org/drawingml/2006/main">
            <a:r>
              <a:t>Visual cue</a:t>
            </a:r>
          </a:p>
          <a:p xmlns:a="http://schemas.openxmlformats.org/drawingml/2006/main">
            <a:r>
              <a:t>Read complete paths, not neural accuracy, on this graph.</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https://github.com/ShivamRaghav7/verity/blob/codex/reasonke-integration/reports/reasonke/depth-development/retrieval-selection.json</a:t>
            </a:r>
          </a:p>
          <a:p xmlns:a="http://schemas.openxmlformats.org/drawingml/2006/main">
            <a:r>
              <a:t>https://github.com/ShivamRaghav7/verity/blob/codex/reasonke-integration/editguard_depth/retrieval.py</a:t>
            </a:r>
          </a:p>
          <a:p xmlns:a="http://schemas.openxmlformats.org/drawingml/2006/main">
            <a:r>
              <a:t>https://github.com/ShivamRaghav7/verity/blob/codex/reasonke-integration/docs/DEPTH_RUN_PLAN.md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The worker serializes approved facts as JSON inside the updated-information block of the latest user message, followed by the current query. The tokenizer applies the checkpoint’s chat template. History includes only complete user-assistant pairs compatible with the current knowledge revision and model. Old pairs remain visible in the website but do not enter a new prompt. For historical comparison, both generations receive the same pre-question history with correction-conditioned pairs removed. This prevents a newer answer from leaking the correction into the older reference side. The comparison generates two new responses; it does not retrieve two weight snapshots or rewrite saved messages.</a:t>
            </a:r>
          </a:p>
          <a:p xmlns:a="http://schemas.openxmlformats.org/drawingml/2006/main">
            <a:r>
              <a:t/>
            </a:r>
          </a:p>
          <a:p xmlns:a="http://schemas.openxmlformats.org/drawingml/2006/main">
            <a:r>
              <a:t>Technical detail</a:t>
            </a:r>
          </a:p>
          <a:p xmlns:a="http://schemas.openxmlformats.org/drawingml/2006/main">
            <a:r>
              <a:t>Normal edited chat can retain correction-conditioned pairs from the same revision. The application limits history to eight messages and 6,000 total characters, dropping complete pairs. Worker fields have additional size checks. The two comparison contexts are an approved historical snapshot or no correction facts, and the current snapshot. Revision zero means empty approved memory. JSON delimiters and source text do not establish general prompt-injection resistance.</a:t>
            </a:r>
          </a:p>
          <a:p xmlns:a="http://schemas.openxmlformats.org/drawingml/2006/main">
            <a:r>
              <a:t/>
            </a:r>
          </a:p>
          <a:p xmlns:a="http://schemas.openxmlformats.org/drawingml/2006/main">
            <a:r>
              <a:t>Visual cue</a:t>
            </a:r>
          </a:p>
          <a:p xmlns:a="http://schemas.openxmlformats.org/drawingml/2006/main">
            <a:r>
              <a:t>Distinguish visible history, supplied history and freshly generated comparison.</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https://github.com/ShivamRaghav7/verity/blob/codex/reasonke-integration/editguard_reasonke/runtime.py</a:t>
            </a:r>
          </a:p>
          <a:p xmlns:a="http://schemas.openxmlformats.org/drawingml/2006/main">
            <a:r>
              <a:t>https://github.com/ShivamRaghav7/verity/blob/codex/reasonke-integration/tests/test_chat_reasonke.py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Both checkpoints contain approximately 7.615 billion parameters. Our measured configuration uses pinned safetensors, NF4 double-quantized weights, FP16 computation and SDPA attention. Decoding is greedy with one beam, a 4,096-token input ceiling and at most 512 new tokens. A T4 loads one model at a time. The measured loading peak allocated CUDA memory was about 6.59 gibibytes. After generation, exactly one nonempty answer block yields the extracted final text. Malformed or plain output uses a disclosed raw fallback. The response record retains raw text, selected facts, checkpoint revision, timing and token metadata. Nothing in that extraction labels the explanation verified.</a:t>
            </a:r>
          </a:p>
          <a:p xmlns:a="http://schemas.openxmlformats.org/drawingml/2006/main">
            <a:r>
              <a:t/>
            </a:r>
          </a:p>
          <a:p xmlns:a="http://schemas.openxmlformats.org/drawingml/2006/main">
            <a:r>
              <a:t>Technical detail</a:t>
            </a:r>
          </a:p>
          <a:p xmlns:a="http://schemas.openxmlformats.org/drawingml/2006/main">
            <a:r>
              <a:t>The pinned ReasonKE_plus revision is ceaedc2ae7c8fed6257953587d991ce550db6106. Qwen's revision is a09a35458c702b33eeacc393d103063234e8bc28. Corrections never change weights. Allocated memory is a PyTorch measurement, not total device usage or a guarantee for another GPU. The benchmark has a hard 240-second parent request watchdog and 1,800-second load watchdog; the 120-second Transformers generation setting is soft. The worker rejects oversize input rather than silently changing the declared budget.</a:t>
            </a:r>
          </a:p>
          <a:p xmlns:a="http://schemas.openxmlformats.org/drawingml/2006/main">
            <a:r>
              <a:t/>
            </a:r>
          </a:p>
          <a:p xmlns:a="http://schemas.openxmlformats.org/drawingml/2006/main">
            <a:r>
              <a:t>Visual cue</a:t>
            </a:r>
          </a:p>
          <a:p xmlns:a="http://schemas.openxmlformats.org/drawingml/2006/main">
            <a:r>
              <a:t>Separate weight storage, compute precision, decoding and extraction.</a:t>
            </a:r>
          </a:p>
          <a:p xmlns:a="http://schemas.openxmlformats.org/drawingml/2006/main">
            <a:r>
              <a:t/>
            </a:r>
          </a:p>
          <a:p xmlns:a="http://schemas.openxmlformats.org/drawingml/2006/main">
            <a:r>
              <a:t>Evidence</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a:p xmlns:a="http://schemas.openxmlformats.org/drawingml/2006/main">
            <a:r>
              <a:t>https://github.com/ShivamRaghav7/verity/blob/codex/reasonke-integration/editguard_reasonke/runtime.py</a:t>
            </a:r>
          </a:p>
          <a:p xmlns:a="http://schemas.openxmlformats.org/drawingml/2006/main">
            <a:r>
              <a:t>https://github.com/ShivamRaghav7/verity/blob/codex/reasonke-integration/reports/reasonke/operations-profiles-v1/README.md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Each study contains forty-eight authored fictional fact worlds and 384 question records. Sixteen lineages support development and thirty-two support final evaluation. Eight related variants per final lineage create 256 main questions. We split lineages before question augmentation, so connected variants stay in one partition. The original study has nine facts per world and paths up to two hops. The separate depth study has twelve facts and extends to three hops. Its development and final wording banks differ. Graph audits check labels and supporting paths automatically. Service, team and person identities separate across splits, but simple values and relation vocabulary can repeat.</a:t>
            </a:r>
          </a:p>
          <a:p xmlns:a="http://schemas.openxmlformats.org/drawingml/2006/main">
            <a:r>
              <a:t/>
            </a:r>
          </a:p>
          <a:p xmlns:a="http://schemas.openxmlformats.org/drawingml/2006/main">
            <a:r>
              <a:t>Technical detail</a:t>
            </a:r>
          </a:p>
          <a:p xmlns:a="http://schemas.openxmlformats.org/drawingml/2006/main">
            <a:r>
              <a:t>An edit lineage groups original and updated facts plus its related question variants. A lineage is the statistical cluster, not each paraphrase. Each authored pool includes 128 development and 256 final questions. The operations neural policy comparison used a predetermined 24-question development subset, while the depth retrieval-selection diagnostic used the 128-question development packet. Do not pool the two studies or describe all 256 variants as independent entities. Automated review is not independent human semantic review.</a:t>
            </a:r>
          </a:p>
          <a:p xmlns:a="http://schemas.openxmlformats.org/drawingml/2006/main">
            <a:r>
              <a:t/>
            </a:r>
          </a:p>
          <a:p xmlns:a="http://schemas.openxmlformats.org/drawingml/2006/main">
            <a:r>
              <a:t>Visual cue</a:t>
            </a:r>
          </a:p>
          <a:p xmlns:a="http://schemas.openxmlformats.org/drawingml/2006/main">
            <a:r>
              <a:t>Explain a world, a lineage, a question and a generated request.</a:t>
            </a:r>
          </a:p>
          <a:p xmlns:a="http://schemas.openxmlformats.org/drawingml/2006/main">
            <a:r>
              <a:t/>
            </a:r>
          </a:p>
          <a:p xmlns:a="http://schemas.openxmlformats.org/drawingml/2006/main">
            <a:r>
              <a:t>Evidence</a:t>
            </a:r>
          </a:p>
          <a:p xmlns:a="http://schemas.openxmlformats.org/drawingml/2006/main">
            <a:r>
              <a:t>https://github.com/ShivamRaghav7/verity/blob/codex/reasonke-integration/docs/OPERATIONS_DATASET_CARD.md</a:t>
            </a:r>
          </a:p>
          <a:p xmlns:a="http://schemas.openxmlformats.org/drawingml/2006/main">
            <a:r>
              <a:t>https://github.com/ShivamRaghav7/verity/blob/codex/reasonke-integration/docs/DEPTH_DATASET_CARD.md</a:t>
            </a:r>
          </a:p>
          <a:p xmlns:a="http://schemas.openxmlformats.org/drawingml/2006/main">
            <a:r>
              <a:t>https://github.com/ShivamRaghav7/verity/blob/codex/reasonke-integration/data/reasonke/operations-v1/manifest.json</a:t>
            </a:r>
          </a:p>
          <a:p xmlns:a="http://schemas.openxmlformats.org/drawingml/2006/main">
            <a:r>
              <a:t>https://github.com/ShivamRaghav7/verity/blob/codex/reasonke-integration/data/reasonke/depth-v1/manifest.json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The original study has five main conditions: Reason-KE++ with initial facts, updated retrieval or full updated memory, and Qwen with updated retrieval or full updated memory. Every condition receives 256 questions. Both updated generators receive the same approved information and identical retrieved fact IDs, with compatible decoding budgets. Each model also answers sixteen preselected gold-support questions. The separate depth challenge has two iterative-retrieval conditions of 256 questions and sixteen oracle questions per model. That produces 1,312 original and 544 depth generations. Oracle diagnostics are smaller separate populations. The initial condition diagnoses staleness against updated truth.</a:t>
            </a:r>
          </a:p>
          <a:p xmlns:a="http://schemas.openxmlformats.org/drawingml/2006/main">
            <a:r>
              <a:t/>
            </a:r>
          </a:p>
          <a:p xmlns:a="http://schemas.openxmlformats.org/drawingml/2006/main">
            <a:r>
              <a:t>Technical detail</a:t>
            </a:r>
          </a:p>
          <a:p xmlns:a="http://schemas.openxmlformats.org/drawingml/2006/main">
            <a:r>
              <a:t>Qwen uses its official instruction chat template and explicit short-answer/UNKNOWN instructions; ReasonKE uses the updated-information format. Matched facts and budgets do not make Qwen a verified causal ablation of ReasonKE++ training. Full memory receives all nine current facts, so its failures are not caused by deliberately stale baselines. No parametric editing baseline was measured in these final studies. The original and depth protocols freeze sources, configurations, datasets and scoring before final inference.</a:t>
            </a:r>
          </a:p>
          <a:p xmlns:a="http://schemas.openxmlformats.org/drawingml/2006/main">
            <a:r>
              <a:t/>
            </a:r>
          </a:p>
          <a:p xmlns:a="http://schemas.openxmlformats.org/drawingml/2006/main">
            <a:r>
              <a:t>Visual cue</a:t>
            </a:r>
          </a:p>
          <a:p xmlns:a="http://schemas.openxmlformats.org/drawingml/2006/main">
            <a:r>
              <a:t>Read conditions across generators and context policies, then the distinct request totals.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https://github.com/ShivamRaghav7/verity/blob/codex/reasonke-integration/reports/reasonke/operations-final/protocol.json</a:t>
            </a:r>
          </a:p>
          <a:p xmlns:a="http://schemas.openxmlformats.org/drawingml/2006/main">
            <a:r>
              <a:t>https://github.com/ShivamRaghav7/verity/blob/codex/reasonke-integration/reports/reasonke/depth-final/protocol.json</a:t>
            </a:r>
          </a:p>
          <a:p xmlns:a="http://schemas.openxmlformats.org/drawingml/2006/main">
            <a:r>
              <a:t>https://github.com/ShivamRaghav7/verity/blob/codex/reasonke-integration/editguard_benchmark/models.py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Primary accuracy is the number of correct endorsed final answers divided by every assigned question. UNKNOWN, execution errors and unexecuted cases receive zero accuracy credit. Coverage separately measures how often the model answers. The frozen scorer matches the entire final span against reviewed controlled aliases for the requested subject and relation. Mentioning the target alongside extra owner text can therefore fail a request for only a person’s name. Preservation uses only locality questions the initial assistant already answered correctly. Factual locality accuracy uses all locality questions. Uncertainty resamples paired whole lineages, preserving correlations between their wording variants.</a:t>
            </a:r>
          </a:p>
          <a:p xmlns:a="http://schemas.openxmlformats.org/drawingml/2006/main">
            <a:r>
              <a:t/>
            </a:r>
          </a:p>
          <a:p xmlns:a="http://schemas.openxmlformats.org/drawingml/2006/main">
            <a:r>
              <a:t>Technical detail</a:t>
            </a:r>
          </a:p>
          <a:p xmlns:a="http://schemas.openxmlformats.org/drawingml/2006/main">
            <a:r>
              <a:t>The scorer performs NFKC, whitespace and case normalization and strips limited final punctuation/formatting. It is not a general semantic judge. Aliases were fixed before final inference and audited automatically. The bootstrap uses 10,000 draws, seed 42 and 32 lineages per study. It estimates variation under this controlled design, not real-world representativeness. A narrow false-edited-value metric captures fewer failures than all possible scope mistakes. Correct final text also does not certify the full reasoning trace.</a:t>
            </a:r>
          </a:p>
          <a:p xmlns:a="http://schemas.openxmlformats.org/drawingml/2006/main">
            <a:r>
              <a:t/>
            </a:r>
          </a:p>
          <a:p xmlns:a="http://schemas.openxmlformats.org/drawingml/2006/main">
            <a:r>
              <a:t>Visual cue</a:t>
            </a:r>
          </a:p>
          <a:p xmlns:a="http://schemas.openxmlformats.org/drawingml/2006/main">
            <a:r>
              <a:t>Use all assigned outcomes and keep preservation distinct from correctness.</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https://github.com/ShivamRaghav7/verity/blob/codex/reasonke-integration/editguard_benchmark/scoring.py</a:t>
            </a:r>
          </a:p>
          <a:p xmlns:a="http://schemas.openxmlformats.org/drawingml/2006/main">
            <a:r>
              <a:t>https://github.com/ShivamRaghav7/verity/blob/codex/reasonke-integration/editguard_benchmark/metrics.py</a:t>
            </a:r>
          </a:p>
          <a:p xmlns:a="http://schemas.openxmlformats.org/drawingml/2006/main">
            <a:r>
              <a:t>https://github.com/ShivamRaghav7/verity/blob/codex/reasonke-integration/editguard_depth/metrics.py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The complete original scorecard shows both success and failure. Updated retrieval gives Reason-KE++ 256 correct answers and Qwen 241, with fifteen abstentions. Full updated memory gives Reason-KE++ 231 and Qwen 241. Qwen’s full-memory condition has thirteen strict mismatches and two abstentions. Equal total accuracy can therefore hide different wrong-answer behavior. The retrieved-condition advantage is 5.86 percentage points, with a paired lineage interval from 3.91 to 8.20 points. All assigned requests completed. These results support the chosen bounded retrieval configuration and also show that Reason-KE++ did not win every context condition.</a:t>
            </a:r>
          </a:p>
          <a:p xmlns:a="http://schemas.openxmlformats.org/drawingml/2006/main">
            <a:r>
              <a:t/>
            </a:r>
          </a:p>
          <a:p xmlns:a="http://schemas.openxmlformats.org/drawingml/2006/main">
            <a:r>
              <a:t>Technical detail</a:t>
            </a:r>
          </a:p>
          <a:p xmlns:a="http://schemas.openxmlformats.org/drawingml/2006/main">
            <a:r>
              <a:t>R0 has 136/256 correct against updated truth, comprising 12/128 applicable and 124/128 locality questions. It is a staleness diagnostic, not original-handbook accuracy. Both oracle conditions have 16/16 on their separate subsets. Main outcomes sum to 256 per condition. G-RAG answered-only precision is 241/241, but its primary accuracy remains 241/256. G-ALL coverage is 254/256. Later diagnosis preserves all thirteen scored-wrong G-ALL outcomes even when extra text explains some strict failures.</a:t>
            </a:r>
          </a:p>
          <a:p xmlns:a="http://schemas.openxmlformats.org/drawingml/2006/main">
            <a:r>
              <a:t/>
            </a:r>
          </a:p>
          <a:p xmlns:a="http://schemas.openxmlformats.org/drawingml/2006/main">
            <a:r>
              <a:t>Visual cue</a:t>
            </a:r>
          </a:p>
          <a:p xmlns:a="http://schemas.openxmlformats.org/drawingml/2006/main">
            <a:r>
              <a:t>Read the stacked outcomes and each 256-question denominator.</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https://github.com/ShivamRaghav7/verity/blob/codex/reasonke-integration/reports/reasonke/operations-final/FAILURE_ANALYSIS.md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The separate depth packet gives sixty-four questions per group: locality, one hop, two hops and three hops. Reason-KE++ answers all sixty-four in every group. Qwen scores sixty-four, sixty-four, fifty-seven and sixty-three. Its eight remaining outcomes are UNKNOWN, not wrong nonabstaining answers or crashes. The overall difference is 3.125 percentage points, with a paired interval from 1.56 to 5.08. The three-hop difference is one answer and its interval includes zero. Depth alone does not explain the failures, because the wording constructions also change. This is an independent extension of the task, not a rerun of the original study.</a:t>
            </a:r>
          </a:p>
          <a:p xmlns:a="http://schemas.openxmlformats.org/drawingml/2006/main">
            <a:r>
              <a:t/>
            </a:r>
          </a:p>
          <a:p xmlns:a="http://schemas.openxmlformats.org/drawingml/2006/main">
            <a:r>
              <a:t>Technical detail</a:t>
            </a:r>
          </a:p>
          <a:p xmlns:a="http://schemas.openxmlformats.org/drawingml/2006/main">
            <a:r>
              <a:t>The depth main conditions each contain 256 assigned questions. Both sixteen-question oracle groups answered correctly, but none of the eight Qwen failure IDs belongs to that oracle subset. The interval for the three-hop difference is [0,4.6875] points. The 64 two-hop questions consist of 32 direct and 32 paraphrased questions. Qwen's seven two-hop failures are all direct questions in the same wording family; all 32 two-hop paraphrases are correct. No retries or prompt changes were made after inspecting the final failures.</a:t>
            </a:r>
          </a:p>
          <a:p xmlns:a="http://schemas.openxmlformats.org/drawingml/2006/main">
            <a:r>
              <a:t/>
            </a:r>
          </a:p>
          <a:p xmlns:a="http://schemas.openxmlformats.org/drawingml/2006/main">
            <a:r>
              <a:t>Visual cue</a:t>
            </a:r>
          </a:p>
          <a:p xmlns:a="http://schemas.openxmlformats.org/drawingml/2006/main">
            <a:r>
              <a:t>Read the group counts, then qualify the small three-hop difference.</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https://github.com/ShivamRaghav7/verity/blob/codex/reasonke-integration/reports/reasonke/depth-final/FAILURE_ANALYSIS.md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We inspected all twenty-five full-memory failures. Every one had the required support present, and every wrong final value exactly matched another supplied fact. Fifteen matched the Pro-service owner. The remaining cases matched another release’s owner, an unrelated city or region, or a contact. In the Garnet Relay case, the explanation explicitly names the Pro fact identifier while describing it as the requested service. In the Juniper Scheduler case, a correct owner appears as an intermediate boxed answer, but the model returns that owner’s contact as the team. These are observable association failures. They do not establish an internal attention or training defect.</a:t>
            </a:r>
          </a:p>
          <a:p xmlns:a="http://schemas.openxmlformats.org/drawingml/2006/main">
            <a:r>
              <a:t/>
            </a:r>
          </a:p>
          <a:p xmlns:a="http://schemas.openxmlformats.org/drawingml/2006/main">
            <a:r>
              <a:t>Technical detail</a:t>
            </a:r>
          </a:p>
          <a:p xmlns:a="http://schemas.openxmlformats.org/drawingml/2006/main">
            <a:r>
              <a:t>The exact supplied-value groups are 15 Pro owners, 3 release-2 owners, 3 unrelated office cities, 2 previous-owner contacts, 1 hosting region and 1 current-owner contact. Two wrong finals contain the correct expected value as an indexed boxed subanswer, under a conservative parser diagnostic. R-ALL has 16 edit-applicable and 9 locality errors. The separate audit regenerates these counts from raw ledgers without inference or rescoring. Retrieved ReasonKE++ answers these same main questions correctly, but that comparison changes context, not weights.</a:t>
            </a:r>
          </a:p>
          <a:p xmlns:a="http://schemas.openxmlformats.org/drawingml/2006/main">
            <a:r>
              <a:t/>
            </a:r>
          </a:p>
          <a:p xmlns:a="http://schemas.openxmlformats.org/drawingml/2006/main">
            <a:r>
              <a:t>Visual cue</a:t>
            </a:r>
          </a:p>
          <a:p xmlns:a="http://schemas.openxmlformats.org/drawingml/2006/main">
            <a:r>
              <a:t>Connect the output value to its actual supplied fact and requested identity.</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https://github.com/ShivamRaghav7/verity/blob/codex/reasonke-integration/reports/reasonke/operations-final/REASONKE_FAILURE_ANALYSIS.md</a:t>
            </a:r>
          </a:p>
          <a:p xmlns:a="http://schemas.openxmlformats.org/drawingml/2006/main">
            <a:r>
              <a:t>https://github.com/ShivamRaghav7/verity/blob/codex/reasonke-integration/output/presentation/analysis/failure-audit.json</a:t>
            </a:r>
          </a:p>
          <a:p xmlns:a="http://schemas.openxmlformats.org/drawingml/2006/main">
            <a:r>
              <a:t>https://github.com/ShivamRaghav7/verity/blob/codex/reasonke-integration/scripts/analyze_presentation_failures.py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The failure audit also explains Qwen’s different behaviors. In the original retrieved condition, all fifteen nonsuccesses are two-hop paraphrase abstentions despite complete support. In the depth test, seven of nine examples from one direct two-hop template abstain, while the other direct templates score twenty-three out of twenty-three. The final three-hop paraphrase also abstains. Full memory adds ten outputs matching an off-target fact, two correct owner-contact chains with unwanted extra text, and one contaminated owner-contact concatenation, plus two abstentions. We retain the frozen scores. These observations locate failures after support selection but do not prove a causal effect of wording or distractors.</a:t>
            </a:r>
          </a:p>
          <a:p xmlns:a="http://schemas.openxmlformats.org/drawingml/2006/main">
            <a:r>
              <a:t/>
            </a:r>
          </a:p>
          <a:p xmlns:a="http://schemas.openxmlformats.org/drawingml/2006/main">
            <a:r>
              <a:t>Technical detail</a:t>
            </a:r>
          </a:p>
          <a:p xmlns:a="http://schemas.openxmlformats.org/drawingml/2006/main">
            <a:r>
              <a:t>The supplementary ledger covers all 63 updated-method nonsuccesses across the two studies: 25 R-ALL, 15 operations G-RAG, 15 G-ALL and 8 depth G-RAG. Every record has complete required support and no token/time-budget flag. Two G-ALL outputs give the correct requested contact alongside its correct owning team and fail the person-only contract. Another combines the Pro owner and correct requested contact. Template concentration is descriptive after evaluation. The original oracle subset overlaps one operations G-RAG failure ID, while the depth oracle overlaps none of its eight failure IDs; neither is a full targeted recovery study.</a:t>
            </a:r>
          </a:p>
          <a:p xmlns:a="http://schemas.openxmlformats.org/drawingml/2006/main">
            <a:r>
              <a:t/>
            </a:r>
          </a:p>
          <a:p xmlns:a="http://schemas.openxmlformats.org/drawingml/2006/main">
            <a:r>
              <a:t>Visual cue</a:t>
            </a:r>
          </a:p>
          <a:p xmlns:a="http://schemas.openxmlformats.org/drawingml/2006/main">
            <a:r>
              <a:t>Distinguish abstention, incorrect fact association and strict answer-contract failure.</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https://github.com/ShivamRaghav7/verity/blob/codex/reasonke-integration/reports/reasonke/operations-final/FAILURE_ANALYSIS.md</a:t>
            </a:r>
          </a:p>
          <a:p xmlns:a="http://schemas.openxmlformats.org/drawingml/2006/main">
            <a:r>
              <a:t>https://github.com/ShivamRaghav7/verity/blob/codex/reasonke-integration/reports/reasonke/depth-final/FAILURE_ANALYSIS.md</a:t>
            </a:r>
          </a:p>
          <a:p xmlns:a="http://schemas.openxmlformats.org/drawingml/2006/main">
            <a:r>
              <a:t>https://github.com/ShivamRaghav7/verity/blob/codex/reasonke-integration/output/presentation/analysis/failure-ledger.csv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Retrieval success and answer success are separate measurements. The original shared selector supplies all 320 required fact occurrences and all sixty-four two-hop paths. The depth selector supplies all 448 occurrences and all 256 main paths. Both generators receive the same selected records, so this is not two independent retrieval studies. For original-study locality, retrieved Reason-KE++ preserves all 124 answers that the initial model already got right, and answers all 128 locality questions correctly. Full memory preserves 117 and answers 119 correctly. Preserving an initially wrong answer would not be factual correctness, which is why we report both denominators.</a:t>
            </a:r>
          </a:p>
          <a:p xmlns:a="http://schemas.openxmlformats.org/drawingml/2006/main">
            <a:r>
              <a:t/>
            </a:r>
          </a:p>
          <a:p xmlns:a="http://schemas.openxmlformats.org/drawingml/2006/main">
            <a:r>
              <a:t>Technical detail</a:t>
            </a:r>
          </a:p>
          <a:p xmlns:a="http://schemas.openxmlformats.org/drawingml/2006/main">
            <a:r>
              <a:t>The full-memory condition loses seven R0-correct locality answers but fixes two of the four R0-incorrect locality answers. The narrow false-edited-value endorsement count is 3/128 for full-memory ReasonKE versus 0/128 retrieved, while full memory has nine locality errors overall. The separate depth study has no initial-base condition, so it reports 64/64 locality correctness per model but does not independently estimate baseline-correct preservation. A complete labelled path in a small world does not guarantee large-memory retrieval performance.</a:t>
            </a:r>
          </a:p>
          <a:p xmlns:a="http://schemas.openxmlformats.org/drawingml/2006/main">
            <a:r>
              <a:t/>
            </a:r>
          </a:p>
          <a:p xmlns:a="http://schemas.openxmlformats.org/drawingml/2006/main">
            <a:r>
              <a:t>Visual cue</a:t>
            </a:r>
          </a:p>
          <a:p xmlns:a="http://schemas.openxmlformats.org/drawingml/2006/main">
            <a:r>
              <a:t>Explain each chart denominator before comparing percentages.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https://github.com/ShivamRaghav7/verity/blob/codex/reasonke-integration/reports/reasonke/operations-final/REASONKE_FAILURE_ANALYSIS.md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Higher observed coverage has a substantial latency cost. In the original retrieved conditions, Reason-KE++ has a median pipeline time of 15.06 seconds versus Qwen’s 0.92. In the depth study, the medians are 15.94 and 1.12 seconds, with 95th percentiles of 19.28 and 1.38 seconds. All 256 generated requests per condition contribute, including Qwen abstentions. Our saved-token audit also shows much longer Reason-KE++ outputs: median 204 versus 5.5 tokens originally and 212 versus six in the depth study. These are configured system measurements, not normalized compute comparisons or a causal isolation of model architecture.</a:t>
            </a:r>
          </a:p>
          <a:p xmlns:a="http://schemas.openxmlformats.org/drawingml/2006/main">
            <a:r>
              <a:t/>
            </a:r>
          </a:p>
          <a:p xmlns:a="http://schemas.openxmlformats.org/drawingml/2006/main">
            <a:r>
              <a:t>Technical detail</a:t>
            </a:r>
          </a:p>
          <a:p xmlns:a="http://schemas.openxmlformats.org/drawingml/2006/main">
            <a:r>
              <a:t>Latency includes context selection, local IPC and generation. It excludes loading, downloads and the browser/network round trip. The token-count difference is consistent with explicit generated reasoning versus short direct answers, but does not by itself decompose the latency cause. Original median-quantile ratio is approximately 16.43 and the depth ratio is approximately 14.24. These are ratios of reported quantiles, not paired per-request speedups. The India HTTP workload measures a different mixed request population, including a two-generation comparison.</a:t>
            </a:r>
          </a:p>
          <a:p xmlns:a="http://schemas.openxmlformats.org/drawingml/2006/main">
            <a:r>
              <a:t/>
            </a:r>
          </a:p>
          <a:p xmlns:a="http://schemas.openxmlformats.org/drawingml/2006/main">
            <a:r>
              <a:t>Visual cue</a:t>
            </a:r>
          </a:p>
          <a:p xmlns:a="http://schemas.openxmlformats.org/drawingml/2006/main">
            <a:r>
              <a:t>Read accuracy and latency together, then explain the timing boundary.</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product exposes these mechanisms through a usable workflow. This genuine Verity capture shows the active Bengaluru ownership fact beside a Pune replacement draft, with scope and source fields. Drafting alone does not activate a correction. The operator must approve the replacement and name the predecessor. The library keeps a canonical identity, source and version for inspection. The screenshot workspace restores the audited demonstration receipt rather than issuing new model calls. Our model worker was offline during capture, and the interface reports that state honestly. The editor remains useful for inspecting governed memory independently of inference readiness.</a:t>
            </a:r>
          </a:p>
          <a:p xmlns:a="http://schemas.openxmlformats.org/drawingml/2006/main">
            <a:r>
              <a:t/>
            </a:r>
          </a:p>
          <a:p xmlns:a="http://schemas.openxmlformats.org/drawingml/2006/main">
            <a:r>
              <a:t>Technical detail</a:t>
            </a:r>
          </a:p>
          <a:p xmlns:a="http://schemas.openxmlformats.org/drawingml/2006/main">
            <a:r>
              <a:t>The image is an unedited full-viewport website capture. It shows a browser-local draft against restored r11 state. No approval was performed for screenshot creation. The source is a controlled fictional handbook, not an external assertion about a real payment company. The application uses a local research-operator workflow rather than hosted role-based multi-user administration. Customer chat text never silently publishes authoritative knowledge.</a:t>
            </a:r>
          </a:p>
          <a:p xmlns:a="http://schemas.openxmlformats.org/drawingml/2006/main">
            <a:r>
              <a:t/>
            </a:r>
          </a:p>
          <a:p xmlns:a="http://schemas.openxmlformats.org/drawingml/2006/main">
            <a:r>
              <a:t>Visual cue</a:t>
            </a:r>
          </a:p>
          <a:p xmlns:a="http://schemas.openxmlformats.org/drawingml/2006/main">
            <a:r>
              <a:t>Show the active answer, replacement draft, scope and source.</a:t>
            </a:r>
          </a:p>
          <a:p xmlns:a="http://schemas.openxmlformats.org/drawingml/2006/main">
            <a:r>
              <a:t/>
            </a:r>
          </a:p>
          <a:p xmlns:a="http://schemas.openxmlformats.org/drawingml/2006/main">
            <a:r>
              <a:t>Evidence</a:t>
            </a:r>
          </a:p>
          <a:p xmlns:a="http://schemas.openxmlformats.org/drawingml/2006/main">
            <a:r>
              <a:t>https://github.com/ShivamRaghav7/verity/blob/codex/reasonke-integration/output/presentation/screenshots/provenance.json</a:t>
            </a:r>
          </a:p>
          <a:p xmlns:a="http://schemas.openxmlformats.org/drawingml/2006/main">
            <a:r>
              <a:t>https://github.com/ShivamRaghav7/verity/blob/codex/reasonke-integration/scripts/prepare_verity_screenshot_workspace.py</a:t>
            </a:r>
          </a:p>
          <a:p xmlns:a="http://schemas.openxmlformats.org/drawingml/2006/main">
            <a:r>
              <a:t>https://github.com/ShivamRaghav7/verity/blob/codex/reasonke-integration/editguard_chat/static/app.js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history view shows why reversal is more than changing a textbox. Revision ten contains both publication of the replacement and supersession of the predecessor. Revision eleven contains withdrawal of the replacement and restoration of the predecessor. The same revision labels demonstrate the atomic event pairs. In the actual India acceptance workload, fourteen neural answers matched their targets and twelve consistency checks passed. It exercised corrected questions, unchanged scopes, conflict rejection, historical comparison and rollback. Those results cover one fictional display lineage and remain separate from held-out accuracy. The screenshot displays restored saved state, not a new live rollback execution.</a:t>
            </a:r>
          </a:p>
          <a:p xmlns:a="http://schemas.openxmlformats.org/drawingml/2006/main">
            <a:r>
              <a:t/>
            </a:r>
          </a:p>
          <a:p xmlns:a="http://schemas.openxmlformats.org/drawingml/2006/main">
            <a:r>
              <a:t>Technical detail</a:t>
            </a:r>
          </a:p>
          <a:p xmlns:a="http://schemas.openxmlformats.org/drawingml/2006/main">
            <a:r>
              <a:t>Thirteen HTTP generation requests produce fourteen model answers because one comparison invokes generation twice. HTTP p50/p95 is 17.11/33.39 seconds over those thirteen mixed requests, not per-answer latency. The acceptance receipt and host audit retain exact request/response state and provenance. A new rollback demonstration requires a running worker for the fresh follow-up answers; historical SQLite state inspection itself does not require the GPU.</a:t>
            </a:r>
          </a:p>
          <a:p xmlns:a="http://schemas.openxmlformats.org/drawingml/2006/main">
            <a:r>
              <a:t/>
            </a:r>
          </a:p>
          <a:p xmlns:a="http://schemas.openxmlformats.org/drawingml/2006/main">
            <a:r>
              <a:t>Visual cue</a:t>
            </a:r>
          </a:p>
          <a:p xmlns:a="http://schemas.openxmlformats.org/drawingml/2006/main">
            <a:r>
              <a:t>Identify both events at r10 and both at r11, then state the separate acceptance population.</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https://github.com/ShivamRaghav7/verity/blob/codex/reasonke-integration/reports/reasonke/depth-final/india-acceptance.json</a:t>
            </a:r>
          </a:p>
          <a:p xmlns:a="http://schemas.openxmlformats.org/drawingml/2006/main">
            <a:r>
              <a:t>https://github.com/ShivamRaghav7/verity/blob/codex/reasonke-integration/reports/reasonke/depth-final/india-host-audit.json</a:t>
            </a:r>
          </a:p>
          <a:p xmlns:a="http://schemas.openxmlformats.org/drawingml/2006/main">
            <a:r>
              <a:t>https://github.com/ShivamRaghav7/verity/blob/codex/reasonke-integration/output/presentation/screenshots/technical-v2/provenance.json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chat capture displays an actual saved Hyderabad answer generated at revision ten. The top bar reports that current memory is revision eleven. Those labels can differ correctly: rollback changes future context and does not rewrite historical messages. Each response retains the supplied fact records and its own revision, so we can inspect what produced that answer. A fresh query after rollback should use the restored Chennai path. Historical comparison generates two new responses from matched history. The screenshot is explicitly recorded evidence, and no new generation occurred while making the slides.</a:t>
            </a:r>
          </a:p>
          <a:p xmlns:a="http://schemas.openxmlformats.org/drawingml/2006/main">
            <a:r>
              <a:t/>
            </a:r>
          </a:p>
          <a:p xmlns:a="http://schemas.openxmlformats.org/drawingml/2006/main">
            <a:r>
              <a:t>Technical detail</a:t>
            </a:r>
          </a:p>
          <a:p xmlns:a="http://schemas.openxmlformats.org/drawingml/2006/main">
            <a:r>
              <a:t>The selected conversation is Recorded: edited three hop, from the published generate_edited_three_hop operation. The saved answer evidence identifies r10 and the Pune/Arjun/Hyderabad chain. The restored screenshot workspace is r11. A displayed historical message is not a cache used for new answers. Without an available worker, send is disabled and no deterministic target substitutes for model output. The original acceptance receipt contains the actual fresh post-rollback Chennai answer separately.</a:t>
            </a:r>
          </a:p>
          <a:p xmlns:a="http://schemas.openxmlformats.org/drawingml/2006/main">
            <a:r>
              <a:t/>
            </a:r>
          </a:p>
          <a:p xmlns:a="http://schemas.openxmlformats.org/drawingml/2006/main">
            <a:r>
              <a:t>Visual cue</a:t>
            </a:r>
          </a:p>
          <a:p xmlns:a="http://schemas.openxmlformats.org/drawingml/2006/main">
            <a:r>
              <a:t>Contrast the answer’s r10 badge with current r11 memory.</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https://github.com/ShivamRaghav7/verity/blob/codex/reasonke-integration/reports/reasonke/depth-final/india-acceptance.json</a:t>
            </a:r>
          </a:p>
          <a:p xmlns:a="http://schemas.openxmlformats.org/drawingml/2006/main">
            <a:r>
              <a:t>https://github.com/ShivamRaghav7/verity/blob/codex/reasonke-integration/output/presentation/screenshots/technical-v2/provenance.json</a:t>
            </a:r>
          </a:p>
          <a:p xmlns:a="http://schemas.openxmlformats.org/drawingml/2006/main">
            <a:r>
              <a:t>https://github.com/ShivamRaghav7/verity/blob/codex/reasonke-integration/editguard_chat/server.py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results explorer keeps the evaluation inspectable. Here it filters the twenty-five full-memory Reason-KE++ wrong answers and expands a release-scope failure. The interface shows the expected answer, generated final text, requested canonical identity, supplied facts and raw output. Filtering changes the view, never the scoring denominator. Users can switch between the original and depth studies and export scorecards, figures and raw evidence. This connects aggregate graphs to individual failures instead of displaying only a perfect headline score. The capture uses released saved records and requires no fresh GPU inference.</a:t>
            </a:r>
          </a:p>
          <a:p xmlns:a="http://schemas.openxmlformats.org/drawingml/2006/main">
            <a:r>
              <a:t/>
            </a:r>
          </a:p>
          <a:p xmlns:a="http://schemas.openxmlformats.org/drawingml/2006/main">
            <a:r>
              <a:t>Technical detail</a:t>
            </a:r>
          </a:p>
          <a:p xmlns:a="http://schemas.openxmlformats.org/drawingml/2006/main">
            <a:r>
              <a:t>The expanded case asks Beryl Relay release 1, expects Willow unit 192 and endorses Amber unit 72, the release-2 owner. The app retains the raw model revision, prompt digest and pipeline latency. Explanatory prose remains labelled unverified. The screenshot captures the real frontend, including its Verity branding and offline worker state. The underlying frozen raw files and scoring rules are unchanged by this presentation or its post-hoc audit.</a:t>
            </a:r>
          </a:p>
          <a:p xmlns:a="http://schemas.openxmlformats.org/drawingml/2006/main">
            <a:r>
              <a:t/>
            </a:r>
          </a:p>
          <a:p xmlns:a="http://schemas.openxmlformats.org/drawingml/2006/main">
            <a:r>
              <a:t>Visual cue</a:t>
            </a:r>
          </a:p>
          <a:p xmlns:a="http://schemas.openxmlformats.org/drawingml/2006/main">
            <a:r>
              <a:t>Move from the aggregate outcome to expected, actual and supplied facts.</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https://github.com/ShivamRaghav7/verity/blob/codex/reasonke-integration/editguard_chat/results.py</a:t>
            </a:r>
          </a:p>
          <a:p xmlns:a="http://schemas.openxmlformats.org/drawingml/2006/main">
            <a:r>
              <a:t>https://github.com/ShivamRaghav7/verity/blob/codex/reasonke-integration/output/presentation/screenshots/technical-v2/provenance.json</a:t>
            </a:r>
          </a:p>
          <a:p xmlns:a="http://schemas.openxmlformats.org/drawingml/2006/main">
            <a:r>
              <a:t>https://github.com/ShivamRaghav7/verity/blob/codex/reasonke-integration/reports/reasonke/operations-final/final-reasonke.json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Our contribution is the system and the evidence around the reasoner. We implemented governed fact memory, canonical identity, conflict and rollback transactions, revision-safe conversation handling and the private serving boundary. We adapted bounded retrieval, authored independent controlled datasets and built matched finite evaluation with complete ledgers. Protocol hashes, atomic receipts and host audits make the results replayable. Resume executes only unexecuted records under the same identities and preserves completed outcomes. The website, container, CI, data cards, reports and demonstration make that core usable and reviewable. The new failure ledger adds a reproducible description of every updated-method nonsuccess.</a:t>
            </a:r>
          </a:p>
          <a:p xmlns:a="http://schemas.openxmlformats.org/drawingml/2006/main">
            <a:r>
              <a:t/>
            </a:r>
          </a:p>
          <a:p xmlns:a="http://schemas.openxmlformats.org/drawingml/2006/main">
            <a:r>
              <a:t>Technical detail</a:t>
            </a:r>
          </a:p>
          <a:p xmlns:a="http://schemas.openxmlformats.org/drawingml/2006/main">
            <a:r>
              <a:t>The current runtime loads published weights rather than reproducing multi-GPU training. Earlier auxiliary-model training remains a separate archived experiment and is not the source of current ReasonKE++ metrics. Source/data/configuration identity checks protect resume. Saved depth checkpoints at 174,197,235 and 247 records agree with the completed ledger. Software regression tests, neural accuracy, mechanical evidence audits and resource measurements have distinct purposes. A hash protects recorded identity, not semantic truth or independent human review.</a:t>
            </a:r>
          </a:p>
          <a:p xmlns:a="http://schemas.openxmlformats.org/drawingml/2006/main">
            <a:r>
              <a:t/>
            </a:r>
          </a:p>
          <a:p xmlns:a="http://schemas.openxmlformats.org/drawingml/2006/main">
            <a:r>
              <a:t>Visual cue</a:t>
            </a:r>
          </a:p>
          <a:p xmlns:a="http://schemas.openxmlformats.org/drawingml/2006/main">
            <a:r>
              <a:t>Name concrete artifacts and explain what reproducibility checks establish.</a:t>
            </a:r>
          </a:p>
          <a:p xmlns:a="http://schemas.openxmlformats.org/drawingml/2006/main">
            <a:r>
              <a:t/>
            </a:r>
          </a:p>
          <a:p xmlns:a="http://schemas.openxmlformats.org/drawingml/2006/main">
            <a:r>
              <a:t>Evidence</a:t>
            </a:r>
          </a:p>
          <a:p xmlns:a="http://schemas.openxmlformats.org/drawingml/2006/main">
            <a:r>
              <a:t>https://github.com/ShivamRaghav7/verity/blob/codex/reasonke-integration/docs/CONTRIBUTIONS_AND_EVIDENCE.md</a:t>
            </a:r>
          </a:p>
          <a:p xmlns:a="http://schemas.openxmlformats.org/drawingml/2006/main">
            <a:r>
              <a:t>https://github.com/ShivamRaghav7/verity/blob/codex/reasonke-integration/reports/reasonke/depth-final/resume-audit.json</a:t>
            </a:r>
          </a:p>
          <a:p xmlns:a="http://schemas.openxmlformats.org/drawingml/2006/main">
            <a:r>
              <a:t>https://github.com/ShivamRaghav7/verity/blob/codex/reasonke-integration/.github/workflows/ci.yml</a:t>
            </a:r>
          </a:p>
          <a:p xmlns:a="http://schemas.openxmlformats.org/drawingml/2006/main">
            <a:r>
              <a:t>https://github.com/ShivamRaghav7/verity/blob/codex/reasonke-integration/Dockerfile.chat</a:t>
            </a:r>
          </a:p>
          <a:p xmlns:a="http://schemas.openxmlformats.org/drawingml/2006/main">
            <a:r>
              <a:t>https://github.com/ShivamRaghav7/verity/blob/codex/reasonke-integration/scripts/analyze_presentation_failures.py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We set out to make approved factual changes transfer across connected questions while preserving scoped knowledge and supporting reversal. The implemented platform provides that workflow, and the frozen retrieved configurations answered 256 of 256 questions in each controlled study. The matched Qwen conditions answered 241 and 248, while responding substantially faster. Full-memory failures show why context selection matters, and recorded rollback acceptance establishes operational consistency separately. The conclusion is definite but bounded: this is a functioning, auditable editing platform with strong results on its defined task. Larger memories, ambiguous scopes, unfamiliar operational language and fully faithful explanations are not established by these tests.</a:t>
            </a:r>
          </a:p>
          <a:p xmlns:a="http://schemas.openxmlformats.org/drawingml/2006/main">
            <a:r>
              <a:t/>
            </a:r>
          </a:p>
          <a:p xmlns:a="http://schemas.openxmlformats.org/drawingml/2006/main">
            <a:r>
              <a:t>Technical detail</a:t>
            </a:r>
          </a:p>
          <a:p xmlns:a="http://schemas.openxmlformats.org/drawingml/2006/main">
            <a:r>
              <a:t>A perfect observed score remains plausible in a small explicit fact world with complete support, short aliases and repeated templates. Each study has only 32 final lineages and automated label review. The result is not 512 independent worlds, a general-chat benchmark or an unrestricted three-hop guarantee. Single-operator deployment, lexical scope matching and absent calibrated confidence are material limits. The principal observed tradeoff is greater answer coverage at higher generation latency. No missing training or test-loss plots are invented for an inference-integration project.</a:t>
            </a:r>
          </a:p>
          <a:p xmlns:a="http://schemas.openxmlformats.org/drawingml/2006/main">
            <a:r>
              <a:t/>
            </a:r>
          </a:p>
          <a:p xmlns:a="http://schemas.openxmlformats.org/drawingml/2006/main">
            <a:r>
              <a:t>Visual cue</a:t>
            </a:r>
          </a:p>
          <a:p xmlns:a="http://schemas.openxmlformats.org/drawingml/2006/main">
            <a:r>
              <a:t>Close with the achieved contract, the accuracy–latency cost and the actual limits.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https://github.com/ShivamRaghav7/verity/blob/codex/reasonke-integration/reports/reasonke/depth-final/india-host-audit.json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(optional backup)</a:t>
            </a:r>
          </a:p>
          <a:p xmlns:a="http://schemas.openxmlformats.org/drawingml/2006/main">
            <a:r>
              <a:t/>
            </a:r>
          </a:p>
          <a:p xmlns:a="http://schemas.openxmlformats.org/drawingml/2006/main">
            <a:r>
              <a:t>PPO compares the current policy’s token probabilities with the previous policy through a likelihood ratio. The clipped objective prevents an estimated advantage from rewarding arbitrarily large probability changes. The reference configuration includes a critic, vLLM rollouts and KL control. The paper expresses a normalized blend of process and outcome rewards, while the pinned released code adds those components. At alpha one half the sum has the same weighting but twice the scale. That difference matters for reproduction claims. Our deployment does not run PPO, and the released checkpoint’s complete training history is not established by these example scripts.</a:t>
            </a:r>
          </a:p>
          <a:p xmlns:a="http://schemas.openxmlformats.org/drawingml/2006/main">
            <a:r>
              <a:t/>
            </a:r>
          </a:p>
          <a:p xmlns:a="http://schemas.openxmlformats.org/drawingml/2006/main">
            <a:r>
              <a:t>Technical detail</a:t>
            </a:r>
          </a:p>
          <a:p xmlns:a="http://schemas.openxmlformats.org/drawingml/2006/main">
            <a:r>
              <a:t>The official SFT launcher specifies 10 epochs, learning rate 1e-5, cosine schedule and eight GPU processes. The PPO launcher specifies actor 1e-6, critic 1e-5, KL coefficient 0.001 and 15 epochs. These are published reference settings, not our measured training resources or completed runs. The collator fallback and reward-scale difference are reproducibility caveats. The paper's training hardware/time is not an estimate for the T4. The policy-ratio/advantage formula is the standard clipped surrogate, not a complete accounting of critic and entropy losses.</a:t>
            </a:r>
          </a:p>
          <a:p xmlns:a="http://schemas.openxmlformats.org/drawingml/2006/main">
            <a:r>
              <a:t/>
            </a:r>
          </a:p>
          <a:p xmlns:a="http://schemas.openxmlformats.org/drawingml/2006/main">
            <a:r>
              <a:t>Visual cue</a:t>
            </a:r>
          </a:p>
          <a:p xmlns:a="http://schemas.openxmlformats.org/drawingml/2006/main">
            <a:r>
              <a:t>Use only if asked about PPO or faithful reproduction.</a:t>
            </a:r>
          </a:p>
          <a:p xmlns:a="http://schemas.openxmlformats.org/drawingml/2006/main">
            <a:r>
              <a:t/>
            </a:r>
          </a:p>
          <a:p xmlns:a="http://schemas.openxmlformats.org/drawingml/2006/main">
            <a:r>
              <a:t>Evidence</a:t>
            </a:r>
          </a:p>
          <a:p xmlns:a="http://schemas.openxmlformats.org/drawingml/2006/main">
            <a:r>
              <a:t>https://aclanthology.org/2026.findings-acl.1137/</a:t>
            </a:r>
          </a:p>
          <a:p xmlns:a="http://schemas.openxmlformats.org/drawingml/2006/main">
            <a:r>
              <a:t>https://github.com/YukinoshitaKaren/Reason-KE/blob/d515c6ac5ec747029484af65103a6270fa693058/ReasonKE%2B%2B/train/sft.py</a:t>
            </a:r>
          </a:p>
          <a:p xmlns:a="http://schemas.openxmlformats.org/drawingml/2006/main">
            <a:r>
              <a:t>https://github.com/YukinoshitaKaren/Reason-KE/blob/d515c6ac5ec747029484af65103a6270fa693058/ReasonKE%2B%2B/train/sft.sh</a:t>
            </a:r>
          </a:p>
          <a:p xmlns:a="http://schemas.openxmlformats.org/drawingml/2006/main">
            <a:r>
              <a:t>https://github.com/YukinoshitaKaren/Reason-KE/blob/d515c6ac5ec747029484af65103a6270fa693058/ReasonKE%2B%2B/verl/reasonke.sh</a:t>
            </a:r>
          </a:p>
          <a:p xmlns:a="http://schemas.openxmlformats.org/drawingml/2006/main">
            <a:r>
              <a:t>https://github.com/YukinoshitaKaren/Reason-KE/blob/d515c6ac5ec747029484af65103a6270fa693058/ReasonKE%2B%2B/verl/verl/utils/reward_score/my_reward.py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(optional backup)</a:t>
            </a:r>
          </a:p>
          <a:p xmlns:a="http://schemas.openxmlformats.org/drawingml/2006/main">
            <a:r>
              <a:t/>
            </a:r>
          </a:p>
          <a:p xmlns:a="http://schemas.openxmlformats.org/drawingml/2006/main">
            <a:r>
              <a:t>This backup distinguishes final-answer strictness from factual association. In two Qwen full-memory cases, the output contains the correct owning team and requested contact, but violates the instruction to give only the contact name. Another concatenation combines a Pro-service owner with the correct contact, so its additional text is also factually contaminated. All retain their original wrong scores. Similarly, a correct intermediate boxed answer can coexist with a wrong final answer. The failure ledger retains every case and its evidence, so the panel can inspect these distinctions without replacing the frozen metric with a post-hoc success score.</a:t>
            </a:r>
          </a:p>
          <a:p xmlns:a="http://schemas.openxmlformats.org/drawingml/2006/main">
            <a:r>
              <a:t/>
            </a:r>
          </a:p>
          <a:p xmlns:a="http://schemas.openxmlformats.org/drawingml/2006/main">
            <a:r>
              <a:t>Technical detail</a:t>
            </a:r>
          </a:p>
          <a:p xmlns:a="http://schemas.openxmlformats.org/drawingml/2006/main">
            <a:r>
              <a:t>The compatible concatenations are ops-045 and ops-047 two_hop_paraphrase. The contaminated concatenation is ops-005. The new parser finds two R-ALL wrong-final records containing the expected value in an action-section boxed answer; this is a narrow text diagnostic and not a semantic certification of the trace. Twenty-three operations/depth retrieved Qwen abstentions remain literal UNKNOWN. Together with two G-ALL abstentions, the updated-method ledger has 25 abstentions and 38 strict mismatches. The unchanged-base R0 diagnostic is excluded from that failure cohort.</a:t>
            </a:r>
          </a:p>
          <a:p xmlns:a="http://schemas.openxmlformats.org/drawingml/2006/main">
            <a:r>
              <a:t/>
            </a:r>
          </a:p>
          <a:p xmlns:a="http://schemas.openxmlformats.org/drawingml/2006/main">
            <a:r>
              <a:t>Visual cue</a:t>
            </a:r>
          </a:p>
          <a:p xmlns:a="http://schemas.openxmlformats.org/drawingml/2006/main">
            <a:r>
              <a:t>Keep contract violations, false associations and explanation quality distinct.</a:t>
            </a:r>
          </a:p>
          <a:p xmlns:a="http://schemas.openxmlformats.org/drawingml/2006/main">
            <a:r>
              <a:t/>
            </a:r>
          </a:p>
          <a:p xmlns:a="http://schemas.openxmlformats.org/drawingml/2006/main">
            <a:r>
              <a:t>Evidence</a:t>
            </a:r>
          </a:p>
          <a:p xmlns:a="http://schemas.openxmlformats.org/drawingml/2006/main">
            <a:r>
              <a:t>https://github.com/ShivamRaghav7/verity/blob/codex/reasonke-integration/output/presentation/analysis/failure-ledger.csv</a:t>
            </a:r>
          </a:p>
          <a:p xmlns:a="http://schemas.openxmlformats.org/drawingml/2006/main">
            <a:r>
              <a:t>https://github.com/ShivamRaghav7/verity/blob/codex/reasonke-integration/output/presentation/analysis/failure-audit.json</a:t>
            </a:r>
          </a:p>
          <a:p xmlns:a="http://schemas.openxmlformats.org/drawingml/2006/main">
            <a:r>
              <a:t>https://github.com/ShivamRaghav7/verity/blob/codex/reasonke-integration/reports/reasonke/operations-final/FAILURE_ANALYSIS.md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(optional backup)</a:t>
            </a:r>
          </a:p>
          <a:p xmlns:a="http://schemas.openxmlformats.org/drawingml/2006/main">
            <a:r>
              <a:t/>
            </a:r>
          </a:p>
          <a:p xmlns:a="http://schemas.openxmlformats.org/drawingml/2006/main">
            <a:r>
              <a:t>Every major claim has a concrete artifact. Model manifests identify exact revisions and budgets. Dataset manifests and frozen protocols bind the task. Raw ledgers retain all assigned outputs, supports and resources. Host replay recomputes extraction and scoring. Derived reports and chart workbooks expose the displayed values. The application acceptance receipt covers real HTTP generations and revision consistency separately. Our supplemental failure audit and screenshot provenance add no new model observations. This evidence chain is how another team member can reproduce the analysis and defend a result without relying only on a slide headline.</a:t>
            </a:r>
          </a:p>
          <a:p xmlns:a="http://schemas.openxmlformats.org/drawingml/2006/main">
            <a:r>
              <a:t/>
            </a:r>
          </a:p>
          <a:p xmlns:a="http://schemas.openxmlformats.org/drawingml/2006/main">
            <a:r>
              <a:t>Technical detail</a:t>
            </a:r>
          </a:p>
          <a:p xmlns:a="http://schemas.openxmlformats.org/drawingml/2006/main">
            <a:r>
              <a:t>The current code and protocol sources must retain their recorded hashes. Presentation edits affect documentation and analysis outputs, not the frozen model/data/scoring files. The code checkout should use the version recorded with each protocol. CI and container definitions are reproducibility infrastructure, not proof of enterprise security or throughput. A generated answer with retrieved sources is still model output. The missing checkpoint README does not justify assigning the paper's headline benchmark score to the exact deployed revision.</a:t>
            </a:r>
          </a:p>
          <a:p xmlns:a="http://schemas.openxmlformats.org/drawingml/2006/main">
            <a:r>
              <a:t/>
            </a:r>
          </a:p>
          <a:p xmlns:a="http://schemas.openxmlformats.org/drawingml/2006/main">
            <a:r>
              <a:t>Visual cue</a:t>
            </a:r>
          </a:p>
          <a:p xmlns:a="http://schemas.openxmlformats.org/drawingml/2006/main">
            <a:r>
              <a:t>Find the artifact that supports the question being asked.</a:t>
            </a:r>
          </a:p>
          <a:p xmlns:a="http://schemas.openxmlformats.org/drawingml/2006/main">
            <a:r>
              <a:t/>
            </a:r>
          </a:p>
          <a:p xmlns:a="http://schemas.openxmlformats.org/drawingml/2006/main">
            <a:r>
              <a:t>Evidence</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https://github.com/ShivamRaghav7/verity/blob/codex/reasonke-integration/reports/reasonke/operations-final/protocol.json</a:t>
            </a:r>
          </a:p>
          <a:p xmlns:a="http://schemas.openxmlformats.org/drawingml/2006/main">
            <a:r>
              <a:t>https://github.com/ShivamRaghav7/verity/blob/codex/reasonke-integration/reports/reasonke/depth-final/protocol.json</a:t>
            </a:r>
          </a:p>
          <a:p xmlns:a="http://schemas.openxmlformats.org/drawingml/2006/main">
            <a:r>
              <a:t>https://github.com/ShivamRaghav7/verity/blob/codex/reasonke-integration/reports/reasonke/depth-final/india-acceptance.json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c082da29742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756854171e45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d058baea4d4d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01bef44d944c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8848721b894b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7cee4da4c843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5AF26B-EE20-499A-AA25-23CC798438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3EA699-E1ED-4CD6-918C-6D6AB6465A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9F73D3-D44E-42B8-AE29-4EF1539CE2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176A22-0F55-4012-A1E0-8DE219A22B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F48DFF-8C72-46D2-9691-A8EFADBD3C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38F64C-F295-4044-8878-45A0051DDE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F06DD-091A-415C-AE54-7E2AA320D0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9C23F4-BCE9-490B-921E-08627145C5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7DF735-AFD0-41F0-BFD5-E5D28AAF9D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4325D7-F2CB-4F7A-9DCE-7599E2AFA7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cd59ff5e044f9a" /><Relationship Type="http://schemas.openxmlformats.org/officeDocument/2006/relationships/slideLayout" Target="/ppt/slideLayouts/slideLayout1.xml" Id="Rd9a94ff23e8d45f1" /><Relationship Type="http://schemas.openxmlformats.org/officeDocument/2006/relationships/slideLayout" Target="/ppt/slideLayouts/slideLayout2.xml" Id="R713c35f81d0a46a3" /><Relationship Type="http://schemas.openxmlformats.org/officeDocument/2006/relationships/slideLayout" Target="/ppt/slideLayouts/slideLayout3.xml" Id="R776d61bbdf294f6f" /><Relationship Type="http://schemas.openxmlformats.org/officeDocument/2006/relationships/slideLayout" Target="/ppt/slideLayouts/slideLayout4.xml" Id="Ra8679afea4da498e" /><Relationship Type="http://schemas.openxmlformats.org/officeDocument/2006/relationships/slideLayout" Target="/ppt/slideLayouts/slideLayout5.xml" Id="R7cd21f2353d849cc" /><Relationship Type="http://schemas.openxmlformats.org/officeDocument/2006/relationships/slideLayout" Target="/ppt/slideLayouts/slideLayout6.xml" Id="R149f6364eaa0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a94ff23e8d45f1"/>
    <p:sldLayoutId xmlns:r="http://schemas.openxmlformats.org/officeDocument/2006/relationships" id="2147483650" r:id="R713c35f81d0a46a3"/>
    <p:sldLayoutId xmlns:r="http://schemas.openxmlformats.org/officeDocument/2006/relationships" id="2147483651" r:id="R776d61bbdf294f6f"/>
    <p:sldLayoutId xmlns:r="http://schemas.openxmlformats.org/officeDocument/2006/relationships" id="2147483652" r:id="Ra8679afea4da498e"/>
    <p:sldLayoutId xmlns:r="http://schemas.openxmlformats.org/officeDocument/2006/relationships" id="2147483653" r:id="R7cd21f2353d849cc"/>
    <p:sldLayoutId xmlns:r="http://schemas.openxmlformats.org/officeDocument/2006/relationships" id="2147483654" r:id="R149f6364eaa0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36392e3b0e4974" /><Relationship Type="http://schemas.openxmlformats.org/officeDocument/2006/relationships/notesSlide" Target="/ppt/notesSlides/notesSlide1.xml" Id="R3fa85bbbb50f46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8d0c5f0a7c4e02" /><Relationship Type="http://schemas.openxmlformats.org/officeDocument/2006/relationships/notesSlide" Target="/ppt/notesSlides/notesSlide2.xml" Id="R207fc02b5fa14f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5328f2d632459c" /><Relationship Type="http://schemas.openxmlformats.org/officeDocument/2006/relationships/notesSlide" Target="/ppt/notesSlides/notesSlide3.xml" Id="R3c550391b48649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bb5f4400f9f4266" /><Relationship Type="http://schemas.openxmlformats.org/officeDocument/2006/relationships/notesSlide" Target="/ppt/notesSlides/notesSlide4.xml" Id="R48381f3766f346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4715c5ee0f4d71" /><Relationship Type="http://schemas.openxmlformats.org/officeDocument/2006/relationships/notesSlide" Target="/ppt/notesSlides/notesSlide5.xml" Id="R996f6a11b20b4f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aa2f19ee824a3d" /><Relationship Type="http://schemas.openxmlformats.org/officeDocument/2006/relationships/notesSlide" Target="/ppt/notesSlides/notesSlide6.xml" Id="Rbd7cb9bf02f045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7c6d6616fc04262" /><Relationship Type="http://schemas.openxmlformats.org/officeDocument/2006/relationships/notesSlide" Target="/ppt/notesSlides/notesSlide7.xml" Id="R16361b201d1c4f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3e7707684ae479d" /><Relationship Type="http://schemas.openxmlformats.org/officeDocument/2006/relationships/notesSlide" Target="/ppt/notesSlides/notesSlide8.xml" Id="Raedf49a460074f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7d92b06cf74353" /><Relationship Type="http://schemas.openxmlformats.org/officeDocument/2006/relationships/notesSlide" Target="/ppt/notesSlides/notesSlide9.xml" Id="R10a2fe0479fe43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ef6c39f140245ef" /><Relationship Type="http://schemas.openxmlformats.org/officeDocument/2006/relationships/notesSlide" Target="/ppt/notesSlides/notesSlide10.xml" Id="R4d94d082559a4d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235f6534724a1b" /><Relationship Type="http://schemas.openxmlformats.org/officeDocument/2006/relationships/notesSlide" Target="/ppt/notesSlides/notesSlide11.xml" Id="Ra1d740e7e1144a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2c154250494c6a" /><Relationship Type="http://schemas.openxmlformats.org/officeDocument/2006/relationships/chart" Target="/ppt/slides/charts/chart1.xml" Id="Rdeb683b7833b4f24" /><Relationship Type="http://schemas.openxmlformats.org/officeDocument/2006/relationships/notesSlide" Target="/ppt/notesSlides/notesSlide12.xml" Id="Ra66f42252a9248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ea525b615e4877" /><Relationship Type="http://schemas.openxmlformats.org/officeDocument/2006/relationships/notesSlide" Target="/ppt/notesSlides/notesSlide13.xml" Id="R07947eaf6a8c4c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9de4302d99434b" /><Relationship Type="http://schemas.openxmlformats.org/officeDocument/2006/relationships/notesSlide" Target="/ppt/notesSlides/notesSlide14.xml" Id="R64e4693eb09844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f7a1248ce64fef" /><Relationship Type="http://schemas.openxmlformats.org/officeDocument/2006/relationships/notesSlide" Target="/ppt/notesSlides/notesSlide15.xml" Id="R5489843d0bd04b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b435a152c5c4912" /><Relationship Type="http://schemas.openxmlformats.org/officeDocument/2006/relationships/notesSlide" Target="/ppt/notesSlides/notesSlide16.xml" Id="R11e3ae80a1874f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2ad5ff9dadf4bf4" /><Relationship Type="http://schemas.openxmlformats.org/officeDocument/2006/relationships/notesSlide" Target="/ppt/notesSlides/notesSlide17.xml" Id="R88e145cffe2d41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299f2b96e83434a" /><Relationship Type="http://schemas.openxmlformats.org/officeDocument/2006/relationships/chart" Target="/ppt/slides/charts/chart2.xml" Id="Rb84c5d50b4de4206" /><Relationship Type="http://schemas.openxmlformats.org/officeDocument/2006/relationships/notesSlide" Target="/ppt/notesSlides/notesSlide18.xml" Id="Re53b151f4ffb49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07cafcb13148ce" /><Relationship Type="http://schemas.openxmlformats.org/officeDocument/2006/relationships/chart" Target="/ppt/slides/charts/chart3.xml" Id="Rdaffe90075e24232" /><Relationship Type="http://schemas.openxmlformats.org/officeDocument/2006/relationships/notesSlide" Target="/ppt/notesSlides/notesSlide19.xml" Id="Re422b163bc1b4d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33c1ccafa6c4e59" /><Relationship Type="http://schemas.openxmlformats.org/officeDocument/2006/relationships/notesSlide" Target="/ppt/notesSlides/notesSlide20.xml" Id="R6dabfe33ae6d43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7d13e53f82e4233" /><Relationship Type="http://schemas.openxmlformats.org/officeDocument/2006/relationships/notesSlide" Target="/ppt/notesSlides/notesSlide21.xml" Id="R9e2ff019b54a47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830a2d084164d6d" /><Relationship Type="http://schemas.openxmlformats.org/officeDocument/2006/relationships/chart" Target="/ppt/slides/charts/chart4.xml" Id="R752db89d01ea4556" /><Relationship Type="http://schemas.openxmlformats.org/officeDocument/2006/relationships/notesSlide" Target="/ppt/notesSlides/notesSlide22.xml" Id="R69085167502a40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5359f69dbef493b" /><Relationship Type="http://schemas.openxmlformats.org/officeDocument/2006/relationships/chart" Target="/ppt/slides/charts/chart5.xml" Id="R2424fc56490e4699" /><Relationship Type="http://schemas.openxmlformats.org/officeDocument/2006/relationships/notesSlide" Target="/ppt/notesSlides/notesSlide23.xml" Id="Rd61974d5d67040d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eb96a3f73a14485" /><Relationship Type="http://schemas.openxmlformats.org/officeDocument/2006/relationships/image" Target="/ppt/media/image.jpeg" Id="Rabccb23f94b84932" /><Relationship Type="http://schemas.openxmlformats.org/officeDocument/2006/relationships/notesSlide" Target="/ppt/notesSlides/notesSlide24.xml" Id="R73ce5d50b9e842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f3f4bb5b36b4355" /><Relationship Type="http://schemas.openxmlformats.org/officeDocument/2006/relationships/image" Target="/ppt/media/image2.jpeg" Id="R01ca30003b6947f0" /><Relationship Type="http://schemas.openxmlformats.org/officeDocument/2006/relationships/notesSlide" Target="/ppt/notesSlides/notesSlide25.xml" Id="Re12467fbf24044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dbab0e4b0b24059" /><Relationship Type="http://schemas.openxmlformats.org/officeDocument/2006/relationships/image" Target="/ppt/media/image3.jpeg" Id="R0f4a3141c16f4a82" /><Relationship Type="http://schemas.openxmlformats.org/officeDocument/2006/relationships/notesSlide" Target="/ppt/notesSlides/notesSlide26.xml" Id="R7cfe1be9d7aa4e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cca4761ffad4c0e" /><Relationship Type="http://schemas.openxmlformats.org/officeDocument/2006/relationships/image" Target="/ppt/media/image4.jpeg" Id="Rf4352ab18e9f4a43" /><Relationship Type="http://schemas.openxmlformats.org/officeDocument/2006/relationships/notesSlide" Target="/ppt/notesSlides/notesSlide27.xml" Id="R4d7d22a8c7ea4e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c824159dff4d16" /><Relationship Type="http://schemas.openxmlformats.org/officeDocument/2006/relationships/notesSlide" Target="/ppt/notesSlides/notesSlide28.xml" Id="Rde62a02f58324f0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51bec3d6c97410b" /><Relationship Type="http://schemas.openxmlformats.org/officeDocument/2006/relationships/notesSlide" Target="/ppt/notesSlides/notesSlide29.xml" Id="R8a10abdc2850481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1d99b008f114680" /><Relationship Type="http://schemas.openxmlformats.org/officeDocument/2006/relationships/notesSlide" Target="/ppt/notesSlides/notesSlide30.xml" Id="Rcecdc84f99b54ee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055d127ac0b4081" /><Relationship Type="http://schemas.openxmlformats.org/officeDocument/2006/relationships/notesSlide" Target="/ppt/notesSlides/notesSlide31.xml" Id="R699803e6fbca43a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d6d504b62834179" /><Relationship Type="http://schemas.openxmlformats.org/officeDocument/2006/relationships/notesSlide" Target="/ppt/notesSlides/notesSlide32.xml" Id="R7a5f430a324240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Two-stage 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Data'!$A$2:$A$5</c:f>
              <c:strCache>
                <c:ptCount val="4"/>
                <c:pt idx="0">
                  <c:v>Locality</c:v>
                </c:pt>
                <c:pt idx="1">
                  <c:v>1 hop</c:v>
                </c:pt>
                <c:pt idx="2">
                  <c:v>2 hops</c:v>
                </c:pt>
                <c:pt idx="3">
                  <c:v>3 hops</c:v>
                </c:pt>
              </c:strCache>
            </c:strRef>
          </c:cat>
          <c:val>
            <c:numRef>
              <c:f>'Chart Data'!$B$2:$B$5</c:f>
              <c:numCache>
                <c:formatCode>0</c:formatCode>
                <c:ptCount val="4"/>
                <c:pt idx="0">
                  <c:v>32</c:v>
                </c:pt>
                <c:pt idx="1">
                  <c:v>32</c:v>
                </c:pt>
                <c:pt idx="2">
                  <c:v>32</c:v>
                </c:pt>
                <c:pt idx="3">
                  <c:v>0</c:v>
                </c:pt>
              </c:numCache>
            </c:numRef>
          </c:val>
        </c:ser>
        <c:ser>
          <c:idx val="1"/>
          <c:order val="1"/>
          <c:tx>
            <c:v>Iterative </c:v>
          </c:tx>
          <c:spPr>
            <a:solidFill xmlns:a="http://schemas.openxmlformats.org/drawingml/2006/main">
              <a:srgbClr val="26766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Data'!$C$2:$C$5</c:f>
              <c:strCache>
                <c:ptCount val="4"/>
                <c:pt idx="0">
                  <c:v>Locality</c:v>
                </c:pt>
                <c:pt idx="1">
                  <c:v>1 hop</c:v>
                </c:pt>
                <c:pt idx="2">
                  <c:v>2 hops</c:v>
                </c:pt>
                <c:pt idx="3">
                  <c:v>3 hops</c:v>
                </c:pt>
              </c:strCache>
            </c:strRef>
          </c:cat>
          <c:val>
            <c:numRef>
              <c:f>'Chart Data'!$D$2:$D$5</c:f>
              <c:numCache>
                <c:formatCode>0</c:formatCode>
                <c:ptCount val="4"/>
                <c:pt idx="0">
                  <c:v>32</c:v>
                </c:pt>
                <c:pt idx="1">
                  <c:v>32</c:v>
                </c:pt>
                <c:pt idx="2">
                  <c:v>32</c:v>
                </c:pt>
                <c:pt idx="3">
                  <c:v>32</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36"/>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75">
                    <a:solidFill>
                      <a:srgbClr val="526464"/>
                    </a:solidFill>
                  </a:rPr>
                  <a:t>Complete paths</a:t>
                </a:r>
              </a:p>
            </c:rich>
          </c:tx>
          <c:overlay val="0"/>
          <c:txPr>
            <a:bodyPr xmlns:a="http://schemas.openxmlformats.org/drawingml/2006/main" anchorCtr="1"/>
            <a:lstStyle xmlns:a="http://schemas.openxmlformats.org/drawingml/2006/main"/>
            <a:p xmlns:a="http://schemas.openxmlformats.org/drawingml/2006/main">
              <a:pPr>
                <a:defRPr sz="1575">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64"/>
                </a:solidFill>
              </a:defRPr>
            </a:pPr>
          </a:p>
        </c:txPr>
        <c:crossAx val="48650112"/>
        <c:crossBetween val="between"/>
        <c:majorUnit val="8"/>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Correct </c:v>
          </c:tx>
          <c:spPr>
            <a:solidFill xmlns:a="http://schemas.openxmlformats.org/drawingml/2006/main">
              <a:srgbClr val="26766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FFFFFF"/>
                    </a:solidFill>
                  </a:defRPr>
                </a:pPr>
              </a:p>
            </c:txPr>
            <c:dLblPos val="ctr"/>
            <c:showLegendKey val="0"/>
            <c:showVal val="1"/>
            <c:showCatName val="0"/>
            <c:showSerName val="0"/>
            <c:showPercent val="0"/>
            <c:showBubbleSize val="0"/>
            <c:showLeaderLines val="0"/>
          </c:dLbls>
          <c:cat>
            <c:strRef>
              <c:f>'Chart Data'!$A$2:$A$6</c:f>
              <c:strCache>
                <c:ptCount val="5"/>
                <c:pt idx="0">
                  <c:v>Initial R</c:v>
                </c:pt>
                <c:pt idx="1">
                  <c:v>Retrieved R</c:v>
                </c:pt>
                <c:pt idx="2">
                  <c:v>Full R</c:v>
                </c:pt>
                <c:pt idx="3">
                  <c:v>Retrieved Q</c:v>
                </c:pt>
                <c:pt idx="4">
                  <c:v>Full Q</c:v>
                </c:pt>
              </c:strCache>
            </c:strRef>
          </c:cat>
          <c:val>
            <c:numRef>
              <c:f>'Chart Data'!$B$2:$B$6</c:f>
              <c:numCache>
                <c:formatCode>0</c:formatCode>
                <c:ptCount val="5"/>
                <c:pt idx="0">
                  <c:v>136</c:v>
                </c:pt>
                <c:pt idx="1">
                  <c:v>256</c:v>
                </c:pt>
                <c:pt idx="2">
                  <c:v>231</c:v>
                </c:pt>
                <c:pt idx="3">
                  <c:v>241</c:v>
                </c:pt>
                <c:pt idx="4">
                  <c:v>241</c:v>
                </c:pt>
              </c:numCache>
            </c:numRef>
          </c:val>
        </c:ser>
        <c:ser>
          <c:idx val="1"/>
          <c:order val="1"/>
          <c:tx>
            <c:v>Strict mismatch </c:v>
          </c:tx>
          <c:spPr>
            <a:solidFill xmlns:a="http://schemas.openxmlformats.org/drawingml/2006/main">
              <a:srgbClr val="B8675C"/>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FFFFFF"/>
                    </a:solidFill>
                  </a:defRPr>
                </a:pPr>
              </a:p>
            </c:txPr>
            <c:dLblPos val="ctr"/>
            <c:showLegendKey val="0"/>
            <c:showVal val="1"/>
            <c:showCatName val="0"/>
            <c:showSerName val="0"/>
            <c:showPercent val="0"/>
            <c:showBubbleSize val="0"/>
            <c:showLeaderLines val="0"/>
          </c:dLbls>
          <c:cat>
            <c:strRef>
              <c:f>'Chart Data'!$C$2:$C$6</c:f>
              <c:strCache>
                <c:ptCount val="5"/>
                <c:pt idx="0">
                  <c:v>Initial R</c:v>
                </c:pt>
                <c:pt idx="1">
                  <c:v>Retrieved R</c:v>
                </c:pt>
                <c:pt idx="2">
                  <c:v>Full R</c:v>
                </c:pt>
                <c:pt idx="3">
                  <c:v>Retrieved Q</c:v>
                </c:pt>
                <c:pt idx="4">
                  <c:v>Full Q</c:v>
                </c:pt>
              </c:strCache>
            </c:strRef>
          </c:cat>
          <c:val>
            <c:numRef>
              <c:f>'Chart Data'!$D$2:$D$6</c:f>
              <c:numCache>
                <c:formatCode>0</c:formatCode>
                <c:ptCount val="5"/>
                <c:pt idx="0">
                  <c:v>120</c:v>
                </c:pt>
                <c:pt idx="1">
                  <c:v>0</c:v>
                </c:pt>
                <c:pt idx="2">
                  <c:v>25</c:v>
                </c:pt>
                <c:pt idx="3">
                  <c:v>0</c:v>
                </c:pt>
                <c:pt idx="4">
                  <c:v>13</c:v>
                </c:pt>
              </c:numCache>
            </c:numRef>
          </c:val>
        </c:ser>
        <c:ser>
          <c:idx val="2"/>
          <c:order val="2"/>
          <c:tx>
            <c:v>UNKNOWN </c:v>
          </c:tx>
          <c:spPr>
            <a:solidFill xmlns:a="http://schemas.openxmlformats.org/drawingml/2006/main">
              <a:srgbClr val="C69A46"/>
            </a:solidFill>
          </c:spPr>
          <c:invertIfNegative val="0"/>
          <c:dLbls>
            <c:delete val="1"/>
            <c:numFmt formatCode="0;-0;;" sourceLinked="0"/>
            <c:txPr>
              <a:bodyPr xmlns:a="http://schemas.openxmlformats.org/drawingml/2006/main" anchorCtr="1"/>
              <a:lstStyle xmlns:a="http://schemas.openxmlformats.org/drawingml/2006/main"/>
              <a:p xmlns:a="http://schemas.openxmlformats.org/drawingml/2006/main">
                <a:pPr>
                  <a:defRPr sz="1650" b="1">
                    <a:solidFill>
                      <a:srgbClr val="FFFFFF"/>
                    </a:solidFill>
                  </a:defRPr>
                </a:pPr>
              </a:p>
            </c:txPr>
            <c:dLblPos val="ctr"/>
            <c:showLegendKey val="0"/>
            <c:showVal val="0"/>
            <c:showCatName val="0"/>
            <c:showSerName val="0"/>
            <c:showPercent val="0"/>
            <c:showBubbleSize val="0"/>
            <c:showLeaderLines val="0"/>
          </c:dLbls>
          <c:cat>
            <c:strRef>
              <c:f>'Chart Data'!$E$2:$E$6</c:f>
              <c:strCache>
                <c:ptCount val="5"/>
                <c:pt idx="0">
                  <c:v>Initial R</c:v>
                </c:pt>
                <c:pt idx="1">
                  <c:v>Retrieved R</c:v>
                </c:pt>
                <c:pt idx="2">
                  <c:v>Full R</c:v>
                </c:pt>
                <c:pt idx="3">
                  <c:v>Retrieved Q</c:v>
                </c:pt>
                <c:pt idx="4">
                  <c:v>Full Q</c:v>
                </c:pt>
              </c:strCache>
            </c:strRef>
          </c:cat>
          <c:val>
            <c:numRef>
              <c:f>'Chart Data'!$F$2:$F$6</c:f>
              <c:numCache>
                <c:formatCode>0</c:formatCode>
                <c:ptCount val="5"/>
                <c:pt idx="0">
                  <c:v>0</c:v>
                </c:pt>
                <c:pt idx="1">
                  <c:v>0</c:v>
                </c:pt>
                <c:pt idx="2">
                  <c:v>0</c:v>
                </c:pt>
                <c:pt idx="3">
                  <c:v>15</c:v>
                </c:pt>
                <c:pt idx="4">
                  <c:v>2</c:v>
                </c:pt>
              </c:numCache>
            </c:numRef>
          </c:val>
        </c:ser>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75">
                    <a:solidFill>
                      <a:srgbClr val="526464"/>
                    </a:solidFill>
                  </a:rPr>
                  <a:t>Assigned outcomes</a:t>
                </a:r>
              </a:p>
            </c:rich>
          </c:tx>
          <c:overlay val="0"/>
          <c:txPr>
            <a:bodyPr xmlns:a="http://schemas.openxmlformats.org/drawingml/2006/main" anchorCtr="1"/>
            <a:lstStyle xmlns:a="http://schemas.openxmlformats.org/drawingml/2006/main"/>
            <a:p xmlns:a="http://schemas.openxmlformats.org/drawingml/2006/main">
              <a:pPr>
                <a:defRPr sz="1575">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64"/>
                </a:solidFill>
              </a:defRPr>
            </a:pPr>
          </a:p>
        </c:txPr>
        <c:crossAx val="48650112"/>
        <c:crossBetween val="between"/>
        <c:majorUnit val="64"/>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Reason-KE++ </c:v>
          </c:tx>
          <c:spPr>
            <a:solidFill xmlns:a="http://schemas.openxmlformats.org/drawingml/2006/main">
              <a:srgbClr val="26766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Data'!$A$2:$A$5</c:f>
              <c:strCache>
                <c:ptCount val="4"/>
                <c:pt idx="0">
                  <c:v>Locality</c:v>
                </c:pt>
                <c:pt idx="1">
                  <c:v>1 hop</c:v>
                </c:pt>
                <c:pt idx="2">
                  <c:v>2 hops</c:v>
                </c:pt>
                <c:pt idx="3">
                  <c:v>3 hops</c:v>
                </c:pt>
              </c:strCache>
            </c:strRef>
          </c:cat>
          <c:val>
            <c:numRef>
              <c:f>'Chart Data'!$B$2:$B$5</c:f>
              <c:numCache>
                <c:formatCode>0</c:formatCode>
                <c:ptCount val="4"/>
                <c:pt idx="0">
                  <c:v>64</c:v>
                </c:pt>
                <c:pt idx="1">
                  <c:v>64</c:v>
                </c:pt>
                <c:pt idx="2">
                  <c:v>64</c:v>
                </c:pt>
                <c:pt idx="3">
                  <c:v>64</c:v>
                </c:pt>
              </c:numCache>
            </c:numRef>
          </c:val>
        </c:ser>
        <c:ser>
          <c:idx val="1"/>
          <c:order val="1"/>
          <c:tx>
            <c:v>Qwen 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Data'!$C$2:$C$5</c:f>
              <c:strCache>
                <c:ptCount val="4"/>
                <c:pt idx="0">
                  <c:v>Locality</c:v>
                </c:pt>
                <c:pt idx="1">
                  <c:v>1 hop</c:v>
                </c:pt>
                <c:pt idx="2">
                  <c:v>2 hops</c:v>
                </c:pt>
                <c:pt idx="3">
                  <c:v>3 hops</c:v>
                </c:pt>
              </c:strCache>
            </c:strRef>
          </c:cat>
          <c:val>
            <c:numRef>
              <c:f>'Chart Data'!$D$2:$D$5</c:f>
              <c:numCache>
                <c:formatCode>0</c:formatCode>
                <c:ptCount val="4"/>
                <c:pt idx="0">
                  <c:v>64</c:v>
                </c:pt>
                <c:pt idx="1">
                  <c:v>64</c:v>
                </c:pt>
                <c:pt idx="2">
                  <c:v>57</c:v>
                </c:pt>
                <c:pt idx="3">
                  <c:v>63</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72"/>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75">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75">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64"/>
                </a:solidFill>
              </a:defRPr>
            </a:pPr>
          </a:p>
        </c:txPr>
        <c:crossAx val="48650112"/>
        <c:crossBetween val="between"/>
        <c:majorUnit val="16"/>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Retrieved context </c:v>
          </c:tx>
          <c:spPr>
            <a:solidFill xmlns:a="http://schemas.openxmlformats.org/drawingml/2006/main">
              <a:srgbClr val="26766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Data'!$A$2:$A$3</c:f>
              <c:strCache>
                <c:ptCount val="2"/>
                <c:pt idx="0">
                  <c:v>Baseline-correct
retention (n=124)</c:v>
                </c:pt>
                <c:pt idx="1">
                  <c:v>All locality
correct (n=128)</c:v>
                </c:pt>
              </c:strCache>
            </c:strRef>
          </c:cat>
          <c:val>
            <c:numRef>
              <c:f>'Chart Data'!$B$2:$B$3</c:f>
              <c:numCache>
                <c:formatCode>0%</c:formatCode>
                <c:ptCount val="2"/>
                <c:pt idx="0">
                  <c:v>1</c:v>
                </c:pt>
                <c:pt idx="1">
                  <c:v>1</c:v>
                </c:pt>
              </c:numCache>
            </c:numRef>
          </c:val>
        </c:ser>
        <c:ser>
          <c:idx val="1"/>
          <c:order val="1"/>
          <c:tx>
            <c:v>Full memory 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Data'!$C$2:$C$3</c:f>
              <c:strCache>
                <c:ptCount val="2"/>
                <c:pt idx="0">
                  <c:v>Baseline-correct
retention (n=124)</c:v>
                </c:pt>
                <c:pt idx="1">
                  <c:v>All locality
correct (n=128)</c:v>
                </c:pt>
              </c:strCache>
            </c:strRef>
          </c:cat>
          <c:val>
            <c:numRef>
              <c:f>'Chart Data'!$D$2:$D$3</c:f>
              <c:numCache>
                <c:formatCode>0%</c:formatCode>
                <c:ptCount val="2"/>
                <c:pt idx="0">
                  <c:v>0.943548387097</c:v>
                </c:pt>
                <c:pt idx="1">
                  <c:v>0.9296875</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1.08"/>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75">
                    <a:solidFill>
                      <a:srgbClr val="526464"/>
                    </a:solidFill>
                  </a:rPr>
                  <a:t>Fraction correct</a:t>
                </a:r>
              </a:p>
            </c:rich>
          </c:tx>
          <c:overlay val="0"/>
          <c:txPr>
            <a:bodyPr xmlns:a="http://schemas.openxmlformats.org/drawingml/2006/main" anchorCtr="1"/>
            <a:lstStyle xmlns:a="http://schemas.openxmlformats.org/drawingml/2006/main"/>
            <a:p xmlns:a="http://schemas.openxmlformats.org/drawingml/2006/main">
              <a:pPr>
                <a:defRPr sz="1575">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64"/>
                </a:solidFill>
              </a:defRPr>
            </a:pPr>
          </a:p>
        </c:txPr>
        <c:crossAx val="48650112"/>
        <c:crossBetween val="between"/>
        <c:majorUnit val="0.25"/>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Reason-KE++ </c:v>
          </c:tx>
          <c:spPr>
            <a:solidFill xmlns:a="http://schemas.openxmlformats.org/drawingml/2006/main">
              <a:srgbClr val="26766D"/>
            </a:solidFill>
          </c:spPr>
          <c:invertIfNegative val="0"/>
          <c:dLbls>
            <c:delete val="0"/>
            <c:numFmt formatCode="0.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Data'!$A$2:$A$5</c:f>
              <c:strCache>
                <c:ptCount val="4"/>
                <c:pt idx="0">
                  <c:v>Ops p50</c:v>
                </c:pt>
                <c:pt idx="1">
                  <c:v>Ops p95</c:v>
                </c:pt>
                <c:pt idx="2">
                  <c:v>Depth p50</c:v>
                </c:pt>
                <c:pt idx="3">
                  <c:v>Depth p95</c:v>
                </c:pt>
              </c:strCache>
            </c:strRef>
          </c:cat>
          <c:val>
            <c:numRef>
              <c:f>'Chart Data'!$B$2:$B$5</c:f>
              <c:numCache>
                <c:formatCode>0</c:formatCode>
                <c:ptCount val="4"/>
                <c:pt idx="0">
                  <c:v>15.056786641</c:v>
                </c:pt>
                <c:pt idx="1">
                  <c:v>16.7135241245</c:v>
                </c:pt>
                <c:pt idx="2">
                  <c:v>15.935824386</c:v>
                </c:pt>
                <c:pt idx="3">
                  <c:v>19.282786327</c:v>
                </c:pt>
              </c:numCache>
            </c:numRef>
          </c:val>
        </c:ser>
        <c:ser>
          <c:idx val="1"/>
          <c:order val="1"/>
          <c:tx>
            <c:v>Qwen </c:v>
          </c:tx>
          <c:spPr>
            <a:solidFill xmlns:a="http://schemas.openxmlformats.org/drawingml/2006/main">
              <a:srgbClr val="627FAD"/>
            </a:solidFill>
          </c:spPr>
          <c:invertIfNegative val="0"/>
          <c:dLbls>
            <c:delete val="0"/>
            <c:numFmt formatCode="0.0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cat>
            <c:strRef>
              <c:f>'Chart Data'!$C$2:$C$5</c:f>
              <c:strCache>
                <c:ptCount val="4"/>
                <c:pt idx="0">
                  <c:v>Ops p50</c:v>
                </c:pt>
                <c:pt idx="1">
                  <c:v>Ops p95</c:v>
                </c:pt>
                <c:pt idx="2">
                  <c:v>Depth p50</c:v>
                </c:pt>
                <c:pt idx="3">
                  <c:v>Depth p95</c:v>
                </c:pt>
              </c:strCache>
            </c:strRef>
          </c:cat>
          <c:val>
            <c:numRef>
              <c:f>'Chart Data'!$D$2:$D$5</c:f>
              <c:numCache>
                <c:formatCode>0</c:formatCode>
                <c:ptCount val="4"/>
                <c:pt idx="0">
                  <c:v>0.916156165</c:v>
                </c:pt>
                <c:pt idx="1">
                  <c:v>1.19808736325</c:v>
                </c:pt>
                <c:pt idx="2">
                  <c:v>1.118971887</c:v>
                </c:pt>
                <c:pt idx="3">
                  <c:v>1.3847337005</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22"/>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75">
                    <a:solidFill>
                      <a:srgbClr val="526464"/>
                    </a:solidFill>
                  </a:rPr>
                  <a:t>Seconds</a:t>
                </a:r>
              </a:p>
            </c:rich>
          </c:tx>
          <c:overlay val="0"/>
          <c:txPr>
            <a:bodyPr xmlns:a="http://schemas.openxmlformats.org/drawingml/2006/main" anchorCtr="1"/>
            <a:lstStyle xmlns:a="http://schemas.openxmlformats.org/drawingml/2006/main"/>
            <a:p xmlns:a="http://schemas.openxmlformats.org/drawingml/2006/main">
              <a:pPr>
                <a:defRPr sz="1575">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64"/>
                </a:solidFill>
              </a:defRPr>
            </a:pPr>
          </a:p>
        </c:txPr>
        <c:crossAx val="48650112"/>
        <c:crossBetween val="between"/>
        <c:majorUnit val="5"/>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2B"/>
        </a:solidFill>
      </p:bgPr>
    </p:bg>
    <p:spTree>
      <p:nvGrpSpPr>
        <p:cNvPr id="1" name=""/>
        <p:cNvGrpSpPr/>
        <p:nvPr/>
      </p:nvGrpSpPr>
      <p:grpSpPr>
        <a:xfrm xmlns:a="http://schemas.openxmlformats.org/drawingml/2006/main"/>
      </p:grpSpPr>
      <p:sp>
        <p:nvSpPr>
          <p:cNvPr id="4" name="Verity">
            <a:extLst xmlns:a="http://schemas.openxmlformats.org/drawingml/2006/main">
              <a:ext uri="{FF2B5EF4-FFF2-40B4-BE49-F238E27FC236}">
                <a16:creationId xmlns:a16="http://schemas.microsoft.com/office/drawing/2014/main" id="{EE60BED3-4ED7-42B1-AC80-282972D98D5C}"/>
              </a:ext>
            </a:extLst>
          </p:cNvPr>
          <p:cNvSpPr>
            <a:spLocks xmlns:a="http://schemas.openxmlformats.org/drawingml/2006/main" noGrp="1"/>
          </p:cNvSpPr>
          <p:nvPr/>
        </p:nvSpPr>
        <p:spPr>
          <a:xfrm xmlns:a="http://schemas.openxmlformats.org/drawingml/2006/main">
            <a:off x="666750" y="114300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200" b="1">
                <a:solidFill>
                  <a:srgbClr val="FFFFFF"/>
                </a:solidFill>
                <a:latin typeface="Calibri"/>
                <a:ea typeface="Calibri"/>
                <a:cs typeface="Calibri"/>
              </a:defRPr>
            </a:defPPr>
            <a:lvl1pPr algn="l">
              <a:defRPr sz="7200" b="1">
                <a:solidFill>
                  <a:srgbClr val="FFFFFF"/>
                </a:solidFill>
                <a:latin typeface="Calibri"/>
                <a:ea typeface="Calibri"/>
                <a:cs typeface="Calibri"/>
              </a:defRPr>
            </a:lvl1pPr>
            <a:lvl2pPr algn="l">
              <a:defRPr sz="7200" b="1">
                <a:solidFill>
                  <a:srgbClr val="FFFFFF"/>
                </a:solidFill>
                <a:latin typeface="Calibri"/>
                <a:ea typeface="Calibri"/>
                <a:cs typeface="Calibri"/>
              </a:defRPr>
            </a:lvl2pPr>
            <a:lvl3pPr algn="l">
              <a:defRPr sz="7200" b="1">
                <a:solidFill>
                  <a:srgbClr val="FFFFFF"/>
                </a:solidFill>
                <a:latin typeface="Calibri"/>
                <a:ea typeface="Calibri"/>
                <a:cs typeface="Calibri"/>
              </a:defRPr>
            </a:lvl3pPr>
            <a:lvl4pPr algn="l">
              <a:defRPr sz="7200" b="1">
                <a:solidFill>
                  <a:srgbClr val="FFFFFF"/>
                </a:solidFill>
                <a:latin typeface="Calibri"/>
                <a:ea typeface="Calibri"/>
                <a:cs typeface="Calibri"/>
              </a:defRPr>
            </a:lvl4pPr>
            <a:lvl5pPr algn="l">
              <a:defRPr sz="7200" b="1">
                <a:solidFill>
                  <a:srgbClr val="FFFFFF"/>
                </a:solidFill>
                <a:latin typeface="Calibri"/>
                <a:ea typeface="Calibri"/>
                <a:cs typeface="Calibri"/>
              </a:defRPr>
            </a:lvl5pPr>
            <a:lvl6pPr algn="l">
              <a:defRPr sz="7200" b="1">
                <a:solidFill>
                  <a:srgbClr val="FFFFFF"/>
                </a:solidFill>
                <a:latin typeface="Calibri"/>
                <a:ea typeface="Calibri"/>
                <a:cs typeface="Calibri"/>
              </a:defRPr>
            </a:lvl6pPr>
            <a:lvl7pPr algn="l">
              <a:defRPr sz="7200" b="1">
                <a:solidFill>
                  <a:srgbClr val="FFFFFF"/>
                </a:solidFill>
                <a:latin typeface="Calibri"/>
                <a:ea typeface="Calibri"/>
                <a:cs typeface="Calibri"/>
              </a:defRPr>
            </a:lvl7pPr>
            <a:lvl8pPr algn="l">
              <a:defRPr sz="7200" b="1">
                <a:solidFill>
                  <a:srgbClr val="FFFFFF"/>
                </a:solidFill>
                <a:latin typeface="Calibri"/>
                <a:ea typeface="Calibri"/>
                <a:cs typeface="Calibri"/>
              </a:defRPr>
            </a:lvl8pPr>
            <a:lvl9pPr algn="l">
              <a:defRPr sz="7200" b="1">
                <a:solidFill>
                  <a:srgbClr val="FFFFFF"/>
                </a:solidFill>
                <a:latin typeface="Calibri"/>
                <a:ea typeface="Calibri"/>
                <a:cs typeface="Calibri"/>
              </a:defRPr>
            </a:lvl9pPr>
          </a:lstStyle>
          <a:p xmlns:a="http://schemas.openxmlformats.org/drawingml/2006/main">
            <a:pPr algn="l">
              <a:defRPr sz="7200" b="1">
                <a:solidFill>
                  <a:srgbClr val="FFFFFF"/>
                </a:solidFill>
                <a:latin typeface="Calibri"/>
                <a:ea typeface="Calibri"/>
                <a:cs typeface="Calibri"/>
              </a:defRPr>
            </a:pPr>
            <a:r>
              <a:rPr sz="7200" b="1">
                <a:solidFill>
                  <a:srgbClr val="FFFFFF"/>
                </a:solidFill>
                <a:latin typeface="Calibri"/>
                <a:ea typeface="Calibri"/>
                <a:cs typeface="Calibri"/>
              </a:rPr>
              <a:t>Verity</a:t>
            </a:r>
          </a:p>
        </p:txBody>
      </p:sp>
      <p:sp>
        <p:nvSpPr>
          <p:cNvPr id="2" name="Governed knowledge editing for&#10;connected factual questions">
            <a:extLst xmlns:a="http://schemas.openxmlformats.org/drawingml/2006/main">
              <a:ext uri="{FF2B5EF4-FFF2-40B4-BE49-F238E27FC236}">
                <a16:creationId xmlns:a16="http://schemas.microsoft.com/office/drawing/2014/main" id="{46FA2A54-B80C-4A6E-A101-B13B063936D6}"/>
              </a:ext>
            </a:extLst>
          </p:cNvPr>
          <p:cNvSpPr>
            <a:spLocks xmlns:a="http://schemas.openxmlformats.org/drawingml/2006/main" noGrp="1"/>
          </p:cNvSpPr>
          <p:nvPr/>
        </p:nvSpPr>
        <p:spPr>
          <a:xfrm xmlns:a="http://schemas.openxmlformats.org/drawingml/2006/main">
            <a:off x="714375" y="27241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0">
                <a:solidFill>
                  <a:srgbClr val="FFFFFF"/>
                </a:solidFill>
                <a:latin typeface="Calibri"/>
                <a:ea typeface="Calibri"/>
                <a:cs typeface="Calibri"/>
              </a:defRPr>
            </a:defPPr>
            <a:lvl1pPr algn="l">
              <a:defRPr sz="3225" b="0">
                <a:solidFill>
                  <a:srgbClr val="FFFFFF"/>
                </a:solidFill>
                <a:latin typeface="Calibri"/>
                <a:ea typeface="Calibri"/>
                <a:cs typeface="Calibri"/>
              </a:defRPr>
            </a:lvl1pPr>
            <a:lvl2pPr algn="l">
              <a:defRPr sz="3225" b="0">
                <a:solidFill>
                  <a:srgbClr val="FFFFFF"/>
                </a:solidFill>
                <a:latin typeface="Calibri"/>
                <a:ea typeface="Calibri"/>
                <a:cs typeface="Calibri"/>
              </a:defRPr>
            </a:lvl2pPr>
            <a:lvl3pPr algn="l">
              <a:defRPr sz="3225" b="0">
                <a:solidFill>
                  <a:srgbClr val="FFFFFF"/>
                </a:solidFill>
                <a:latin typeface="Calibri"/>
                <a:ea typeface="Calibri"/>
                <a:cs typeface="Calibri"/>
              </a:defRPr>
            </a:lvl3pPr>
            <a:lvl4pPr algn="l">
              <a:defRPr sz="3225" b="0">
                <a:solidFill>
                  <a:srgbClr val="FFFFFF"/>
                </a:solidFill>
                <a:latin typeface="Calibri"/>
                <a:ea typeface="Calibri"/>
                <a:cs typeface="Calibri"/>
              </a:defRPr>
            </a:lvl4pPr>
            <a:lvl5pPr algn="l">
              <a:defRPr sz="3225" b="0">
                <a:solidFill>
                  <a:srgbClr val="FFFFFF"/>
                </a:solidFill>
                <a:latin typeface="Calibri"/>
                <a:ea typeface="Calibri"/>
                <a:cs typeface="Calibri"/>
              </a:defRPr>
            </a:lvl5pPr>
            <a:lvl6pPr algn="l">
              <a:defRPr sz="3225" b="0">
                <a:solidFill>
                  <a:srgbClr val="FFFFFF"/>
                </a:solidFill>
                <a:latin typeface="Calibri"/>
                <a:ea typeface="Calibri"/>
                <a:cs typeface="Calibri"/>
              </a:defRPr>
            </a:lvl6pPr>
            <a:lvl7pPr algn="l">
              <a:defRPr sz="3225" b="0">
                <a:solidFill>
                  <a:srgbClr val="FFFFFF"/>
                </a:solidFill>
                <a:latin typeface="Calibri"/>
                <a:ea typeface="Calibri"/>
                <a:cs typeface="Calibri"/>
              </a:defRPr>
            </a:lvl7pPr>
            <a:lvl8pPr algn="l">
              <a:defRPr sz="3225" b="0">
                <a:solidFill>
                  <a:srgbClr val="FFFFFF"/>
                </a:solidFill>
                <a:latin typeface="Calibri"/>
                <a:ea typeface="Calibri"/>
                <a:cs typeface="Calibri"/>
              </a:defRPr>
            </a:lvl8pPr>
            <a:lvl9pPr algn="l">
              <a:defRPr sz="3225" b="0">
                <a:solidFill>
                  <a:srgbClr val="FFFFFF"/>
                </a:solidFill>
                <a:latin typeface="Calibri"/>
                <a:ea typeface="Calibri"/>
                <a:cs typeface="Calibri"/>
              </a:defRPr>
            </a:lvl9pPr>
          </a:lstStyle>
          <a:p xmlns:a="http://schemas.openxmlformats.org/drawingml/2006/main">
            <a:pPr algn="l">
              <a:defRPr sz="3225" b="0">
                <a:solidFill>
                  <a:srgbClr val="FFFFFF"/>
                </a:solidFill>
                <a:latin typeface="Calibri"/>
                <a:ea typeface="Calibri"/>
                <a:cs typeface="Calibri"/>
              </a:defRPr>
            </a:pPr>
            <a:r>
              <a:rPr sz="3225" b="0">
                <a:solidFill>
                  <a:srgbClr val="FFFFFF"/>
                </a:solidFill>
                <a:latin typeface="Calibri"/>
                <a:ea typeface="Calibri"/>
                <a:cs typeface="Calibri"/>
              </a:rPr>
              <a:t>Governed knowledge editing for</a:t>
            </a:r>
          </a:p>
          <a:p xmlns:a="http://schemas.openxmlformats.org/drawingml/2006/main">
            <a:pPr algn="l">
              <a:defRPr sz="3225" b="0">
                <a:solidFill>
                  <a:srgbClr val="FFFFFF"/>
                </a:solidFill>
                <a:latin typeface="Calibri"/>
                <a:ea typeface="Calibri"/>
                <a:cs typeface="Calibri"/>
              </a:defRPr>
            </a:pPr>
            <a:r>
              <a:rPr sz="3225" b="0">
                <a:solidFill>
                  <a:srgbClr val="FFFFFF"/>
                </a:solidFill>
                <a:latin typeface="Calibri"/>
                <a:ea typeface="Calibri"/>
                <a:cs typeface="Calibri"/>
              </a:rPr>
              <a:t>connected factual questions</a:t>
            </a:r>
          </a:p>
        </p:txBody>
      </p:sp>
      <p:sp>
        <p:nvSpPr>
          <p:cNvPr id="3" name="Reason-KE++ with versioned memory and bounded retrieval">
            <a:extLst xmlns:a="http://schemas.openxmlformats.org/drawingml/2006/main">
              <a:ext uri="{FF2B5EF4-FFF2-40B4-BE49-F238E27FC236}">
                <a16:creationId xmlns:a16="http://schemas.microsoft.com/office/drawing/2014/main" id="{0E9302D8-29B5-4F4C-85BF-8053667B1B9F}"/>
              </a:ext>
            </a:extLst>
          </p:cNvPr>
          <p:cNvSpPr>
            <a:spLocks xmlns:a="http://schemas.openxmlformats.org/drawingml/2006/main" noGrp="1"/>
          </p:cNvSpPr>
          <p:nvPr/>
        </p:nvSpPr>
        <p:spPr>
          <a:xfrm xmlns:a="http://schemas.openxmlformats.org/drawingml/2006/main">
            <a:off x="714375" y="48958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C8DED7"/>
                </a:solidFill>
                <a:latin typeface="Calibri"/>
                <a:ea typeface="Calibri"/>
                <a:cs typeface="Calibri"/>
              </a:defRPr>
            </a:defPPr>
            <a:lvl1pPr algn="l">
              <a:defRPr sz="2175" b="0">
                <a:solidFill>
                  <a:srgbClr val="C8DED7"/>
                </a:solidFill>
                <a:latin typeface="Calibri"/>
                <a:ea typeface="Calibri"/>
                <a:cs typeface="Calibri"/>
              </a:defRPr>
            </a:lvl1pPr>
            <a:lvl2pPr algn="l">
              <a:defRPr sz="2175" b="0">
                <a:solidFill>
                  <a:srgbClr val="C8DED7"/>
                </a:solidFill>
                <a:latin typeface="Calibri"/>
                <a:ea typeface="Calibri"/>
                <a:cs typeface="Calibri"/>
              </a:defRPr>
            </a:lvl2pPr>
            <a:lvl3pPr algn="l">
              <a:defRPr sz="2175" b="0">
                <a:solidFill>
                  <a:srgbClr val="C8DED7"/>
                </a:solidFill>
                <a:latin typeface="Calibri"/>
                <a:ea typeface="Calibri"/>
                <a:cs typeface="Calibri"/>
              </a:defRPr>
            </a:lvl3pPr>
            <a:lvl4pPr algn="l">
              <a:defRPr sz="2175" b="0">
                <a:solidFill>
                  <a:srgbClr val="C8DED7"/>
                </a:solidFill>
                <a:latin typeface="Calibri"/>
                <a:ea typeface="Calibri"/>
                <a:cs typeface="Calibri"/>
              </a:defRPr>
            </a:lvl4pPr>
            <a:lvl5pPr algn="l">
              <a:defRPr sz="2175" b="0">
                <a:solidFill>
                  <a:srgbClr val="C8DED7"/>
                </a:solidFill>
                <a:latin typeface="Calibri"/>
                <a:ea typeface="Calibri"/>
                <a:cs typeface="Calibri"/>
              </a:defRPr>
            </a:lvl5pPr>
            <a:lvl6pPr algn="l">
              <a:defRPr sz="2175" b="0">
                <a:solidFill>
                  <a:srgbClr val="C8DED7"/>
                </a:solidFill>
                <a:latin typeface="Calibri"/>
                <a:ea typeface="Calibri"/>
                <a:cs typeface="Calibri"/>
              </a:defRPr>
            </a:lvl6pPr>
            <a:lvl7pPr algn="l">
              <a:defRPr sz="2175" b="0">
                <a:solidFill>
                  <a:srgbClr val="C8DED7"/>
                </a:solidFill>
                <a:latin typeface="Calibri"/>
                <a:ea typeface="Calibri"/>
                <a:cs typeface="Calibri"/>
              </a:defRPr>
            </a:lvl7pPr>
            <a:lvl8pPr algn="l">
              <a:defRPr sz="2175" b="0">
                <a:solidFill>
                  <a:srgbClr val="C8DED7"/>
                </a:solidFill>
                <a:latin typeface="Calibri"/>
                <a:ea typeface="Calibri"/>
                <a:cs typeface="Calibri"/>
              </a:defRPr>
            </a:lvl8pPr>
            <a:lvl9pPr algn="l">
              <a:defRPr sz="2175" b="0">
                <a:solidFill>
                  <a:srgbClr val="C8DED7"/>
                </a:solidFill>
                <a:latin typeface="Calibri"/>
                <a:ea typeface="Calibri"/>
                <a:cs typeface="Calibri"/>
              </a:defRPr>
            </a:lvl9pPr>
          </a:lstStyle>
          <a:p xmlns:a="http://schemas.openxmlformats.org/drawingml/2006/main">
            <a:pPr algn="l">
              <a:defRPr sz="2175" b="0">
                <a:solidFill>
                  <a:srgbClr val="C8DED7"/>
                </a:solidFill>
                <a:latin typeface="Calibri"/>
                <a:ea typeface="Calibri"/>
                <a:cs typeface="Calibri"/>
              </a:defRPr>
            </a:pPr>
            <a:r>
              <a:rPr sz="2175" b="0">
                <a:solidFill>
                  <a:srgbClr val="C8DED7"/>
                </a:solidFill>
                <a:latin typeface="Calibri"/>
                <a:ea typeface="Calibri"/>
                <a:cs typeface="Calibri"/>
              </a:rPr>
              <a:t>Reason-KE++ with versioned memory and bounded retrieval</a:t>
            </a:r>
          </a:p>
        </p:txBody>
      </p:sp>
    </p:spTree>
    <p:extLst>
      <p:ext uri="{BB962C8B-B14F-4D97-AF65-F5344CB8AC3E}">
        <p14:creationId xmlns:p14="http://schemas.microsoft.com/office/powerpoint/2010/main" val="239351730"/>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0809D96A-99F9-4D0A-B62A-E85106C94F2C}"/>
              </a:ext>
            </a:extLst>
          </p:cNvPr>
          <p:cNvCxnSpPr>
            <a:stCxn xmlns:a="http://schemas.openxmlformats.org/drawingml/2006/main" id="15" idx="3"/>
            <a:endCxn xmlns:a="http://schemas.openxmlformats.org/drawingml/2006/main" id="16" idx="1"/>
          </p:cNvCxnSpPr>
          <p:nvPr/>
        </p:nvCxnSpPr>
        <p:spPr>
          <a:xfrm xmlns:a="http://schemas.openxmlformats.org/drawingml/2006/main">
            <a:off x="8686800" y="4724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47F17A93-5061-4DBE-ADC9-249BC62FA008}"/>
              </a:ext>
            </a:extLst>
          </p:cNvPr>
          <p:cNvCxnSpPr>
            <a:stCxn xmlns:a="http://schemas.openxmlformats.org/drawingml/2006/main" id="14" idx="3"/>
            <a:endCxn xmlns:a="http://schemas.openxmlformats.org/drawingml/2006/main" id="15" idx="1"/>
          </p:cNvCxnSpPr>
          <p:nvPr/>
        </p:nvCxnSpPr>
        <p:spPr>
          <a:xfrm xmlns:a="http://schemas.openxmlformats.org/drawingml/2006/main">
            <a:off x="5800725" y="4724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DB70E01-3DD9-4243-8A00-EE1521D7EF1F}"/>
              </a:ext>
            </a:extLst>
          </p:cNvPr>
          <p:cNvCxnSpPr>
            <a:stCxn xmlns:a="http://schemas.openxmlformats.org/drawingml/2006/main" id="13" idx="3"/>
            <a:endCxn xmlns:a="http://schemas.openxmlformats.org/drawingml/2006/main" id="14" idx="1"/>
          </p:cNvCxnSpPr>
          <p:nvPr/>
        </p:nvCxnSpPr>
        <p:spPr>
          <a:xfrm xmlns:a="http://schemas.openxmlformats.org/drawingml/2006/main">
            <a:off x="2914650" y="4724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7E1D6C10-8BAC-4430-B36F-E998519682DC}"/>
              </a:ext>
            </a:extLst>
          </p:cNvPr>
          <p:cNvCxnSpPr>
            <a:stCxn xmlns:a="http://schemas.openxmlformats.org/drawingml/2006/main" id="7" idx="3"/>
            <a:endCxn xmlns:a="http://schemas.openxmlformats.org/drawingml/2006/main" id="8" idx="1"/>
          </p:cNvCxnSpPr>
          <p:nvPr/>
        </p:nvCxnSpPr>
        <p:spPr>
          <a:xfrm xmlns:a="http://schemas.openxmlformats.org/drawingml/2006/main">
            <a:off x="8686800" y="2819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5D1631E1-9FD8-471B-80B9-EBECCE65F0EC}"/>
              </a:ext>
            </a:extLst>
          </p:cNvPr>
          <p:cNvCxnSpPr>
            <a:stCxn xmlns:a="http://schemas.openxmlformats.org/drawingml/2006/main" id="6" idx="3"/>
            <a:endCxn xmlns:a="http://schemas.openxmlformats.org/drawingml/2006/main" id="7" idx="1"/>
          </p:cNvCxnSpPr>
          <p:nvPr/>
        </p:nvCxnSpPr>
        <p:spPr>
          <a:xfrm xmlns:a="http://schemas.openxmlformats.org/drawingml/2006/main">
            <a:off x="5800725" y="2819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8F861D77-C126-4100-83C0-34147E1CE2B1}"/>
              </a:ext>
            </a:extLst>
          </p:cNvPr>
          <p:cNvCxnSpPr>
            <a:stCxn xmlns:a="http://schemas.openxmlformats.org/drawingml/2006/main" id="5" idx="3"/>
            <a:endCxn xmlns:a="http://schemas.openxmlformats.org/drawingml/2006/main" id="6" idx="1"/>
          </p:cNvCxnSpPr>
          <p:nvPr/>
        </p:nvCxnSpPr>
        <p:spPr>
          <a:xfrm xmlns:a="http://schemas.openxmlformats.org/drawingml/2006/main">
            <a:off x="2914650" y="2819400"/>
            <a:ext cx="6000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21" name="One ownership edit changes a connected answer">
            <a:extLst xmlns:a="http://schemas.openxmlformats.org/drawingml/2006/main">
              <a:ext uri="{FF2B5EF4-FFF2-40B4-BE49-F238E27FC236}">
                <a16:creationId xmlns:a16="http://schemas.microsoft.com/office/drawing/2014/main" id="{9DA6EEAA-8DA0-43CA-8097-77D0D0CE747C}"/>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One ownership edit changes a connected answer</a:t>
            </a:r>
          </a:p>
        </p:txBody>
      </p:sp>
      <p:sp>
        <p:nvSpPr>
          <p:cNvPr id="2" name="Kaveri Payment Gateway, release 2. One ownership fact changes.">
            <a:extLst xmlns:a="http://schemas.openxmlformats.org/drawingml/2006/main">
              <a:ext uri="{FF2B5EF4-FFF2-40B4-BE49-F238E27FC236}">
                <a16:creationId xmlns:a16="http://schemas.microsoft.com/office/drawing/2014/main" id="{FA21C63E-8997-4F56-9B9D-AB7A8C6D911D}"/>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Kaveri Payment Gateway, release 2. One ownership fact changes.</a:t>
            </a:r>
          </a:p>
        </p:txBody>
      </p:sp>
      <p:sp>
        <p:nvSpPr>
          <p:cNvPr id="3" name="2">
            <a:extLst xmlns:a="http://schemas.openxmlformats.org/drawingml/2006/main">
              <a:ext uri="{FF2B5EF4-FFF2-40B4-BE49-F238E27FC236}">
                <a16:creationId xmlns:a16="http://schemas.microsoft.com/office/drawing/2014/main" id="{A88FE69E-653F-4766-A858-285236008DBB}"/>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a:t>
            </a:r>
          </a:p>
        </p:txBody>
      </p:sp>
      <p:sp>
        <p:nvSpPr>
          <p:cNvPr id="4" name="Initial approved path">
            <a:extLst xmlns:a="http://schemas.openxmlformats.org/drawingml/2006/main">
              <a:ext uri="{FF2B5EF4-FFF2-40B4-BE49-F238E27FC236}">
                <a16:creationId xmlns:a16="http://schemas.microsoft.com/office/drawing/2014/main" id="{7E45E1A0-5EFE-46EA-82F5-B3CBE657CA95}"/>
              </a:ext>
            </a:extLst>
          </p:cNvPr>
          <p:cNvSpPr>
            <a:spLocks xmlns:a="http://schemas.openxmlformats.org/drawingml/2006/main" noGrp="1"/>
          </p:cNvSpPr>
          <p:nvPr/>
        </p:nvSpPr>
        <p:spPr>
          <a:xfrm xmlns:a="http://schemas.openxmlformats.org/drawingml/2006/main">
            <a:off x="628650" y="1781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Initial approved path</a:t>
            </a:r>
          </a:p>
        </p:txBody>
      </p:sp>
      <p:sp>
        <p:nvSpPr>
          <p:cNvPr id="5" name="Kaveri Gateway&#10;release 2">
            <a:extLst xmlns:a="http://schemas.openxmlformats.org/drawingml/2006/main">
              <a:ext uri="{FF2B5EF4-FFF2-40B4-BE49-F238E27FC236}">
                <a16:creationId xmlns:a16="http://schemas.microsoft.com/office/drawing/2014/main" id="{0B75E70F-747A-4A11-9BD1-83A7DDF6E9C6}"/>
              </a:ext>
            </a:extLst>
          </p:cNvPr>
          <p:cNvSpPr>
            <a:spLocks xmlns:a="http://schemas.openxmlformats.org/drawingml/2006/main" noGrp="1"/>
          </p:cNvSpPr>
          <p:nvPr/>
        </p:nvSpPr>
        <p:spPr>
          <a:xfrm xmlns:a="http://schemas.openxmlformats.org/drawingml/2006/main">
            <a:off x="628650" y="2324100"/>
            <a:ext cx="2286000" cy="9906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Kaveri Gateway</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release 2</a:t>
            </a:r>
          </a:p>
        </p:txBody>
      </p:sp>
      <p:sp>
        <p:nvSpPr>
          <p:cNvPr id="6" name="Bengaluru&#10;Platform Team">
            <a:extLst xmlns:a="http://schemas.openxmlformats.org/drawingml/2006/main">
              <a:ext uri="{FF2B5EF4-FFF2-40B4-BE49-F238E27FC236}">
                <a16:creationId xmlns:a16="http://schemas.microsoft.com/office/drawing/2014/main" id="{60D2DE0D-AAF8-4B02-8A50-FB3D2575CA2B}"/>
              </a:ext>
            </a:extLst>
          </p:cNvPr>
          <p:cNvSpPr>
            <a:spLocks xmlns:a="http://schemas.openxmlformats.org/drawingml/2006/main" noGrp="1"/>
          </p:cNvSpPr>
          <p:nvPr/>
        </p:nvSpPr>
        <p:spPr>
          <a:xfrm xmlns:a="http://schemas.openxmlformats.org/drawingml/2006/main">
            <a:off x="3514725" y="2324100"/>
            <a:ext cx="2286000" cy="9906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Bengaluru</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Platform Team</a:t>
            </a:r>
          </a:p>
        </p:txBody>
      </p:sp>
      <p:sp>
        <p:nvSpPr>
          <p:cNvPr id="7" name="Meera Iyer">
            <a:extLst xmlns:a="http://schemas.openxmlformats.org/drawingml/2006/main">
              <a:ext uri="{FF2B5EF4-FFF2-40B4-BE49-F238E27FC236}">
                <a16:creationId xmlns:a16="http://schemas.microsoft.com/office/drawing/2014/main" id="{FDD6B25D-A87F-49E5-9D90-C0ACB2150237}"/>
              </a:ext>
            </a:extLst>
          </p:cNvPr>
          <p:cNvSpPr>
            <a:spLocks xmlns:a="http://schemas.openxmlformats.org/drawingml/2006/main" noGrp="1"/>
          </p:cNvSpPr>
          <p:nvPr/>
        </p:nvSpPr>
        <p:spPr>
          <a:xfrm xmlns:a="http://schemas.openxmlformats.org/drawingml/2006/main">
            <a:off x="6400800" y="2324100"/>
            <a:ext cx="2286000" cy="9906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Meera Iyer</a:t>
            </a:r>
          </a:p>
        </p:txBody>
      </p:sp>
      <p:sp>
        <p:nvSpPr>
          <p:cNvPr id="8" name="Chennai">
            <a:extLst xmlns:a="http://schemas.openxmlformats.org/drawingml/2006/main">
              <a:ext uri="{FF2B5EF4-FFF2-40B4-BE49-F238E27FC236}">
                <a16:creationId xmlns:a16="http://schemas.microsoft.com/office/drawing/2014/main" id="{3EDFAEF3-510C-4EAA-AB88-F76BDCE766D7}"/>
              </a:ext>
            </a:extLst>
          </p:cNvPr>
          <p:cNvSpPr>
            <a:spLocks xmlns:a="http://schemas.openxmlformats.org/drawingml/2006/main" noGrp="1"/>
          </p:cNvSpPr>
          <p:nvPr/>
        </p:nvSpPr>
        <p:spPr>
          <a:xfrm xmlns:a="http://schemas.openxmlformats.org/drawingml/2006/main">
            <a:off x="9286875" y="2324100"/>
            <a:ext cx="2247900" cy="9906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Chennai</a:t>
            </a:r>
          </a:p>
        </p:txBody>
      </p:sp>
      <p:sp>
        <p:nvSpPr>
          <p:cNvPr id="12" name="After ownership replacement">
            <a:extLst xmlns:a="http://schemas.openxmlformats.org/drawingml/2006/main">
              <a:ext uri="{FF2B5EF4-FFF2-40B4-BE49-F238E27FC236}">
                <a16:creationId xmlns:a16="http://schemas.microsoft.com/office/drawing/2014/main" id="{55A06865-4FAE-461E-8052-2CC0FED47BA5}"/>
              </a:ext>
            </a:extLst>
          </p:cNvPr>
          <p:cNvSpPr>
            <a:spLocks xmlns:a="http://schemas.openxmlformats.org/drawingml/2006/main" noGrp="1"/>
          </p:cNvSpPr>
          <p:nvPr/>
        </p:nvSpPr>
        <p:spPr>
          <a:xfrm xmlns:a="http://schemas.openxmlformats.org/drawingml/2006/main">
            <a:off x="628650" y="368617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After ownership replacement</a:t>
            </a:r>
          </a:p>
        </p:txBody>
      </p:sp>
      <p:sp>
        <p:nvSpPr>
          <p:cNvPr id="13" name="Kaveri Gateway&#10;release 2">
            <a:extLst xmlns:a="http://schemas.openxmlformats.org/drawingml/2006/main">
              <a:ext uri="{FF2B5EF4-FFF2-40B4-BE49-F238E27FC236}">
                <a16:creationId xmlns:a16="http://schemas.microsoft.com/office/drawing/2014/main" id="{3B267532-D660-4E6C-94AA-ACD7242C17F6}"/>
              </a:ext>
            </a:extLst>
          </p:cNvPr>
          <p:cNvSpPr>
            <a:spLocks xmlns:a="http://schemas.openxmlformats.org/drawingml/2006/main" noGrp="1"/>
          </p:cNvSpPr>
          <p:nvPr/>
        </p:nvSpPr>
        <p:spPr>
          <a:xfrm xmlns:a="http://schemas.openxmlformats.org/drawingml/2006/main">
            <a:off x="628650" y="4229100"/>
            <a:ext cx="2286000" cy="9906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Kaveri Gateway</a:t>
            </a:r>
          </a:p>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release 2</a:t>
            </a:r>
          </a:p>
        </p:txBody>
      </p:sp>
      <p:sp>
        <p:nvSpPr>
          <p:cNvPr id="14" name="Pune&#10;Reliability Team">
            <a:extLst xmlns:a="http://schemas.openxmlformats.org/drawingml/2006/main">
              <a:ext uri="{FF2B5EF4-FFF2-40B4-BE49-F238E27FC236}">
                <a16:creationId xmlns:a16="http://schemas.microsoft.com/office/drawing/2014/main" id="{AC67C2CF-5780-48FF-A67F-EF787F725FF0}"/>
              </a:ext>
            </a:extLst>
          </p:cNvPr>
          <p:cNvSpPr>
            <a:spLocks xmlns:a="http://schemas.openxmlformats.org/drawingml/2006/main" noGrp="1"/>
          </p:cNvSpPr>
          <p:nvPr/>
        </p:nvSpPr>
        <p:spPr>
          <a:xfrm xmlns:a="http://schemas.openxmlformats.org/drawingml/2006/main">
            <a:off x="3514725" y="4229100"/>
            <a:ext cx="2286000" cy="9906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Pune</a:t>
            </a:r>
          </a:p>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Reliability Team</a:t>
            </a:r>
          </a:p>
        </p:txBody>
      </p:sp>
      <p:sp>
        <p:nvSpPr>
          <p:cNvPr id="15" name="Arjun Deshmukh">
            <a:extLst xmlns:a="http://schemas.openxmlformats.org/drawingml/2006/main">
              <a:ext uri="{FF2B5EF4-FFF2-40B4-BE49-F238E27FC236}">
                <a16:creationId xmlns:a16="http://schemas.microsoft.com/office/drawing/2014/main" id="{966C0E0E-CC03-499D-87E9-60641ADC17A7}"/>
              </a:ext>
            </a:extLst>
          </p:cNvPr>
          <p:cNvSpPr>
            <a:spLocks xmlns:a="http://schemas.openxmlformats.org/drawingml/2006/main" noGrp="1"/>
          </p:cNvSpPr>
          <p:nvPr/>
        </p:nvSpPr>
        <p:spPr>
          <a:xfrm xmlns:a="http://schemas.openxmlformats.org/drawingml/2006/main">
            <a:off x="6400800" y="4229100"/>
            <a:ext cx="2286000" cy="9906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Arjun Deshmukh</a:t>
            </a:r>
          </a:p>
        </p:txBody>
      </p:sp>
      <p:sp>
        <p:nvSpPr>
          <p:cNvPr id="16" name="Hyderabad">
            <a:extLst xmlns:a="http://schemas.openxmlformats.org/drawingml/2006/main">
              <a:ext uri="{FF2B5EF4-FFF2-40B4-BE49-F238E27FC236}">
                <a16:creationId xmlns:a16="http://schemas.microsoft.com/office/drawing/2014/main" id="{0D00A64D-1DC7-4F85-A905-C957C38AD187}"/>
              </a:ext>
            </a:extLst>
          </p:cNvPr>
          <p:cNvSpPr>
            <a:spLocks xmlns:a="http://schemas.openxmlformats.org/drawingml/2006/main" noGrp="1"/>
          </p:cNvSpPr>
          <p:nvPr/>
        </p:nvSpPr>
        <p:spPr>
          <a:xfrm xmlns:a="http://schemas.openxmlformats.org/drawingml/2006/main">
            <a:off x="9286875" y="4229100"/>
            <a:ext cx="2247900" cy="9906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Hyderabad</a:t>
            </a:r>
          </a:p>
        </p:txBody>
      </p:sp>
      <p:sp>
        <p:nvSpPr>
          <p:cNvPr id="20" name="Hosting remains Bengaluru. Pro and release 1 retain separate owners.&#10;A">
            <a:extLst xmlns:a="http://schemas.openxmlformats.org/drawingml/2006/main">
              <a:ext uri="{FF2B5EF4-FFF2-40B4-BE49-F238E27FC236}">
                <a16:creationId xmlns:a16="http://schemas.microsoft.com/office/drawing/2014/main" id="{4AF89C18-853E-4040-94F7-BD3FA4C8CECB}"/>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Hosting remains Bengaluru. Pro and release 1 retain separate owners.</a:t>
            </a:r>
          </a:p>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Actual implemented example with fictional services, people and assignments.</a:t>
            </a:r>
          </a:p>
        </p:txBody>
      </p:sp>
    </p:spTree>
    <p:extLst>
      <p:ext uri="{BB962C8B-B14F-4D97-AF65-F5344CB8AC3E}">
        <p14:creationId xmlns:p14="http://schemas.microsoft.com/office/powerpoint/2010/main" val="621578168"/>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3" name="The task and acceptance contract">
            <a:extLst xmlns:a="http://schemas.openxmlformats.org/drawingml/2006/main">
              <a:ext uri="{FF2B5EF4-FFF2-40B4-BE49-F238E27FC236}">
                <a16:creationId xmlns:a16="http://schemas.microsoft.com/office/drawing/2014/main" id="{6B4A4A58-E13D-44B1-A47F-D7EF8F2FE697}"/>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The task and acceptance contract</a:t>
            </a:r>
          </a:p>
        </p:txBody>
      </p:sp>
      <p:sp>
        <p:nvSpPr>
          <p:cNvPr id="2" name="The source of truth is approved memory. The evaluation observes genera">
            <a:extLst xmlns:a="http://schemas.openxmlformats.org/drawingml/2006/main">
              <a:ext uri="{FF2B5EF4-FFF2-40B4-BE49-F238E27FC236}">
                <a16:creationId xmlns:a16="http://schemas.microsoft.com/office/drawing/2014/main" id="{D4DB648A-D90C-4D6F-860E-531E12DFAA28}"/>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source of truth is approved memory. The evaluation observes generated answers.</a:t>
            </a:r>
          </a:p>
        </p:txBody>
      </p:sp>
      <p:sp>
        <p:nvSpPr>
          <p:cNvPr id="3" name="3">
            <a:extLst xmlns:a="http://schemas.openxmlformats.org/drawingml/2006/main">
              <a:ext uri="{FF2B5EF4-FFF2-40B4-BE49-F238E27FC236}">
                <a16:creationId xmlns:a16="http://schemas.microsoft.com/office/drawing/2014/main" id="{CCE5F37A-CAA6-43C2-8907-845A945B2EC2}"/>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3</a:t>
            </a:r>
          </a:p>
        </p:txBody>
      </p:sp>
      <p:sp>
        <p:nvSpPr>
          <p:cNvPr id="4" name="Correction transfer">
            <a:extLst xmlns:a="http://schemas.openxmlformats.org/drawingml/2006/main">
              <a:ext uri="{FF2B5EF4-FFF2-40B4-BE49-F238E27FC236}">
                <a16:creationId xmlns:a16="http://schemas.microsoft.com/office/drawing/2014/main" id="{AC859E3D-ECF0-48C2-8B86-FAFEDE4B0E4F}"/>
              </a:ext>
            </a:extLst>
          </p:cNvPr>
          <p:cNvSpPr>
            <a:spLocks xmlns:a="http://schemas.openxmlformats.org/drawingml/2006/main" noGrp="1"/>
          </p:cNvSpPr>
          <p:nvPr/>
        </p:nvSpPr>
        <p:spPr>
          <a:xfrm xmlns:a="http://schemas.openxmlformats.org/drawingml/2006/main">
            <a:off x="647700" y="190500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Correction transfer</a:t>
            </a:r>
          </a:p>
        </p:txBody>
      </p:sp>
      <p:sp>
        <p:nvSpPr>
          <p:cNvPr id="5" name="Direct questions, paraphrases and connected paths endorse the applicab">
            <a:extLst xmlns:a="http://schemas.openxmlformats.org/drawingml/2006/main">
              <a:ext uri="{FF2B5EF4-FFF2-40B4-BE49-F238E27FC236}">
                <a16:creationId xmlns:a16="http://schemas.microsoft.com/office/drawing/2014/main" id="{197567B5-DB8B-4851-848F-BF077568B18C}"/>
              </a:ext>
            </a:extLst>
          </p:cNvPr>
          <p:cNvSpPr>
            <a:spLocks xmlns:a="http://schemas.openxmlformats.org/drawingml/2006/main" noGrp="1"/>
          </p:cNvSpPr>
          <p:nvPr/>
        </p:nvSpPr>
        <p:spPr>
          <a:xfrm xmlns:a="http://schemas.openxmlformats.org/drawingml/2006/main">
            <a:off x="4114800" y="1905000"/>
            <a:ext cx="733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Direct questions, paraphrases and connected paths endorse the applicable value.</a:t>
            </a:r>
          </a:p>
        </p:txBody>
      </p:sp>
      <p:sp>
        <p:nvSpPr>
          <p:cNvPr id="6" name="Locality and scope">
            <a:extLst xmlns:a="http://schemas.openxmlformats.org/drawingml/2006/main">
              <a:ext uri="{FF2B5EF4-FFF2-40B4-BE49-F238E27FC236}">
                <a16:creationId xmlns:a16="http://schemas.microsoft.com/office/drawing/2014/main" id="{CC68007F-F6DC-447D-A8A4-1C095E647C6C}"/>
              </a:ext>
            </a:extLst>
          </p:cNvPr>
          <p:cNvSpPr>
            <a:spLocks xmlns:a="http://schemas.openxmlformats.org/drawingml/2006/main" noGrp="1"/>
          </p:cNvSpPr>
          <p:nvPr/>
        </p:nvSpPr>
        <p:spPr>
          <a:xfrm xmlns:a="http://schemas.openxmlformats.org/drawingml/2006/main">
            <a:off x="647700" y="285750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Locality and scope</a:t>
            </a:r>
          </a:p>
        </p:txBody>
      </p:sp>
      <p:sp>
        <p:nvSpPr>
          <p:cNvPr id="7" name="Other properties, similarly named services and historical releases ret">
            <a:extLst xmlns:a="http://schemas.openxmlformats.org/drawingml/2006/main">
              <a:ext uri="{FF2B5EF4-FFF2-40B4-BE49-F238E27FC236}">
                <a16:creationId xmlns:a16="http://schemas.microsoft.com/office/drawing/2014/main" id="{EBBD8B2B-F85E-4A51-9B9A-297DFBC39C8F}"/>
              </a:ext>
            </a:extLst>
          </p:cNvPr>
          <p:cNvSpPr>
            <a:spLocks xmlns:a="http://schemas.openxmlformats.org/drawingml/2006/main" noGrp="1"/>
          </p:cNvSpPr>
          <p:nvPr/>
        </p:nvSpPr>
        <p:spPr>
          <a:xfrm xmlns:a="http://schemas.openxmlformats.org/drawingml/2006/main">
            <a:off x="4114800" y="2857500"/>
            <a:ext cx="733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Other properties, similarly named services and historical releases retain their facts.</a:t>
            </a:r>
          </a:p>
        </p:txBody>
      </p:sp>
      <p:sp>
        <p:nvSpPr>
          <p:cNvPr id="8" name="Authority and reversibility">
            <a:extLst xmlns:a="http://schemas.openxmlformats.org/drawingml/2006/main">
              <a:ext uri="{FF2B5EF4-FFF2-40B4-BE49-F238E27FC236}">
                <a16:creationId xmlns:a16="http://schemas.microsoft.com/office/drawing/2014/main" id="{BD2B05BC-E436-401F-B087-A0B4F5309AD2}"/>
              </a:ext>
            </a:extLst>
          </p:cNvPr>
          <p:cNvSpPr>
            <a:spLocks xmlns:a="http://schemas.openxmlformats.org/drawingml/2006/main" noGrp="1"/>
          </p:cNvSpPr>
          <p:nvPr/>
        </p:nvSpPr>
        <p:spPr>
          <a:xfrm xmlns:a="http://schemas.openxmlformats.org/drawingml/2006/main">
            <a:off x="647700" y="381000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Authority and reversibility</a:t>
            </a:r>
          </a:p>
        </p:txBody>
      </p:sp>
      <p:sp>
        <p:nvSpPr>
          <p:cNvPr id="9" name="Explicit approval, conflict rejection, event lineage and atomic rollba">
            <a:extLst xmlns:a="http://schemas.openxmlformats.org/drawingml/2006/main">
              <a:ext uri="{FF2B5EF4-FFF2-40B4-BE49-F238E27FC236}">
                <a16:creationId xmlns:a16="http://schemas.microsoft.com/office/drawing/2014/main" id="{F83A4F8C-3EE4-41B3-A70C-E655AC8E521F}"/>
              </a:ext>
            </a:extLst>
          </p:cNvPr>
          <p:cNvSpPr>
            <a:spLocks xmlns:a="http://schemas.openxmlformats.org/drawingml/2006/main" noGrp="1"/>
          </p:cNvSpPr>
          <p:nvPr/>
        </p:nvSpPr>
        <p:spPr>
          <a:xfrm xmlns:a="http://schemas.openxmlformats.org/drawingml/2006/main">
            <a:off x="4114800" y="3810000"/>
            <a:ext cx="733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Explicit approval, conflict rejection, event lineage and atomic rollback.</a:t>
            </a:r>
          </a:p>
        </p:txBody>
      </p:sp>
      <p:sp>
        <p:nvSpPr>
          <p:cNvPr id="10" name="Accountable evaluation">
            <a:extLst xmlns:a="http://schemas.openxmlformats.org/drawingml/2006/main">
              <a:ext uri="{FF2B5EF4-FFF2-40B4-BE49-F238E27FC236}">
                <a16:creationId xmlns:a16="http://schemas.microsoft.com/office/drawing/2014/main" id="{33AB1483-A825-4F11-B194-0DFEFE89A6FF}"/>
              </a:ext>
            </a:extLst>
          </p:cNvPr>
          <p:cNvSpPr>
            <a:spLocks xmlns:a="http://schemas.openxmlformats.org/drawingml/2006/main" noGrp="1"/>
          </p:cNvSpPr>
          <p:nvPr/>
        </p:nvSpPr>
        <p:spPr>
          <a:xfrm xmlns:a="http://schemas.openxmlformats.org/drawingml/2006/main">
            <a:off x="647700" y="476250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Accountable evaluation</a:t>
            </a:r>
          </a:p>
        </p:txBody>
      </p:sp>
      <p:sp>
        <p:nvSpPr>
          <p:cNvPr id="11" name="Neural answers, structured operations, abstentions and errors remain d">
            <a:extLst xmlns:a="http://schemas.openxmlformats.org/drawingml/2006/main">
              <a:ext uri="{FF2B5EF4-FFF2-40B4-BE49-F238E27FC236}">
                <a16:creationId xmlns:a16="http://schemas.microsoft.com/office/drawing/2014/main" id="{4CAAFF36-BECF-4BE2-9EEB-6B68FDDBFE5E}"/>
              </a:ext>
            </a:extLst>
          </p:cNvPr>
          <p:cNvSpPr>
            <a:spLocks xmlns:a="http://schemas.openxmlformats.org/drawingml/2006/main" noGrp="1"/>
          </p:cNvSpPr>
          <p:nvPr/>
        </p:nvSpPr>
        <p:spPr>
          <a:xfrm xmlns:a="http://schemas.openxmlformats.org/drawingml/2006/main">
            <a:off x="4114800" y="4762500"/>
            <a:ext cx="733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Neural answers, structured operations, abstentions and errors remain distinguishable.</a:t>
            </a:r>
          </a:p>
        </p:txBody>
      </p:sp>
      <p:sp>
        <p:nvSpPr>
          <p:cNvPr id="12" name="Bounded task: short factual QA over controlled operations handbooks, w">
            <a:extLst xmlns:a="http://schemas.openxmlformats.org/drawingml/2006/main">
              <a:ext uri="{FF2B5EF4-FFF2-40B4-BE49-F238E27FC236}">
                <a16:creationId xmlns:a16="http://schemas.microsoft.com/office/drawing/2014/main" id="{81F6EE34-A502-4415-9129-4D2EAB94C21B}"/>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Bounded task: short factual QA over controlled operations handbooks, with paths up to three relations.</a:t>
            </a:r>
          </a:p>
        </p:txBody>
      </p:sp>
    </p:spTree>
    <p:extLst>
      <p:ext uri="{BB962C8B-B14F-4D97-AF65-F5344CB8AC3E}">
        <p14:creationId xmlns:p14="http://schemas.microsoft.com/office/powerpoint/2010/main" val="885923134"/>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Method choice and the recorded decisions">
            <a:extLst xmlns:a="http://schemas.openxmlformats.org/drawingml/2006/main">
              <a:ext uri="{FF2B5EF4-FFF2-40B4-BE49-F238E27FC236}">
                <a16:creationId xmlns:a16="http://schemas.microsoft.com/office/drawing/2014/main" id="{551BF159-07EB-4512-BDE8-F1865F982094}"/>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Method choice and the recorded decisions</a:t>
            </a:r>
          </a:p>
        </p:txBody>
      </p:sp>
      <p:sp>
        <p:nvSpPr>
          <p:cNvPr id="2" name="The editing route and the retrieval layer answer different design ques">
            <a:extLst xmlns:a="http://schemas.openxmlformats.org/drawingml/2006/main">
              <a:ext uri="{FF2B5EF4-FFF2-40B4-BE49-F238E27FC236}">
                <a16:creationId xmlns:a16="http://schemas.microsoft.com/office/drawing/2014/main" id="{BFE4F156-5330-4886-B656-E659C999380C}"/>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editing route and the retrieval layer answer different design questions.</a:t>
            </a:r>
          </a:p>
        </p:txBody>
      </p:sp>
      <p:sp>
        <p:nvSpPr>
          <p:cNvPr id="3" name="4">
            <a:extLst xmlns:a="http://schemas.openxmlformats.org/drawingml/2006/main">
              <a:ext uri="{FF2B5EF4-FFF2-40B4-BE49-F238E27FC236}">
                <a16:creationId xmlns:a16="http://schemas.microsoft.com/office/drawing/2014/main" id="{B8F80178-F716-4651-8879-EF745DE3AC2C}"/>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4</a:t>
            </a:r>
          </a:p>
        </p:txBody>
      </p:sp>
      <p:graphicFrame>
        <p:nvGraphicFramePr>
          <p:cNvPr id="4" name="">
            <a:extLst xmlns:a="http://schemas.openxmlformats.org/drawingml/2006/main">
              <a:ext uri="{FF2B5EF4-FFF2-40B4-BE49-F238E27FC236}">
                <a16:creationId xmlns:a16="http://schemas.microsoft.com/office/drawing/2014/main" id="{3E46FA79-E2FC-4A2A-87C3-F498B0F6696B}"/>
              </a:ext>
            </a:extLst>
          </p:cNvPr>
          <p:cNvGraphicFramePr/>
          <p:nvPr/>
        </p:nvGraphicFramePr>
        <p:xfrm>
          <a:off xmlns:a="http://schemas.openxmlformats.org/drawingml/2006/main" x="628650" y="1876425"/>
          <a:ext xmlns:a="http://schemas.openxmlformats.org/drawingml/2006/main" cx="10906125" cy="2857500"/>
        </p:xfrm>
        <a:graphic xmlns:a="http://schemas.openxmlformats.org/drawingml/2006/main">
          <a:graphicData uri="http://schemas.openxmlformats.org/drawingml/2006/table">
            <a:tbl>
              <a:tblPr/>
              <a:tblGrid>
                <a:gridCol w="3190875"/>
                <a:gridCol w="3143250"/>
                <a:gridCol w="4572000"/>
              </a:tblGrid>
              <a:tr h="714375">
                <a:tc>
                  <a:txBody>
                    <a:bodyPr lIns="95250" tIns="95250" rIns="95250" bIns="95250"/>
                    <a:lstStyle/>
                    <a:p>
                      <a:r>
                        <a:rPr sz="1875" b="1">
                          <a:solidFill>
                            <a:srgbClr val="152B2B"/>
                          </a:solidFill>
                          <a:latin typeface="Calibri"/>
                          <a:ea typeface="Calibri"/>
                          <a:cs typeface="Calibri"/>
                        </a:rPr>
                        <a:t>Approach</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What changes</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Role in this project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714375">
                <a:tc>
                  <a:txBody>
                    <a:bodyPr lIns="95250" tIns="95250" rIns="95250" bIns="95250"/>
                    <a:lstStyle/>
                    <a:p>
                      <a:r>
                        <a:rPr sz="1875" b="0">
                          <a:solidFill>
                            <a:srgbClr val="152B2B"/>
                          </a:solidFill>
                          <a:latin typeface="Calibri"/>
                          <a:ea typeface="Calibri"/>
                          <a:cs typeface="Calibri"/>
                        </a:rPr>
                        <a:t>Conventional RAG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Retrieved context</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Matched Qwen instruction baseline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14375">
                <a:tc>
                  <a:txBody>
                    <a:bodyPr lIns="95250" tIns="95250" rIns="95250" bIns="95250"/>
                    <a:lstStyle/>
                    <a:p>
                      <a:r>
                        <a:rPr sz="1875" b="0">
                          <a:solidFill>
                            <a:srgbClr val="152B2B"/>
                          </a:solidFill>
                          <a:latin typeface="Calibri"/>
                          <a:ea typeface="Calibri"/>
                          <a:cs typeface="Calibri"/>
                        </a:rPr>
                        <a:t>Reason-KE++ + memory</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Approved context, frozen weights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Deployed reasoning-aware generator</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14375">
                <a:tc>
                  <a:txBody>
                    <a:bodyPr lIns="95250" tIns="95250" rIns="95250" bIns="95250"/>
                    <a:lstStyle/>
                    <a:p>
                      <a:r>
                        <a:rPr sz="1875" b="0">
                          <a:solidFill>
                            <a:srgbClr val="152B2B"/>
                          </a:solidFill>
                          <a:latin typeface="Calibri"/>
                          <a:ea typeface="Calibri"/>
                          <a:cs typeface="Calibri"/>
                        </a:rPr>
                        <a:t>Parametric editing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Selected neural parameters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Alternative route, not evaluated here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Recorded development policy choice">
            <a:extLst xmlns:a="http://schemas.openxmlformats.org/drawingml/2006/main">
              <a:ext uri="{FF2B5EF4-FFF2-40B4-BE49-F238E27FC236}">
                <a16:creationId xmlns:a16="http://schemas.microsoft.com/office/drawing/2014/main" id="{B14DF7F5-01FE-497D-86CA-3C34DAFEAE17}"/>
              </a:ext>
            </a:extLst>
          </p:cNvPr>
          <p:cNvSpPr>
            <a:spLocks xmlns:a="http://schemas.openxmlformats.org/drawingml/2006/main" noGrp="1"/>
          </p:cNvSpPr>
          <p:nvPr/>
        </p:nvSpPr>
        <p:spPr>
          <a:xfrm xmlns:a="http://schemas.openxmlformats.org/drawingml/2006/main">
            <a:off x="647700" y="509587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Recorded development policy choice</a:t>
            </a:r>
          </a:p>
        </p:txBody>
      </p:sp>
      <p:sp>
        <p:nvSpPr>
          <p:cNvPr id="6" name="Reason-KE++ retrieved 24/24 vs full memory 21/24. Qwen retrieved also ">
            <a:extLst xmlns:a="http://schemas.openxmlformats.org/drawingml/2006/main">
              <a:ext uri="{FF2B5EF4-FFF2-40B4-BE49-F238E27FC236}">
                <a16:creationId xmlns:a16="http://schemas.microsoft.com/office/drawing/2014/main" id="{607718A7-0206-46AC-81C7-9F1587E3898B}"/>
              </a:ext>
            </a:extLst>
          </p:cNvPr>
          <p:cNvSpPr>
            <a:spLocks xmlns:a="http://schemas.openxmlformats.org/drawingml/2006/main" noGrp="1"/>
          </p:cNvSpPr>
          <p:nvPr/>
        </p:nvSpPr>
        <p:spPr>
          <a:xfrm xmlns:a="http://schemas.openxmlformats.org/drawingml/2006/main">
            <a:off x="647700" y="5619750"/>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Reason-KE++ retrieved 24/24 vs full memory 21/24. Qwen retrieved also 24/24.</a:t>
            </a:r>
          </a:p>
        </p:txBody>
      </p:sp>
      <p:sp>
        <p:nvSpPr>
          <p:cNvPr id="7" name="Three development lineages. This selected context delivery before the ">
            <a:extLst xmlns:a="http://schemas.openxmlformats.org/drawingml/2006/main">
              <a:ext uri="{FF2B5EF4-FFF2-40B4-BE49-F238E27FC236}">
                <a16:creationId xmlns:a16="http://schemas.microsoft.com/office/drawing/2014/main" id="{6408912E-71EF-4CF3-A4D6-0F08D3DF80D1}"/>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Three development lineages. This selected context delivery before the final test, not model superiority.</a:t>
            </a:r>
          </a:p>
        </p:txBody>
      </p:sp>
    </p:spTree>
    <p:extLst>
      <p:ext uri="{BB962C8B-B14F-4D97-AF65-F5344CB8AC3E}">
        <p14:creationId xmlns:p14="http://schemas.microsoft.com/office/powerpoint/2010/main" val="1234398640"/>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18DB530-22C9-40DF-917A-DA8E1A5903D0}"/>
              </a:ext>
            </a:extLst>
          </p:cNvPr>
          <p:cNvCxnSpPr>
            <a:stCxn xmlns:a="http://schemas.openxmlformats.org/drawingml/2006/main" id="16" idx="0"/>
            <a:endCxn xmlns:a="http://schemas.openxmlformats.org/drawingml/2006/main" id="9" idx="2"/>
          </p:cNvCxnSpPr>
          <p:nvPr/>
        </p:nvCxnSpPr>
        <p:spPr>
          <a:xfrm xmlns:a="http://schemas.openxmlformats.org/drawingml/2006/main" flipH="1" flipV="1">
            <a:off x="9744075" y="5410200"/>
            <a:ext cx="4763" cy="419100"/>
          </a:xfrm>
          <a:prstGeom xmlns:a="http://schemas.openxmlformats.org/drawingml/2006/main" prst="straightConnector1">
            <a:avLst/>
          </a:prstGeom>
          <a:ln xmlns:a="http://schemas.openxmlformats.org/drawingml/2006/main" w="19050">
            <a:solidFill>
              <a:srgbClr val="26766D"/>
            </a:solidFill>
            <a:tailEnd type="arrow" w="med" len="med"/>
          </a:ln>
        </p:spPr>
      </p:cxnSp>
      <p:cxnSp>
        <p:nvCxnSpPr>
          <p:cNvPr id="18" name="">
            <a:extLst xmlns:a="http://schemas.openxmlformats.org/drawingml/2006/main">
              <a:ext uri="{FF2B5EF4-FFF2-40B4-BE49-F238E27FC236}">
                <a16:creationId xmlns:a16="http://schemas.microsoft.com/office/drawing/2014/main" id="{AC8402B6-6BDC-4CCF-AC05-7EADDF883209}"/>
              </a:ext>
            </a:extLst>
          </p:cNvPr>
          <p:cNvCxnSpPr>
            <a:stCxn xmlns:a="http://schemas.openxmlformats.org/drawingml/2006/main" id="15" idx="3"/>
            <a:endCxn xmlns:a="http://schemas.openxmlformats.org/drawingml/2006/main" id="16" idx="1"/>
          </p:cNvCxnSpPr>
          <p:nvPr/>
        </p:nvCxnSpPr>
        <p:spPr>
          <a:xfrm xmlns:a="http://schemas.openxmlformats.org/drawingml/2006/main">
            <a:off x="1876425" y="5834063"/>
            <a:ext cx="7867650" cy="0"/>
          </a:xfrm>
          <a:prstGeom xmlns:a="http://schemas.openxmlformats.org/drawingml/2006/main" prst="straightConnector1">
            <a:avLst/>
          </a:prstGeom>
          <a:ln xmlns:a="http://schemas.openxmlformats.org/drawingml/2006/main" w="19050">
            <a:solidFill>
              <a:srgbClr val="26766D"/>
            </a:solidFill>
          </a:ln>
        </p:spPr>
      </p:cxnSp>
      <p:cxnSp>
        <p:nvCxnSpPr>
          <p:cNvPr id="17" name="">
            <a:extLst xmlns:a="http://schemas.openxmlformats.org/drawingml/2006/main">
              <a:ext uri="{FF2B5EF4-FFF2-40B4-BE49-F238E27FC236}">
                <a16:creationId xmlns:a16="http://schemas.microsoft.com/office/drawing/2014/main" id="{7C2C5630-71FB-455F-8D7A-4463DFB9E0A8}"/>
              </a:ext>
            </a:extLst>
          </p:cNvPr>
          <p:cNvCxnSpPr>
            <a:stCxn xmlns:a="http://schemas.openxmlformats.org/drawingml/2006/main" id="11" idx="2"/>
            <a:endCxn xmlns:a="http://schemas.openxmlformats.org/drawingml/2006/main" id="15" idx="0"/>
          </p:cNvCxnSpPr>
          <p:nvPr/>
        </p:nvCxnSpPr>
        <p:spPr>
          <a:xfrm xmlns:a="http://schemas.openxmlformats.org/drawingml/2006/main">
            <a:off x="1866900" y="5410200"/>
            <a:ext cx="4763" cy="419100"/>
          </a:xfrm>
          <a:prstGeom xmlns:a="http://schemas.openxmlformats.org/drawingml/2006/main" prst="straightConnector1">
            <a:avLst/>
          </a:prstGeom>
          <a:ln xmlns:a="http://schemas.openxmlformats.org/drawingml/2006/main" w="19050">
            <a:solidFill>
              <a:srgbClr val="26766D"/>
            </a:solidFill>
          </a:ln>
        </p:spPr>
      </p:cxnSp>
      <p:cxnSp>
        <p:nvCxnSpPr>
          <p:cNvPr id="14" name="">
            <a:extLst xmlns:a="http://schemas.openxmlformats.org/drawingml/2006/main">
              <a:ext uri="{FF2B5EF4-FFF2-40B4-BE49-F238E27FC236}">
                <a16:creationId xmlns:a16="http://schemas.microsoft.com/office/drawing/2014/main" id="{891ABCF6-A2D7-429A-86DE-6102A4E5F576}"/>
              </a:ext>
            </a:extLst>
          </p:cNvPr>
          <p:cNvCxnSpPr>
            <a:stCxn xmlns:a="http://schemas.openxmlformats.org/drawingml/2006/main" id="10" idx="1"/>
            <a:endCxn xmlns:a="http://schemas.openxmlformats.org/drawingml/2006/main" id="11" idx="3"/>
          </p:cNvCxnSpPr>
          <p:nvPr/>
        </p:nvCxnSpPr>
        <p:spPr>
          <a:xfrm xmlns:a="http://schemas.openxmlformats.org/drawingml/2006/main" flipH="1">
            <a:off x="3105150" y="4814888"/>
            <a:ext cx="9715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3A8EA51E-4EAF-4A81-AB4D-2EC4436662A7}"/>
              </a:ext>
            </a:extLst>
          </p:cNvPr>
          <p:cNvCxnSpPr>
            <a:stCxn xmlns:a="http://schemas.openxmlformats.org/drawingml/2006/main" id="9" idx="1"/>
            <a:endCxn xmlns:a="http://schemas.openxmlformats.org/drawingml/2006/main" id="10" idx="3"/>
          </p:cNvCxnSpPr>
          <p:nvPr/>
        </p:nvCxnSpPr>
        <p:spPr>
          <a:xfrm xmlns:a="http://schemas.openxmlformats.org/drawingml/2006/main" flipH="1">
            <a:off x="6934200" y="4814888"/>
            <a:ext cx="10096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D9E1ACD1-119F-478D-96FC-CD7855E83395}"/>
              </a:ext>
            </a:extLst>
          </p:cNvPr>
          <p:cNvCxnSpPr>
            <a:stCxn xmlns:a="http://schemas.openxmlformats.org/drawingml/2006/main" id="6" idx="2"/>
            <a:endCxn xmlns:a="http://schemas.openxmlformats.org/drawingml/2006/main" id="9" idx="0"/>
          </p:cNvCxnSpPr>
          <p:nvPr/>
        </p:nvCxnSpPr>
        <p:spPr>
          <a:xfrm xmlns:a="http://schemas.openxmlformats.org/drawingml/2006/main">
            <a:off x="9744075" y="3067050"/>
            <a:ext cx="0" cy="11525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AC4DBE5-72A3-41B1-8FAD-064C42C5A3DF}"/>
              </a:ext>
            </a:extLst>
          </p:cNvPr>
          <p:cNvCxnSpPr>
            <a:stCxn xmlns:a="http://schemas.openxmlformats.org/drawingml/2006/main" id="5" idx="3"/>
            <a:endCxn xmlns:a="http://schemas.openxmlformats.org/drawingml/2006/main" id="6" idx="1"/>
          </p:cNvCxnSpPr>
          <p:nvPr/>
        </p:nvCxnSpPr>
        <p:spPr>
          <a:xfrm xmlns:a="http://schemas.openxmlformats.org/drawingml/2006/main">
            <a:off x="6934200" y="2543175"/>
            <a:ext cx="10096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537EEC8F-C97E-44DA-8495-001811EF7A70}"/>
              </a:ext>
            </a:extLst>
          </p:cNvPr>
          <p:cNvCxnSpPr>
            <a:stCxn xmlns:a="http://schemas.openxmlformats.org/drawingml/2006/main" id="4" idx="3"/>
            <a:endCxn xmlns:a="http://schemas.openxmlformats.org/drawingml/2006/main" id="5" idx="1"/>
          </p:cNvCxnSpPr>
          <p:nvPr/>
        </p:nvCxnSpPr>
        <p:spPr>
          <a:xfrm xmlns:a="http://schemas.openxmlformats.org/drawingml/2006/main">
            <a:off x="3105150" y="2543175"/>
            <a:ext cx="9715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22" name="Reason-KE++ learning pipeline">
            <a:extLst xmlns:a="http://schemas.openxmlformats.org/drawingml/2006/main">
              <a:ext uri="{FF2B5EF4-FFF2-40B4-BE49-F238E27FC236}">
                <a16:creationId xmlns:a16="http://schemas.microsoft.com/office/drawing/2014/main" id="{4D960A2A-9B69-4424-BD87-A7B19CF12F41}"/>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Reason-KE++ learning pipeline</a:t>
            </a:r>
          </a:p>
        </p:txBody>
      </p:sp>
      <p:sp>
        <p:nvSpPr>
          <p:cNvPr id="2" name="Cold-start supervised learning establishes structure. PPO optimizes th">
            <a:extLst xmlns:a="http://schemas.openxmlformats.org/drawingml/2006/main">
              <a:ext uri="{FF2B5EF4-FFF2-40B4-BE49-F238E27FC236}">
                <a16:creationId xmlns:a16="http://schemas.microsoft.com/office/drawing/2014/main" id="{F0BF3257-7208-4137-8E15-A1FADE28AB97}"/>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Cold-start supervised learning establishes structure. PPO optimizes the scored response.</a:t>
            </a:r>
          </a:p>
        </p:txBody>
      </p:sp>
      <p:sp>
        <p:nvSpPr>
          <p:cNvPr id="3" name="5">
            <a:extLst xmlns:a="http://schemas.openxmlformats.org/drawingml/2006/main">
              <a:ext uri="{FF2B5EF4-FFF2-40B4-BE49-F238E27FC236}">
                <a16:creationId xmlns:a16="http://schemas.microsoft.com/office/drawing/2014/main" id="{04A71558-DBDF-4BAD-A2C9-A2EDB97491C8}"/>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5</a:t>
            </a:r>
          </a:p>
        </p:txBody>
      </p:sp>
      <p:sp>
        <p:nvSpPr>
          <p:cNvPr id="4" name="Edited fact +&#10;portability question">
            <a:extLst xmlns:a="http://schemas.openxmlformats.org/drawingml/2006/main">
              <a:ext uri="{FF2B5EF4-FFF2-40B4-BE49-F238E27FC236}">
                <a16:creationId xmlns:a16="http://schemas.microsoft.com/office/drawing/2014/main" id="{C03D0B08-A2DA-4FF3-91DE-30375F324485}"/>
              </a:ext>
            </a:extLst>
          </p:cNvPr>
          <p:cNvSpPr>
            <a:spLocks xmlns:a="http://schemas.openxmlformats.org/drawingml/2006/main" noGrp="1"/>
          </p:cNvSpPr>
          <p:nvPr/>
        </p:nvSpPr>
        <p:spPr>
          <a:xfrm xmlns:a="http://schemas.openxmlformats.org/drawingml/2006/main">
            <a:off x="628650" y="2019300"/>
            <a:ext cx="2476500" cy="104775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Edited fact +</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portability question</a:t>
            </a:r>
          </a:p>
        </p:txBody>
      </p:sp>
      <p:sp>
        <p:nvSpPr>
          <p:cNvPr id="5" name="Teacher-generated&#10;structured examples">
            <a:extLst xmlns:a="http://schemas.openxmlformats.org/drawingml/2006/main">
              <a:ext uri="{FF2B5EF4-FFF2-40B4-BE49-F238E27FC236}">
                <a16:creationId xmlns:a16="http://schemas.microsoft.com/office/drawing/2014/main" id="{417184BD-767C-416C-B03D-400514CCA2D8}"/>
              </a:ext>
            </a:extLst>
          </p:cNvPr>
          <p:cNvSpPr>
            <a:spLocks xmlns:a="http://schemas.openxmlformats.org/drawingml/2006/main" noGrp="1"/>
          </p:cNvSpPr>
          <p:nvPr/>
        </p:nvSpPr>
        <p:spPr>
          <a:xfrm xmlns:a="http://schemas.openxmlformats.org/drawingml/2006/main">
            <a:off x="4076700" y="2019300"/>
            <a:ext cx="2857500" cy="104775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Teacher-generated</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structured examples</a:t>
            </a:r>
          </a:p>
        </p:txBody>
      </p:sp>
      <p:sp>
        <p:nvSpPr>
          <p:cNvPr id="6" name="Supervised fine-tuning&#10;structured response likelihood">
            <a:extLst xmlns:a="http://schemas.openxmlformats.org/drawingml/2006/main">
              <a:ext uri="{FF2B5EF4-FFF2-40B4-BE49-F238E27FC236}">
                <a16:creationId xmlns:a16="http://schemas.microsoft.com/office/drawing/2014/main" id="{358453A8-991B-4C7A-A10F-F2F8C9E87AF9}"/>
              </a:ext>
            </a:extLst>
          </p:cNvPr>
          <p:cNvSpPr>
            <a:spLocks xmlns:a="http://schemas.openxmlformats.org/drawingml/2006/main" noGrp="1"/>
          </p:cNvSpPr>
          <p:nvPr/>
        </p:nvSpPr>
        <p:spPr>
          <a:xfrm xmlns:a="http://schemas.openxmlformats.org/drawingml/2006/main">
            <a:off x="7943850" y="2019300"/>
            <a:ext cx="3600450" cy="104775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Supervised fine-tuning</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structured response likelihood</a:t>
            </a:r>
          </a:p>
        </p:txBody>
      </p:sp>
      <p:sp>
        <p:nvSpPr>
          <p:cNvPr id="9" name="Policy rollouts&#10;acknowledge / decompose / action">
            <a:extLst xmlns:a="http://schemas.openxmlformats.org/drawingml/2006/main">
              <a:ext uri="{FF2B5EF4-FFF2-40B4-BE49-F238E27FC236}">
                <a16:creationId xmlns:a16="http://schemas.microsoft.com/office/drawing/2014/main" id="{171F520C-12B6-4958-8D14-7F30BD5E27A9}"/>
              </a:ext>
            </a:extLst>
          </p:cNvPr>
          <p:cNvSpPr>
            <a:spLocks xmlns:a="http://schemas.openxmlformats.org/drawingml/2006/main" noGrp="1"/>
          </p:cNvSpPr>
          <p:nvPr/>
        </p:nvSpPr>
        <p:spPr>
          <a:xfrm xmlns:a="http://schemas.openxmlformats.org/drawingml/2006/main">
            <a:off x="7943850" y="4219575"/>
            <a:ext cx="3600450" cy="1190625"/>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Policy rollouts</a:t>
            </a:r>
          </a:p>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acknowledge / decompose / action</a:t>
            </a:r>
          </a:p>
        </p:txBody>
      </p:sp>
      <p:sp>
        <p:nvSpPr>
          <p:cNvPr id="10" name="Stage-aware reward&#10;format + process + outcome">
            <a:extLst xmlns:a="http://schemas.openxmlformats.org/drawingml/2006/main">
              <a:ext uri="{FF2B5EF4-FFF2-40B4-BE49-F238E27FC236}">
                <a16:creationId xmlns:a16="http://schemas.microsoft.com/office/drawing/2014/main" id="{1F9A24D6-E638-4D7E-8DC2-F8AA5067B9D7}"/>
              </a:ext>
            </a:extLst>
          </p:cNvPr>
          <p:cNvSpPr>
            <a:spLocks xmlns:a="http://schemas.openxmlformats.org/drawingml/2006/main" noGrp="1"/>
          </p:cNvSpPr>
          <p:nvPr/>
        </p:nvSpPr>
        <p:spPr>
          <a:xfrm xmlns:a="http://schemas.openxmlformats.org/drawingml/2006/main">
            <a:off x="4076700" y="4219575"/>
            <a:ext cx="2857500" cy="1190625"/>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Stage-aware reward</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format + process + outcome</a:t>
            </a:r>
          </a:p>
        </p:txBody>
      </p:sp>
      <p:sp>
        <p:nvSpPr>
          <p:cNvPr id="11" name="PPO policy update&#10;critic + KL control">
            <a:extLst xmlns:a="http://schemas.openxmlformats.org/drawingml/2006/main">
              <a:ext uri="{FF2B5EF4-FFF2-40B4-BE49-F238E27FC236}">
                <a16:creationId xmlns:a16="http://schemas.microsoft.com/office/drawing/2014/main" id="{D5024BB5-4A59-4135-979D-8AA5C7B39D35}"/>
              </a:ext>
            </a:extLst>
          </p:cNvPr>
          <p:cNvSpPr>
            <a:spLocks xmlns:a="http://schemas.openxmlformats.org/drawingml/2006/main" noGrp="1"/>
          </p:cNvSpPr>
          <p:nvPr/>
        </p:nvSpPr>
        <p:spPr>
          <a:xfrm xmlns:a="http://schemas.openxmlformats.org/drawingml/2006/main">
            <a:off x="628650" y="4219575"/>
            <a:ext cx="2476500" cy="1190625"/>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PPO policy update</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critic + KL control</a:t>
            </a:r>
          </a:p>
        </p:txBody>
      </p:sp>
      <p:sp>
        <p:nvSpPr>
          <p:cNvPr id="15" name="PPO feedback start">
            <a:extLst xmlns:a="http://schemas.openxmlformats.org/drawingml/2006/main">
              <a:ext uri="{FF2B5EF4-FFF2-40B4-BE49-F238E27FC236}">
                <a16:creationId xmlns:a16="http://schemas.microsoft.com/office/drawing/2014/main" id="{6C4111D4-4A3F-43E2-9B51-9B00ACBE1DAC}"/>
              </a:ext>
            </a:extLst>
          </p:cNvPr>
          <p:cNvSpPr>
            <a:spLocks xmlns:a="http://schemas.openxmlformats.org/drawingml/2006/main" noGrp="1"/>
          </p:cNvSpPr>
          <p:nvPr/>
        </p:nvSpPr>
        <p:spPr>
          <a:xfrm xmlns:a="http://schemas.openxmlformats.org/drawingml/2006/main">
            <a:off x="1866900" y="5829300"/>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PPO feedback end">
            <a:extLst xmlns:a="http://schemas.openxmlformats.org/drawingml/2006/main">
              <a:ext uri="{FF2B5EF4-FFF2-40B4-BE49-F238E27FC236}">
                <a16:creationId xmlns:a16="http://schemas.microsoft.com/office/drawing/2014/main" id="{6A851E0E-31D8-47E5-9C04-712CB89312FB}"/>
              </a:ext>
            </a:extLst>
          </p:cNvPr>
          <p:cNvSpPr>
            <a:spLocks xmlns:a="http://schemas.openxmlformats.org/drawingml/2006/main" noGrp="1"/>
          </p:cNvSpPr>
          <p:nvPr/>
        </p:nvSpPr>
        <p:spPr>
          <a:xfrm xmlns:a="http://schemas.openxmlformats.org/drawingml/2006/main">
            <a:off x="9744075" y="5829300"/>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updated policy">
            <a:extLst xmlns:a="http://schemas.openxmlformats.org/drawingml/2006/main">
              <a:ext uri="{FF2B5EF4-FFF2-40B4-BE49-F238E27FC236}">
                <a16:creationId xmlns:a16="http://schemas.microsoft.com/office/drawing/2014/main" id="{DC7E733B-983D-4F75-A52D-C21B98C2ECBD}"/>
              </a:ext>
            </a:extLst>
          </p:cNvPr>
          <p:cNvSpPr>
            <a:spLocks xmlns:a="http://schemas.openxmlformats.org/drawingml/2006/main" noGrp="1"/>
          </p:cNvSpPr>
          <p:nvPr/>
        </p:nvSpPr>
        <p:spPr>
          <a:xfrm xmlns:a="http://schemas.openxmlformats.org/drawingml/2006/main">
            <a:off x="4619625" y="55149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26766D"/>
                </a:solidFill>
                <a:latin typeface="Calibri"/>
                <a:ea typeface="Calibri"/>
                <a:cs typeface="Calibri"/>
              </a:defRPr>
            </a:defPPr>
            <a:lvl1pPr algn="ctr">
              <a:defRPr sz="1575" b="0">
                <a:solidFill>
                  <a:srgbClr val="26766D"/>
                </a:solidFill>
                <a:latin typeface="Calibri"/>
                <a:ea typeface="Calibri"/>
                <a:cs typeface="Calibri"/>
              </a:defRPr>
            </a:lvl1pPr>
            <a:lvl2pPr algn="ctr">
              <a:defRPr sz="1575" b="0">
                <a:solidFill>
                  <a:srgbClr val="26766D"/>
                </a:solidFill>
                <a:latin typeface="Calibri"/>
                <a:ea typeface="Calibri"/>
                <a:cs typeface="Calibri"/>
              </a:defRPr>
            </a:lvl2pPr>
            <a:lvl3pPr algn="ctr">
              <a:defRPr sz="1575" b="0">
                <a:solidFill>
                  <a:srgbClr val="26766D"/>
                </a:solidFill>
                <a:latin typeface="Calibri"/>
                <a:ea typeface="Calibri"/>
                <a:cs typeface="Calibri"/>
              </a:defRPr>
            </a:lvl3pPr>
            <a:lvl4pPr algn="ctr">
              <a:defRPr sz="1575" b="0">
                <a:solidFill>
                  <a:srgbClr val="26766D"/>
                </a:solidFill>
                <a:latin typeface="Calibri"/>
                <a:ea typeface="Calibri"/>
                <a:cs typeface="Calibri"/>
              </a:defRPr>
            </a:lvl4pPr>
            <a:lvl5pPr algn="ctr">
              <a:defRPr sz="1575" b="0">
                <a:solidFill>
                  <a:srgbClr val="26766D"/>
                </a:solidFill>
                <a:latin typeface="Calibri"/>
                <a:ea typeface="Calibri"/>
                <a:cs typeface="Calibri"/>
              </a:defRPr>
            </a:lvl5pPr>
            <a:lvl6pPr algn="ctr">
              <a:defRPr sz="1575" b="0">
                <a:solidFill>
                  <a:srgbClr val="26766D"/>
                </a:solidFill>
                <a:latin typeface="Calibri"/>
                <a:ea typeface="Calibri"/>
                <a:cs typeface="Calibri"/>
              </a:defRPr>
            </a:lvl6pPr>
            <a:lvl7pPr algn="ctr">
              <a:defRPr sz="1575" b="0">
                <a:solidFill>
                  <a:srgbClr val="26766D"/>
                </a:solidFill>
                <a:latin typeface="Calibri"/>
                <a:ea typeface="Calibri"/>
                <a:cs typeface="Calibri"/>
              </a:defRPr>
            </a:lvl7pPr>
            <a:lvl8pPr algn="ctr">
              <a:defRPr sz="1575" b="0">
                <a:solidFill>
                  <a:srgbClr val="26766D"/>
                </a:solidFill>
                <a:latin typeface="Calibri"/>
                <a:ea typeface="Calibri"/>
                <a:cs typeface="Calibri"/>
              </a:defRPr>
            </a:lvl8pPr>
            <a:lvl9pPr algn="ctr">
              <a:defRPr sz="1575" b="0">
                <a:solidFill>
                  <a:srgbClr val="26766D"/>
                </a:solidFill>
                <a:latin typeface="Calibri"/>
                <a:ea typeface="Calibri"/>
                <a:cs typeface="Calibri"/>
              </a:defRPr>
            </a:lvl9pPr>
          </a:lstStyle>
          <a:p xmlns:a="http://schemas.openxmlformats.org/drawingml/2006/main">
            <a:pPr algn="ctr">
              <a:defRPr sz="1575" b="0">
                <a:solidFill>
                  <a:srgbClr val="26766D"/>
                </a:solidFill>
                <a:latin typeface="Calibri"/>
                <a:ea typeface="Calibri"/>
                <a:cs typeface="Calibri"/>
              </a:defRPr>
            </a:pPr>
            <a:r>
              <a:rPr sz="1575" b="0">
                <a:solidFill>
                  <a:srgbClr val="26766D"/>
                </a:solidFill>
                <a:latin typeface="Calibri"/>
                <a:ea typeface="Calibri"/>
                <a:cs typeface="Calibri"/>
              </a:rPr>
              <a:t>updated policy</a:t>
            </a:r>
          </a:p>
        </p:txBody>
      </p:sp>
      <p:sp>
        <p:nvSpPr>
          <p:cNvPr id="21" name="Training data design: rewritten facts and labelled reasoning steps. Ve">
            <a:extLst xmlns:a="http://schemas.openxmlformats.org/drawingml/2006/main">
              <a:ext uri="{FF2B5EF4-FFF2-40B4-BE49-F238E27FC236}">
                <a16:creationId xmlns:a16="http://schemas.microsoft.com/office/drawing/2014/main" id="{48303902-B7A4-4261-9C8E-55A5B61694C3}"/>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Training data design: rewritten facts and labelled reasoning steps. Verity supplies its own separate evaluation worlds.</a:t>
            </a:r>
          </a:p>
        </p:txBody>
      </p:sp>
    </p:spTree>
    <p:extLst>
      <p:ext uri="{BB962C8B-B14F-4D97-AF65-F5344CB8AC3E}">
        <p14:creationId xmlns:p14="http://schemas.microsoft.com/office/powerpoint/2010/main" val="1941841948"/>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Structured reasoning and stage-aware rewards">
            <a:extLst xmlns:a="http://schemas.openxmlformats.org/drawingml/2006/main">
              <a:ext uri="{FF2B5EF4-FFF2-40B4-BE49-F238E27FC236}">
                <a16:creationId xmlns:a16="http://schemas.microsoft.com/office/drawing/2014/main" id="{C80E04E4-6AB5-4A4F-8125-F463F32098AF}"/>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Structured reasoning and stage-aware rewards</a:t>
            </a:r>
          </a:p>
        </p:txBody>
      </p:sp>
      <p:sp>
        <p:nvSpPr>
          <p:cNvPr id="2" name="The output format makes intermediate steps machine-readable for traini">
            <a:extLst xmlns:a="http://schemas.openxmlformats.org/drawingml/2006/main">
              <a:ext uri="{FF2B5EF4-FFF2-40B4-BE49-F238E27FC236}">
                <a16:creationId xmlns:a16="http://schemas.microsoft.com/office/drawing/2014/main" id="{10BC10A5-1648-4ED7-AE70-A2546B62A6BC}"/>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output format makes intermediate steps machine-readable for training rewards.</a:t>
            </a:r>
          </a:p>
        </p:txBody>
      </p:sp>
      <p:sp>
        <p:nvSpPr>
          <p:cNvPr id="3" name="6">
            <a:extLst xmlns:a="http://schemas.openxmlformats.org/drawingml/2006/main">
              <a:ext uri="{FF2B5EF4-FFF2-40B4-BE49-F238E27FC236}">
                <a16:creationId xmlns:a16="http://schemas.microsoft.com/office/drawing/2014/main" id="{AE76719B-AC85-4361-9AF9-28177364D525}"/>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6</a:t>
            </a:r>
          </a:p>
        </p:txBody>
      </p:sp>
      <p:sp>
        <p:nvSpPr>
          <p:cNvPr id="4" name="&lt;think&gt;&#10;  &lt;acknowledge&gt; ... &lt;/acknowledge&gt;&#10;  &lt;decompose&gt; ... &lt;/decompo">
            <a:extLst xmlns:a="http://schemas.openxmlformats.org/drawingml/2006/main">
              <a:ext uri="{FF2B5EF4-FFF2-40B4-BE49-F238E27FC236}">
                <a16:creationId xmlns:a16="http://schemas.microsoft.com/office/drawing/2014/main" id="{307BB4A0-A20C-4716-B09B-26D2F07373B4}"/>
              </a:ext>
            </a:extLst>
          </p:cNvPr>
          <p:cNvSpPr>
            <a:spLocks xmlns:a="http://schemas.openxmlformats.org/drawingml/2006/main" noGrp="1"/>
          </p:cNvSpPr>
          <p:nvPr/>
        </p:nvSpPr>
        <p:spPr>
          <a:xfrm xmlns:a="http://schemas.openxmlformats.org/drawingml/2006/main">
            <a:off x="647700" y="1885950"/>
            <a:ext cx="5619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52B2B"/>
                </a:solidFill>
                <a:latin typeface="Consolas"/>
                <a:ea typeface="Consolas"/>
                <a:cs typeface="Consolas"/>
              </a:defRPr>
            </a:defPPr>
            <a:lvl1pPr algn="l">
              <a:defRPr sz="1725" b="0">
                <a:solidFill>
                  <a:srgbClr val="152B2B"/>
                </a:solidFill>
                <a:latin typeface="Consolas"/>
                <a:ea typeface="Consolas"/>
                <a:cs typeface="Consolas"/>
              </a:defRPr>
            </a:lvl1pPr>
            <a:lvl2pPr algn="l">
              <a:defRPr sz="1725" b="0">
                <a:solidFill>
                  <a:srgbClr val="152B2B"/>
                </a:solidFill>
                <a:latin typeface="Consolas"/>
                <a:ea typeface="Consolas"/>
                <a:cs typeface="Consolas"/>
              </a:defRPr>
            </a:lvl2pPr>
            <a:lvl3pPr algn="l">
              <a:defRPr sz="1725" b="0">
                <a:solidFill>
                  <a:srgbClr val="152B2B"/>
                </a:solidFill>
                <a:latin typeface="Consolas"/>
                <a:ea typeface="Consolas"/>
                <a:cs typeface="Consolas"/>
              </a:defRPr>
            </a:lvl3pPr>
            <a:lvl4pPr algn="l">
              <a:defRPr sz="1725" b="0">
                <a:solidFill>
                  <a:srgbClr val="152B2B"/>
                </a:solidFill>
                <a:latin typeface="Consolas"/>
                <a:ea typeface="Consolas"/>
                <a:cs typeface="Consolas"/>
              </a:defRPr>
            </a:lvl4pPr>
            <a:lvl5pPr algn="l">
              <a:defRPr sz="1725" b="0">
                <a:solidFill>
                  <a:srgbClr val="152B2B"/>
                </a:solidFill>
                <a:latin typeface="Consolas"/>
                <a:ea typeface="Consolas"/>
                <a:cs typeface="Consolas"/>
              </a:defRPr>
            </a:lvl5pPr>
            <a:lvl6pPr algn="l">
              <a:defRPr sz="1725" b="0">
                <a:solidFill>
                  <a:srgbClr val="152B2B"/>
                </a:solidFill>
                <a:latin typeface="Consolas"/>
                <a:ea typeface="Consolas"/>
                <a:cs typeface="Consolas"/>
              </a:defRPr>
            </a:lvl6pPr>
            <a:lvl7pPr algn="l">
              <a:defRPr sz="1725" b="0">
                <a:solidFill>
                  <a:srgbClr val="152B2B"/>
                </a:solidFill>
                <a:latin typeface="Consolas"/>
                <a:ea typeface="Consolas"/>
                <a:cs typeface="Consolas"/>
              </a:defRPr>
            </a:lvl7pPr>
            <a:lvl8pPr algn="l">
              <a:defRPr sz="1725" b="0">
                <a:solidFill>
                  <a:srgbClr val="152B2B"/>
                </a:solidFill>
                <a:latin typeface="Consolas"/>
                <a:ea typeface="Consolas"/>
                <a:cs typeface="Consolas"/>
              </a:defRPr>
            </a:lvl8pPr>
            <a:lvl9pPr algn="l">
              <a:defRPr sz="1725" b="0">
                <a:solidFill>
                  <a:srgbClr val="152B2B"/>
                </a:solidFill>
                <a:latin typeface="Consolas"/>
                <a:ea typeface="Consolas"/>
                <a:cs typeface="Consolas"/>
              </a:defRPr>
            </a:lvl9pPr>
          </a:lstStyle>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&lt;think&gt;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  &lt;acknowledge&gt; ... &lt;/acknowledge&gt;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  &lt;decompose&gt; ... &lt;/decompose&gt;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  &lt;action&gt;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    [Sub question i] ... \boxed{aᵢ}</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  &lt;/action&gt;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&lt;/think&gt;</a:t>
            </a:r>
          </a:p>
          <a:p xmlns:a="http://schemas.openxmlformats.org/drawingml/2006/main">
            <a:pPr algn="l">
              <a:defRPr sz="1725" b="0">
                <a:solidFill>
                  <a:srgbClr val="152B2B"/>
                </a:solidFill>
                <a:latin typeface="Consolas"/>
                <a:ea typeface="Consolas"/>
                <a:cs typeface="Consolas"/>
              </a:defRPr>
            </a:pPr>
            <a:r>
              <a:rPr sz="1725" b="0">
                <a:solidFill>
                  <a:srgbClr val="152B2B"/>
                </a:solidFill>
                <a:latin typeface="Consolas"/>
                <a:ea typeface="Consolas"/>
                <a:cs typeface="Consolas"/>
              </a:rPr>
              <a:t>&lt;answer&gt;final answer&lt;/answer&gt;</a:t>
            </a:r>
          </a:p>
        </p:txBody>
      </p:sp>
      <p:sp>
        <p:nvSpPr>
          <p:cNvPr id="5" name="Released reward implementation">
            <a:extLst xmlns:a="http://schemas.openxmlformats.org/drawingml/2006/main">
              <a:ext uri="{FF2B5EF4-FFF2-40B4-BE49-F238E27FC236}">
                <a16:creationId xmlns:a16="http://schemas.microsoft.com/office/drawing/2014/main" id="{BF281308-7EBC-4FAB-8DE6-23B815E3CD61}"/>
              </a:ext>
            </a:extLst>
          </p:cNvPr>
          <p:cNvSpPr>
            <a:spLocks xmlns:a="http://schemas.openxmlformats.org/drawingml/2006/main" noGrp="1"/>
          </p:cNvSpPr>
          <p:nvPr/>
        </p:nvSpPr>
        <p:spPr>
          <a:xfrm xmlns:a="http://schemas.openxmlformats.org/drawingml/2006/main">
            <a:off x="7000875" y="18478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Released reward implementation</a:t>
            </a:r>
          </a:p>
        </p:txBody>
      </p:sp>
      <p:sp>
        <p:nvSpPr>
          <p:cNvPr id="6" name="H  Correct hop count&#10;D  Aligned subquestion similarity&#10;A  Correct boxe">
            <a:extLst xmlns:a="http://schemas.openxmlformats.org/drawingml/2006/main">
              <a:ext uri="{FF2B5EF4-FFF2-40B4-BE49-F238E27FC236}">
                <a16:creationId xmlns:a16="http://schemas.microsoft.com/office/drawing/2014/main" id="{14E6EA67-E874-437B-96BA-333F622E1EF9}"/>
              </a:ext>
            </a:extLst>
          </p:cNvPr>
          <p:cNvSpPr>
            <a:spLocks xmlns:a="http://schemas.openxmlformats.org/drawingml/2006/main" noGrp="1"/>
          </p:cNvSpPr>
          <p:nvPr/>
        </p:nvSpPr>
        <p:spPr>
          <a:xfrm xmlns:a="http://schemas.openxmlformats.org/drawingml/2006/main">
            <a:off x="7000875" y="2390775"/>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H  Correct hop count</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D  Aligned subquestion similarity</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A  Correct boxed subanswer fraction</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F  Final-answer token F1</a:t>
            </a:r>
          </a:p>
        </p:txBody>
      </p:sp>
      <p:sp>
        <p:nvSpPr>
          <p:cNvPr id="7" name="R = 0.2H + 0.4D + 0.4A + F">
            <a:extLst xmlns:a="http://schemas.openxmlformats.org/drawingml/2006/main">
              <a:ext uri="{FF2B5EF4-FFF2-40B4-BE49-F238E27FC236}">
                <a16:creationId xmlns:a16="http://schemas.microsoft.com/office/drawing/2014/main" id="{61FC0AB3-3472-4CAF-BD49-F73E10A632FA}"/>
              </a:ext>
            </a:extLst>
          </p:cNvPr>
          <p:cNvSpPr>
            <a:spLocks xmlns:a="http://schemas.openxmlformats.org/drawingml/2006/main" noGrp="1"/>
          </p:cNvSpPr>
          <p:nvPr/>
        </p:nvSpPr>
        <p:spPr>
          <a:xfrm xmlns:a="http://schemas.openxmlformats.org/drawingml/2006/main">
            <a:off x="647700" y="53054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6766D"/>
                </a:solidFill>
                <a:latin typeface="Calibri"/>
                <a:ea typeface="Calibri"/>
                <a:cs typeface="Calibri"/>
              </a:defRPr>
            </a:defPPr>
            <a:lvl1pPr algn="l">
              <a:defRPr sz="2550" b="1">
                <a:solidFill>
                  <a:srgbClr val="26766D"/>
                </a:solidFill>
                <a:latin typeface="Calibri"/>
                <a:ea typeface="Calibri"/>
                <a:cs typeface="Calibri"/>
              </a:defRPr>
            </a:lvl1pPr>
            <a:lvl2pPr algn="l">
              <a:defRPr sz="2550" b="1">
                <a:solidFill>
                  <a:srgbClr val="26766D"/>
                </a:solidFill>
                <a:latin typeface="Calibri"/>
                <a:ea typeface="Calibri"/>
                <a:cs typeface="Calibri"/>
              </a:defRPr>
            </a:lvl2pPr>
            <a:lvl3pPr algn="l">
              <a:defRPr sz="2550" b="1">
                <a:solidFill>
                  <a:srgbClr val="26766D"/>
                </a:solidFill>
                <a:latin typeface="Calibri"/>
                <a:ea typeface="Calibri"/>
                <a:cs typeface="Calibri"/>
              </a:defRPr>
            </a:lvl3pPr>
            <a:lvl4pPr algn="l">
              <a:defRPr sz="2550" b="1">
                <a:solidFill>
                  <a:srgbClr val="26766D"/>
                </a:solidFill>
                <a:latin typeface="Calibri"/>
                <a:ea typeface="Calibri"/>
                <a:cs typeface="Calibri"/>
              </a:defRPr>
            </a:lvl4pPr>
            <a:lvl5pPr algn="l">
              <a:defRPr sz="2550" b="1">
                <a:solidFill>
                  <a:srgbClr val="26766D"/>
                </a:solidFill>
                <a:latin typeface="Calibri"/>
                <a:ea typeface="Calibri"/>
                <a:cs typeface="Calibri"/>
              </a:defRPr>
            </a:lvl5pPr>
            <a:lvl6pPr algn="l">
              <a:defRPr sz="2550" b="1">
                <a:solidFill>
                  <a:srgbClr val="26766D"/>
                </a:solidFill>
                <a:latin typeface="Calibri"/>
                <a:ea typeface="Calibri"/>
                <a:cs typeface="Calibri"/>
              </a:defRPr>
            </a:lvl6pPr>
            <a:lvl7pPr algn="l">
              <a:defRPr sz="2550" b="1">
                <a:solidFill>
                  <a:srgbClr val="26766D"/>
                </a:solidFill>
                <a:latin typeface="Calibri"/>
                <a:ea typeface="Calibri"/>
                <a:cs typeface="Calibri"/>
              </a:defRPr>
            </a:lvl7pPr>
            <a:lvl8pPr algn="l">
              <a:defRPr sz="2550" b="1">
                <a:solidFill>
                  <a:srgbClr val="26766D"/>
                </a:solidFill>
                <a:latin typeface="Calibri"/>
                <a:ea typeface="Calibri"/>
                <a:cs typeface="Calibri"/>
              </a:defRPr>
            </a:lvl8pPr>
            <a:lvl9pPr algn="l">
              <a:defRPr sz="2550" b="1">
                <a:solidFill>
                  <a:srgbClr val="26766D"/>
                </a:solidFill>
                <a:latin typeface="Calibri"/>
                <a:ea typeface="Calibri"/>
                <a:cs typeface="Calibri"/>
              </a:defRPr>
            </a:lvl9pPr>
          </a:lstStyle>
          <a:p xmlns:a="http://schemas.openxmlformats.org/drawingml/2006/main">
            <a:pPr algn="l">
              <a:defRPr sz="2550" b="1">
                <a:solidFill>
                  <a:srgbClr val="26766D"/>
                </a:solidFill>
                <a:latin typeface="Calibri"/>
                <a:ea typeface="Calibri"/>
                <a:cs typeface="Calibri"/>
              </a:defRPr>
            </a:pPr>
            <a:r>
              <a:rPr sz="2550" b="1">
                <a:solidFill>
                  <a:srgbClr val="26766D"/>
                </a:solidFill>
                <a:latin typeface="Calibri"/>
                <a:ea typeface="Calibri"/>
                <a:cs typeface="Calibri"/>
              </a:rPr>
              <a:t>R = 0.2H + 0.4D + 0.4A + F</a:t>
            </a:r>
          </a:p>
        </p:txBody>
      </p:sp>
      <p:sp>
        <p:nvSpPr>
          <p:cNvPr id="8" name="Invalid structure receives −1. Training rewards score generated stages">
            <a:extLst xmlns:a="http://schemas.openxmlformats.org/drawingml/2006/main">
              <a:ext uri="{FF2B5EF4-FFF2-40B4-BE49-F238E27FC236}">
                <a16:creationId xmlns:a16="http://schemas.microsoft.com/office/drawing/2014/main" id="{FBF7EC3D-E2B6-4D1B-AD0E-4A3AB9CCF074}"/>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Invalid structure receives −1. Training rewards score generated stages. Chat displays text and its supplied sources.</a:t>
            </a:r>
          </a:p>
        </p:txBody>
      </p:sp>
    </p:spTree>
    <p:extLst>
      <p:ext uri="{BB962C8B-B14F-4D97-AF65-F5344CB8AC3E}">
        <p14:creationId xmlns:p14="http://schemas.microsoft.com/office/powerpoint/2010/main" val="1988849048"/>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D889AA00-F89A-450B-8B02-9DD6F47F3889}"/>
              </a:ext>
            </a:extLst>
          </p:cNvPr>
          <p:cNvCxnSpPr>
            <a:stCxn xmlns:a="http://schemas.openxmlformats.org/drawingml/2006/main" id="11" idx="2"/>
            <a:endCxn xmlns:a="http://schemas.openxmlformats.org/drawingml/2006/main" id="12" idx="0"/>
          </p:cNvCxnSpPr>
          <p:nvPr/>
        </p:nvCxnSpPr>
        <p:spPr>
          <a:xfrm xmlns:a="http://schemas.openxmlformats.org/drawingml/2006/main">
            <a:off x="9982200" y="3362325"/>
            <a:ext cx="0" cy="10001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CC2A1802-A3A5-453F-A88B-E8C6BECB6E2D}"/>
              </a:ext>
            </a:extLst>
          </p:cNvPr>
          <p:cNvCxnSpPr>
            <a:stCxn xmlns:a="http://schemas.openxmlformats.org/drawingml/2006/main" id="10" idx="3"/>
            <a:endCxn xmlns:a="http://schemas.openxmlformats.org/drawingml/2006/main" id="11" idx="1"/>
          </p:cNvCxnSpPr>
          <p:nvPr/>
        </p:nvCxnSpPr>
        <p:spPr>
          <a:xfrm xmlns:a="http://schemas.openxmlformats.org/drawingml/2006/main" flipV="1">
            <a:off x="7600950" y="2828925"/>
            <a:ext cx="819150" cy="2066925"/>
          </a:xfrm>
          <a:prstGeom xmlns:a="http://schemas.openxmlformats.org/drawingml/2006/main" prst="bentConnector3">
            <a:avLst>
              <a:gd name="adj1" fmla="val 50000"/>
            </a:avLst>
          </a:prstGeom>
          <a:ln xmlns:a="http://schemas.openxmlformats.org/drawingml/2006/main" w="19050">
            <a:solidFill>
              <a:srgbClr val="26766D"/>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1947B8D6-EE78-4AE6-BA2F-690A93477886}"/>
              </a:ext>
            </a:extLst>
          </p:cNvPr>
          <p:cNvCxnSpPr>
            <a:stCxn xmlns:a="http://schemas.openxmlformats.org/drawingml/2006/main" id="9" idx="3"/>
            <a:endCxn xmlns:a="http://schemas.openxmlformats.org/drawingml/2006/main" id="11" idx="1"/>
          </p:cNvCxnSpPr>
          <p:nvPr/>
        </p:nvCxnSpPr>
        <p:spPr>
          <a:xfrm xmlns:a="http://schemas.openxmlformats.org/drawingml/2006/main">
            <a:off x="7600950" y="2828925"/>
            <a:ext cx="8191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6B43348E-44E9-436F-A19E-FFD44E61188D}"/>
              </a:ext>
            </a:extLst>
          </p:cNvPr>
          <p:cNvCxnSpPr>
            <a:stCxn xmlns:a="http://schemas.openxmlformats.org/drawingml/2006/main" id="8" idx="3"/>
            <a:endCxn xmlns:a="http://schemas.openxmlformats.org/drawingml/2006/main" id="10" idx="1"/>
          </p:cNvCxnSpPr>
          <p:nvPr/>
        </p:nvCxnSpPr>
        <p:spPr>
          <a:xfrm xmlns:a="http://schemas.openxmlformats.org/drawingml/2006/main">
            <a:off x="3552825" y="4895850"/>
            <a:ext cx="666750"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7B8F61AC-D6AA-4119-8166-0CBC6009213A}"/>
              </a:ext>
            </a:extLst>
          </p:cNvPr>
          <p:cNvCxnSpPr>
            <a:stCxn xmlns:a="http://schemas.openxmlformats.org/drawingml/2006/main" id="8" idx="3"/>
            <a:endCxn xmlns:a="http://schemas.openxmlformats.org/drawingml/2006/main" id="9" idx="1"/>
          </p:cNvCxnSpPr>
          <p:nvPr/>
        </p:nvCxnSpPr>
        <p:spPr>
          <a:xfrm xmlns:a="http://schemas.openxmlformats.org/drawingml/2006/main" flipV="1">
            <a:off x="3552825" y="2828925"/>
            <a:ext cx="666750" cy="2066925"/>
          </a:xfrm>
          <a:prstGeom xmlns:a="http://schemas.openxmlformats.org/drawingml/2006/main" prst="bentConnector3">
            <a:avLst>
              <a:gd name="adj1" fmla="val 50000"/>
            </a:avLst>
          </a:prstGeom>
          <a:ln xmlns:a="http://schemas.openxmlformats.org/drawingml/2006/main" w="19050">
            <a:solidFill>
              <a:srgbClr val="26766D"/>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79088740-28E0-4699-AD83-25A10E64CBE3}"/>
              </a:ext>
            </a:extLst>
          </p:cNvPr>
          <p:cNvCxnSpPr>
            <a:stCxn xmlns:a="http://schemas.openxmlformats.org/drawingml/2006/main" id="7" idx="2"/>
            <a:endCxn xmlns:a="http://schemas.openxmlformats.org/drawingml/2006/main" id="8" idx="0"/>
          </p:cNvCxnSpPr>
          <p:nvPr/>
        </p:nvCxnSpPr>
        <p:spPr>
          <a:xfrm xmlns:a="http://schemas.openxmlformats.org/drawingml/2006/main">
            <a:off x="2100263" y="3362325"/>
            <a:ext cx="0" cy="10001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20" name="The implemented inference architecture">
            <a:extLst xmlns:a="http://schemas.openxmlformats.org/drawingml/2006/main">
              <a:ext uri="{FF2B5EF4-FFF2-40B4-BE49-F238E27FC236}">
                <a16:creationId xmlns:a16="http://schemas.microsoft.com/office/drawing/2014/main" id="{43C57632-F8A4-4B8F-BA09-9E8145E04AB5}"/>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The implemented inference architecture</a:t>
            </a:r>
          </a:p>
        </p:txBody>
      </p:sp>
      <p:sp>
        <p:nvSpPr>
          <p:cNvPr id="2" name="Approved state and lexical context selection feed a separately hosted ">
            <a:extLst xmlns:a="http://schemas.openxmlformats.org/drawingml/2006/main">
              <a:ext uri="{FF2B5EF4-FFF2-40B4-BE49-F238E27FC236}">
                <a16:creationId xmlns:a16="http://schemas.microsoft.com/office/drawing/2014/main" id="{4A41F054-7DC3-46FD-B2E4-242AB6475F31}"/>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Approved state and lexical context selection feed a separately hosted frozen model.</a:t>
            </a:r>
          </a:p>
        </p:txBody>
      </p:sp>
      <p:sp>
        <p:nvSpPr>
          <p:cNvPr id="3" name="7">
            <a:extLst xmlns:a="http://schemas.openxmlformats.org/drawingml/2006/main">
              <a:ext uri="{FF2B5EF4-FFF2-40B4-BE49-F238E27FC236}">
                <a16:creationId xmlns:a16="http://schemas.microsoft.com/office/drawing/2014/main" id="{97B2BED6-7ED1-4F41-96B4-07BE8686BE53}"/>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7</a:t>
            </a:r>
          </a:p>
        </p:txBody>
      </p:sp>
      <p:sp>
        <p:nvSpPr>
          <p:cNvPr id="4" name="Deterministic state">
            <a:extLst xmlns:a="http://schemas.openxmlformats.org/drawingml/2006/main">
              <a:ext uri="{FF2B5EF4-FFF2-40B4-BE49-F238E27FC236}">
                <a16:creationId xmlns:a16="http://schemas.microsoft.com/office/drawing/2014/main" id="{C4190C6C-D8AC-4EF4-8435-664C6B3BF0DE}"/>
              </a:ext>
            </a:extLst>
          </p:cNvPr>
          <p:cNvSpPr>
            <a:spLocks xmlns:a="http://schemas.openxmlformats.org/drawingml/2006/main" noGrp="1"/>
          </p:cNvSpPr>
          <p:nvPr/>
        </p:nvSpPr>
        <p:spPr>
          <a:xfrm xmlns:a="http://schemas.openxmlformats.org/drawingml/2006/main">
            <a:off x="647700" y="16573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Deterministic state</a:t>
            </a:r>
          </a:p>
        </p:txBody>
      </p:sp>
      <p:sp>
        <p:nvSpPr>
          <p:cNvPr id="5" name="Deterministic context">
            <a:extLst xmlns:a="http://schemas.openxmlformats.org/drawingml/2006/main">
              <a:ext uri="{FF2B5EF4-FFF2-40B4-BE49-F238E27FC236}">
                <a16:creationId xmlns:a16="http://schemas.microsoft.com/office/drawing/2014/main" id="{F34C94D7-34F1-4DA7-9C0F-433D57B7FA17}"/>
              </a:ext>
            </a:extLst>
          </p:cNvPr>
          <p:cNvSpPr>
            <a:spLocks xmlns:a="http://schemas.openxmlformats.org/drawingml/2006/main" noGrp="1"/>
          </p:cNvSpPr>
          <p:nvPr/>
        </p:nvSpPr>
        <p:spPr>
          <a:xfrm xmlns:a="http://schemas.openxmlformats.org/drawingml/2006/main">
            <a:off x="4219575" y="16573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Deterministic context</a:t>
            </a:r>
          </a:p>
        </p:txBody>
      </p:sp>
      <p:sp>
        <p:nvSpPr>
          <p:cNvPr id="6" name="Neural inference">
            <a:extLst xmlns:a="http://schemas.openxmlformats.org/drawingml/2006/main">
              <a:ext uri="{FF2B5EF4-FFF2-40B4-BE49-F238E27FC236}">
                <a16:creationId xmlns:a16="http://schemas.microsoft.com/office/drawing/2014/main" id="{802DFE70-A1E4-416D-8695-47166B6ED7D1}"/>
              </a:ext>
            </a:extLst>
          </p:cNvPr>
          <p:cNvSpPr>
            <a:spLocks xmlns:a="http://schemas.openxmlformats.org/drawingml/2006/main" noGrp="1"/>
          </p:cNvSpPr>
          <p:nvPr/>
        </p:nvSpPr>
        <p:spPr>
          <a:xfrm xmlns:a="http://schemas.openxmlformats.org/drawingml/2006/main">
            <a:off x="8420100" y="165735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Neural inference</a:t>
            </a:r>
          </a:p>
        </p:txBody>
      </p:sp>
      <p:sp>
        <p:nvSpPr>
          <p:cNvPr id="7" name="Browser + API&#10;validation and operation lock">
            <a:extLst xmlns:a="http://schemas.openxmlformats.org/drawingml/2006/main">
              <a:ext uri="{FF2B5EF4-FFF2-40B4-BE49-F238E27FC236}">
                <a16:creationId xmlns:a16="http://schemas.microsoft.com/office/drawing/2014/main" id="{6092A375-5BE6-4CC7-BF76-FCDC1898E29A}"/>
              </a:ext>
            </a:extLst>
          </p:cNvPr>
          <p:cNvSpPr>
            <a:spLocks xmlns:a="http://schemas.openxmlformats.org/drawingml/2006/main" noGrp="1"/>
          </p:cNvSpPr>
          <p:nvPr/>
        </p:nvSpPr>
        <p:spPr>
          <a:xfrm xmlns:a="http://schemas.openxmlformats.org/drawingml/2006/main">
            <a:off x="647700" y="2295525"/>
            <a:ext cx="2905125" cy="10668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Browser + API</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validation and operation lock</a:t>
            </a:r>
          </a:p>
        </p:txBody>
      </p:sp>
      <p:sp>
        <p:nvSpPr>
          <p:cNvPr id="8" name="SQLite approved memory&#10;facts, events and revision">
            <a:extLst xmlns:a="http://schemas.openxmlformats.org/drawingml/2006/main">
              <a:ext uri="{FF2B5EF4-FFF2-40B4-BE49-F238E27FC236}">
                <a16:creationId xmlns:a16="http://schemas.microsoft.com/office/drawing/2014/main" id="{03EEBC00-B30D-4BE9-9346-DA9ECAF73FA9}"/>
              </a:ext>
            </a:extLst>
          </p:cNvPr>
          <p:cNvSpPr>
            <a:spLocks xmlns:a="http://schemas.openxmlformats.org/drawingml/2006/main" noGrp="1"/>
          </p:cNvSpPr>
          <p:nvPr/>
        </p:nvSpPr>
        <p:spPr>
          <a:xfrm xmlns:a="http://schemas.openxmlformats.org/drawingml/2006/main">
            <a:off x="647700" y="4362450"/>
            <a:ext cx="2905125" cy="10668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SQLite approved memory</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facts, events and revision</a:t>
            </a:r>
          </a:p>
        </p:txBody>
      </p:sp>
      <p:sp>
        <p:nvSpPr>
          <p:cNvPr id="9" name="Bounded lexical selector&#10;at most four approved facts">
            <a:extLst xmlns:a="http://schemas.openxmlformats.org/drawingml/2006/main">
              <a:ext uri="{FF2B5EF4-FFF2-40B4-BE49-F238E27FC236}">
                <a16:creationId xmlns:a16="http://schemas.microsoft.com/office/drawing/2014/main" id="{ACB7CE78-D4D7-43BD-A7AF-C7685E71D3FE}"/>
              </a:ext>
            </a:extLst>
          </p:cNvPr>
          <p:cNvSpPr>
            <a:spLocks xmlns:a="http://schemas.openxmlformats.org/drawingml/2006/main" noGrp="1"/>
          </p:cNvSpPr>
          <p:nvPr/>
        </p:nvSpPr>
        <p:spPr>
          <a:xfrm xmlns:a="http://schemas.openxmlformats.org/drawingml/2006/main">
            <a:off x="4219575" y="2295525"/>
            <a:ext cx="3381375" cy="10668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Bounded lexical selector</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at most four approved facts</a:t>
            </a:r>
          </a:p>
        </p:txBody>
      </p:sp>
      <p:sp>
        <p:nvSpPr>
          <p:cNvPr id="10" name="History and prompt assembly&#10;compatible complete pairs">
            <a:extLst xmlns:a="http://schemas.openxmlformats.org/drawingml/2006/main">
              <a:ext uri="{FF2B5EF4-FFF2-40B4-BE49-F238E27FC236}">
                <a16:creationId xmlns:a16="http://schemas.microsoft.com/office/drawing/2014/main" id="{FDD5BD92-BC57-427B-B46D-2920278BA444}"/>
              </a:ext>
            </a:extLst>
          </p:cNvPr>
          <p:cNvSpPr>
            <a:spLocks xmlns:a="http://schemas.openxmlformats.org/drawingml/2006/main" noGrp="1"/>
          </p:cNvSpPr>
          <p:nvPr/>
        </p:nvSpPr>
        <p:spPr>
          <a:xfrm xmlns:a="http://schemas.openxmlformats.org/drawingml/2006/main">
            <a:off x="4219575" y="4362450"/>
            <a:ext cx="3381375" cy="10668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History and prompt assembly</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compatible complete pairs</a:t>
            </a:r>
          </a:p>
        </p:txBody>
      </p:sp>
      <p:sp>
        <p:nvSpPr>
          <p:cNvPr id="11" name="Private Reason-KE++ worker&#10;authenticated inference">
            <a:extLst xmlns:a="http://schemas.openxmlformats.org/drawingml/2006/main">
              <a:ext uri="{FF2B5EF4-FFF2-40B4-BE49-F238E27FC236}">
                <a16:creationId xmlns:a16="http://schemas.microsoft.com/office/drawing/2014/main" id="{5B3D2D51-1AB3-49D2-A5A9-A6E613738E9F}"/>
              </a:ext>
            </a:extLst>
          </p:cNvPr>
          <p:cNvSpPr>
            <a:spLocks xmlns:a="http://schemas.openxmlformats.org/drawingml/2006/main" noGrp="1"/>
          </p:cNvSpPr>
          <p:nvPr/>
        </p:nvSpPr>
        <p:spPr>
          <a:xfrm xmlns:a="http://schemas.openxmlformats.org/drawingml/2006/main">
            <a:off x="8420100" y="2295525"/>
            <a:ext cx="3124200" cy="10668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Private Reason-KE++ worker</a:t>
            </a:r>
          </a:p>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authenticated inference</a:t>
            </a:r>
          </a:p>
        </p:txBody>
      </p:sp>
      <p:sp>
        <p:nvSpPr>
          <p:cNvPr id="12" name="API extraction + persistence&#10;answer, raw trace and evidence">
            <a:extLst xmlns:a="http://schemas.openxmlformats.org/drawingml/2006/main">
              <a:ext uri="{FF2B5EF4-FFF2-40B4-BE49-F238E27FC236}">
                <a16:creationId xmlns:a16="http://schemas.microsoft.com/office/drawing/2014/main" id="{AB8C8865-1F01-4133-89E2-B1CB968DF170}"/>
              </a:ext>
            </a:extLst>
          </p:cNvPr>
          <p:cNvSpPr>
            <a:spLocks xmlns:a="http://schemas.openxmlformats.org/drawingml/2006/main" noGrp="1"/>
          </p:cNvSpPr>
          <p:nvPr/>
        </p:nvSpPr>
        <p:spPr>
          <a:xfrm xmlns:a="http://schemas.openxmlformats.org/drawingml/2006/main">
            <a:off x="8420100" y="4362450"/>
            <a:ext cx="3124200" cy="10668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API extraction + persistence</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answer, raw trace and evidence</a:t>
            </a:r>
          </a:p>
        </p:txBody>
      </p:sp>
      <p:sp>
        <p:nvSpPr>
          <p:cNvPr id="19" name="The store defines approved state. Retrieval selects context. The neura">
            <a:extLst xmlns:a="http://schemas.openxmlformats.org/drawingml/2006/main">
              <a:ext uri="{FF2B5EF4-FFF2-40B4-BE49-F238E27FC236}">
                <a16:creationId xmlns:a16="http://schemas.microsoft.com/office/drawing/2014/main" id="{7882F79E-1308-4172-98C6-D3FBBBCD488E}"/>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The store defines approved state. Retrieval selects context. The neural worker generates the answer.</a:t>
            </a:r>
          </a:p>
        </p:txBody>
      </p:sp>
    </p:spTree>
    <p:extLst>
      <p:ext uri="{BB962C8B-B14F-4D97-AF65-F5344CB8AC3E}">
        <p14:creationId xmlns:p14="http://schemas.microsoft.com/office/powerpoint/2010/main" val="612071746"/>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44" name="">
            <a:extLst xmlns:a="http://schemas.openxmlformats.org/drawingml/2006/main">
              <a:ext uri="{FF2B5EF4-FFF2-40B4-BE49-F238E27FC236}">
                <a16:creationId xmlns:a16="http://schemas.microsoft.com/office/drawing/2014/main" id="{3B417C57-DDFB-4648-9367-737CC4E61986}"/>
              </a:ext>
            </a:extLst>
          </p:cNvPr>
          <p:cNvCxnSpPr>
            <a:stCxn xmlns:a="http://schemas.openxmlformats.org/drawingml/2006/main" id="42" idx="3"/>
            <a:endCxn xmlns:a="http://schemas.openxmlformats.org/drawingml/2006/main" id="43" idx="1"/>
          </p:cNvCxnSpPr>
          <p:nvPr/>
        </p:nvCxnSpPr>
        <p:spPr>
          <a:xfrm xmlns:a="http://schemas.openxmlformats.org/drawingml/2006/main" flipH="1">
            <a:off x="952500" y="5757863"/>
            <a:ext cx="239077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40" name="">
            <a:extLst xmlns:a="http://schemas.openxmlformats.org/drawingml/2006/main">
              <a:ext uri="{FF2B5EF4-FFF2-40B4-BE49-F238E27FC236}">
                <a16:creationId xmlns:a16="http://schemas.microsoft.com/office/drawing/2014/main" id="{4DEF6381-AEA6-4F59-A270-7FD90F367021}"/>
              </a:ext>
            </a:extLst>
          </p:cNvPr>
          <p:cNvCxnSpPr>
            <a:stCxn xmlns:a="http://schemas.openxmlformats.org/drawingml/2006/main" id="38" idx="3"/>
            <a:endCxn xmlns:a="http://schemas.openxmlformats.org/drawingml/2006/main" id="39" idx="1"/>
          </p:cNvCxnSpPr>
          <p:nvPr/>
        </p:nvCxnSpPr>
        <p:spPr>
          <a:xfrm xmlns:a="http://schemas.openxmlformats.org/drawingml/2006/main">
            <a:off x="3343275" y="5310188"/>
            <a:ext cx="237172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36" name="">
            <a:extLst xmlns:a="http://schemas.openxmlformats.org/drawingml/2006/main">
              <a:ext uri="{FF2B5EF4-FFF2-40B4-BE49-F238E27FC236}">
                <a16:creationId xmlns:a16="http://schemas.microsoft.com/office/drawing/2014/main" id="{5373F002-E5C3-4F4F-9CBE-5F6F42A55A94}"/>
              </a:ext>
            </a:extLst>
          </p:cNvPr>
          <p:cNvCxnSpPr>
            <a:stCxn xmlns:a="http://schemas.openxmlformats.org/drawingml/2006/main" id="34" idx="3"/>
            <a:endCxn xmlns:a="http://schemas.openxmlformats.org/drawingml/2006/main" id="35" idx="1"/>
          </p:cNvCxnSpPr>
          <p:nvPr/>
        </p:nvCxnSpPr>
        <p:spPr>
          <a:xfrm xmlns:a="http://schemas.openxmlformats.org/drawingml/2006/main" flipH="1">
            <a:off x="3333750" y="4862513"/>
            <a:ext cx="715327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32" name="">
            <a:extLst xmlns:a="http://schemas.openxmlformats.org/drawingml/2006/main">
              <a:ext uri="{FF2B5EF4-FFF2-40B4-BE49-F238E27FC236}">
                <a16:creationId xmlns:a16="http://schemas.microsoft.com/office/drawing/2014/main" id="{A4640A6B-71CF-4797-B187-D66AA177530B}"/>
              </a:ext>
            </a:extLst>
          </p:cNvPr>
          <p:cNvCxnSpPr>
            <a:stCxn xmlns:a="http://schemas.openxmlformats.org/drawingml/2006/main" id="30" idx="3"/>
            <a:endCxn xmlns:a="http://schemas.openxmlformats.org/drawingml/2006/main" id="31" idx="1"/>
          </p:cNvCxnSpPr>
          <p:nvPr/>
        </p:nvCxnSpPr>
        <p:spPr>
          <a:xfrm xmlns:a="http://schemas.openxmlformats.org/drawingml/2006/main">
            <a:off x="3343275" y="4414838"/>
            <a:ext cx="713422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28" name="">
            <a:extLst xmlns:a="http://schemas.openxmlformats.org/drawingml/2006/main">
              <a:ext uri="{FF2B5EF4-FFF2-40B4-BE49-F238E27FC236}">
                <a16:creationId xmlns:a16="http://schemas.microsoft.com/office/drawing/2014/main" id="{ABAD2825-34F0-437C-A206-5B2DC0E96B0D}"/>
              </a:ext>
            </a:extLst>
          </p:cNvPr>
          <p:cNvCxnSpPr>
            <a:stCxn xmlns:a="http://schemas.openxmlformats.org/drawingml/2006/main" id="26" idx="3"/>
            <a:endCxn xmlns:a="http://schemas.openxmlformats.org/drawingml/2006/main" id="27" idx="1"/>
          </p:cNvCxnSpPr>
          <p:nvPr/>
        </p:nvCxnSpPr>
        <p:spPr>
          <a:xfrm xmlns:a="http://schemas.openxmlformats.org/drawingml/2006/main" flipH="1">
            <a:off x="3333750" y="3967163"/>
            <a:ext cx="477202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24" name="">
            <a:extLst xmlns:a="http://schemas.openxmlformats.org/drawingml/2006/main">
              <a:ext uri="{FF2B5EF4-FFF2-40B4-BE49-F238E27FC236}">
                <a16:creationId xmlns:a16="http://schemas.microsoft.com/office/drawing/2014/main" id="{6E33E447-E270-416A-BBEC-C4187F72FF21}"/>
              </a:ext>
            </a:extLst>
          </p:cNvPr>
          <p:cNvCxnSpPr>
            <a:stCxn xmlns:a="http://schemas.openxmlformats.org/drawingml/2006/main" id="22" idx="3"/>
            <a:endCxn xmlns:a="http://schemas.openxmlformats.org/drawingml/2006/main" id="23" idx="1"/>
          </p:cNvCxnSpPr>
          <p:nvPr/>
        </p:nvCxnSpPr>
        <p:spPr>
          <a:xfrm xmlns:a="http://schemas.openxmlformats.org/drawingml/2006/main">
            <a:off x="3343275" y="3519488"/>
            <a:ext cx="475297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20" name="">
            <a:extLst xmlns:a="http://schemas.openxmlformats.org/drawingml/2006/main">
              <a:ext uri="{FF2B5EF4-FFF2-40B4-BE49-F238E27FC236}">
                <a16:creationId xmlns:a16="http://schemas.microsoft.com/office/drawing/2014/main" id="{FEC301E3-564B-450A-BDF0-AF3B081DE93F}"/>
              </a:ext>
            </a:extLst>
          </p:cNvPr>
          <p:cNvCxnSpPr>
            <a:stCxn xmlns:a="http://schemas.openxmlformats.org/drawingml/2006/main" id="18" idx="3"/>
            <a:endCxn xmlns:a="http://schemas.openxmlformats.org/drawingml/2006/main" id="19" idx="1"/>
          </p:cNvCxnSpPr>
          <p:nvPr/>
        </p:nvCxnSpPr>
        <p:spPr>
          <a:xfrm xmlns:a="http://schemas.openxmlformats.org/drawingml/2006/main">
            <a:off x="3343275" y="3071813"/>
            <a:ext cx="2371725" cy="0"/>
          </a:xfrm>
          <a:prstGeom xmlns:a="http://schemas.openxmlformats.org/drawingml/2006/main" prst="straightConnector1">
            <a:avLst/>
          </a:prstGeom>
          <a:ln xmlns:a="http://schemas.openxmlformats.org/drawingml/2006/main" w="19050">
            <a:solidFill>
              <a:srgbClr val="26766D"/>
            </a:solidFill>
            <a:tailEnd type="arrow" w="sm" len="med"/>
          </a:ln>
        </p:spPr>
      </p:cxnSp>
      <p:cxnSp>
        <p:nvCxnSpPr>
          <p:cNvPr id="16" name="">
            <a:extLst xmlns:a="http://schemas.openxmlformats.org/drawingml/2006/main">
              <a:ext uri="{FF2B5EF4-FFF2-40B4-BE49-F238E27FC236}">
                <a16:creationId xmlns:a16="http://schemas.microsoft.com/office/drawing/2014/main" id="{DDA635F5-93B1-49B1-AB26-E8C852F448DF}"/>
              </a:ext>
            </a:extLst>
          </p:cNvPr>
          <p:cNvCxnSpPr>
            <a:stCxn xmlns:a="http://schemas.openxmlformats.org/drawingml/2006/main" id="14" idx="3"/>
            <a:endCxn xmlns:a="http://schemas.openxmlformats.org/drawingml/2006/main" id="15" idx="1"/>
          </p:cNvCxnSpPr>
          <p:nvPr/>
        </p:nvCxnSpPr>
        <p:spPr>
          <a:xfrm xmlns:a="http://schemas.openxmlformats.org/drawingml/2006/main">
            <a:off x="962025" y="2624138"/>
            <a:ext cx="2371725" cy="0"/>
          </a:xfrm>
          <a:prstGeom xmlns:a="http://schemas.openxmlformats.org/drawingml/2006/main" prst="straightConnector1">
            <a:avLst/>
          </a:prstGeom>
          <a:ln xmlns:a="http://schemas.openxmlformats.org/drawingml/2006/main" w="19050">
            <a:solidFill>
              <a:srgbClr val="26766D"/>
            </a:solidFill>
            <a:tailEnd type="arrow" w="sm" len="med"/>
          </a:ln>
        </p:spPr>
      </p:cxnSp>
      <p:sp>
        <p:nvSpPr>
          <p:cNvPr id="47" name="A question through the actual request path">
            <a:extLst xmlns:a="http://schemas.openxmlformats.org/drawingml/2006/main">
              <a:ext uri="{FF2B5EF4-FFF2-40B4-BE49-F238E27FC236}">
                <a16:creationId xmlns:a16="http://schemas.microsoft.com/office/drawing/2014/main" id="{1B9453C4-5F54-4080-9A98-AB157BE5E74A}"/>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A question through the actual request path</a:t>
            </a:r>
          </a:p>
        </p:txBody>
      </p:sp>
      <p:sp>
        <p:nvSpPr>
          <p:cNvPr id="2" name="Example request: the contact-office question at knowledge revision r11">
            <a:extLst xmlns:a="http://schemas.openxmlformats.org/drawingml/2006/main">
              <a:ext uri="{FF2B5EF4-FFF2-40B4-BE49-F238E27FC236}">
                <a16:creationId xmlns:a16="http://schemas.microsoft.com/office/drawing/2014/main" id="{26E86E5F-81B8-4C3D-AC36-62A03B3B36F7}"/>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Example request: the contact-office question at knowledge revision r11.</a:t>
            </a:r>
          </a:p>
        </p:txBody>
      </p:sp>
      <p:sp>
        <p:nvSpPr>
          <p:cNvPr id="3" name="8">
            <a:extLst xmlns:a="http://schemas.openxmlformats.org/drawingml/2006/main">
              <a:ext uri="{FF2B5EF4-FFF2-40B4-BE49-F238E27FC236}">
                <a16:creationId xmlns:a16="http://schemas.microsoft.com/office/drawing/2014/main" id="{77EB53D0-5161-409B-B935-8B8309F89266}"/>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8</a:t>
            </a:r>
          </a:p>
        </p:txBody>
      </p:sp>
      <p:sp>
        <p:nvSpPr>
          <p:cNvPr id="4" name="Browser">
            <a:extLst xmlns:a="http://schemas.openxmlformats.org/drawingml/2006/main">
              <a:ext uri="{FF2B5EF4-FFF2-40B4-BE49-F238E27FC236}">
                <a16:creationId xmlns:a16="http://schemas.microsoft.com/office/drawing/2014/main" id="{EEAFB9F6-3192-4A3F-A17F-07B854EFF1FA}"/>
              </a:ext>
            </a:extLst>
          </p:cNvPr>
          <p:cNvSpPr>
            <a:spLocks xmlns:a="http://schemas.openxmlformats.org/drawingml/2006/main" noGrp="1"/>
          </p:cNvSpPr>
          <p:nvPr/>
        </p:nvSpPr>
        <p:spPr>
          <a:xfrm xmlns:a="http://schemas.openxmlformats.org/drawingml/2006/main">
            <a:off x="95250" y="1647825"/>
            <a:ext cx="1714500" cy="5334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Browser</a:t>
            </a:r>
          </a:p>
        </p:txBody>
      </p:sp>
      <p:sp>
        <p:nvSpPr>
          <p:cNvPr id="5" name="Browser lifeline">
            <a:extLst xmlns:a="http://schemas.openxmlformats.org/drawingml/2006/main">
              <a:ext uri="{FF2B5EF4-FFF2-40B4-BE49-F238E27FC236}">
                <a16:creationId xmlns:a16="http://schemas.microsoft.com/office/drawing/2014/main" id="{8A00E6A6-3CF9-43B0-B3A8-B68C0CCB3D5A}"/>
              </a:ext>
            </a:extLst>
          </p:cNvPr>
          <p:cNvSpPr>
            <a:spLocks xmlns:a="http://schemas.openxmlformats.org/drawingml/2006/main" noGrp="1"/>
          </p:cNvSpPr>
          <p:nvPr/>
        </p:nvSpPr>
        <p:spPr>
          <a:xfrm xmlns:a="http://schemas.openxmlformats.org/drawingml/2006/main">
            <a:off x="952500" y="2238375"/>
            <a:ext cx="0" cy="3667125"/>
          </a:xfrm>
          <a:prstGeom xmlns:a="http://schemas.openxmlformats.org/drawingml/2006/main" prst="line">
            <a:avLst/>
          </a:prstGeom>
          <a:ln xmlns:a="http://schemas.openxmlformats.org/drawingml/2006/main" w="14288">
            <a:solidFill>
              <a:srgbClr val="D8E1DE"/>
            </a:solidFill>
            <a:prstDash val="dash"/>
          </a:ln>
        </p:spPr>
      </p:sp>
      <p:sp>
        <p:nvSpPr>
          <p:cNvPr id="6" name="Python API">
            <a:extLst xmlns:a="http://schemas.openxmlformats.org/drawingml/2006/main">
              <a:ext uri="{FF2B5EF4-FFF2-40B4-BE49-F238E27FC236}">
                <a16:creationId xmlns:a16="http://schemas.microsoft.com/office/drawing/2014/main" id="{065AE43B-FE75-41F6-9FEF-4494FD2F6C50}"/>
              </a:ext>
            </a:extLst>
          </p:cNvPr>
          <p:cNvSpPr>
            <a:spLocks xmlns:a="http://schemas.openxmlformats.org/drawingml/2006/main" noGrp="1"/>
          </p:cNvSpPr>
          <p:nvPr/>
        </p:nvSpPr>
        <p:spPr>
          <a:xfrm xmlns:a="http://schemas.openxmlformats.org/drawingml/2006/main">
            <a:off x="2476500" y="1647825"/>
            <a:ext cx="1714500" cy="5334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Python API</a:t>
            </a:r>
          </a:p>
        </p:txBody>
      </p:sp>
      <p:sp>
        <p:nvSpPr>
          <p:cNvPr id="7" name="Python API lifeline">
            <a:extLst xmlns:a="http://schemas.openxmlformats.org/drawingml/2006/main">
              <a:ext uri="{FF2B5EF4-FFF2-40B4-BE49-F238E27FC236}">
                <a16:creationId xmlns:a16="http://schemas.microsoft.com/office/drawing/2014/main" id="{52C583AD-23B4-462D-AC6E-85BA009FEE9D}"/>
              </a:ext>
            </a:extLst>
          </p:cNvPr>
          <p:cNvSpPr>
            <a:spLocks xmlns:a="http://schemas.openxmlformats.org/drawingml/2006/main" noGrp="1"/>
          </p:cNvSpPr>
          <p:nvPr/>
        </p:nvSpPr>
        <p:spPr>
          <a:xfrm xmlns:a="http://schemas.openxmlformats.org/drawingml/2006/main">
            <a:off x="3333750" y="2238375"/>
            <a:ext cx="0" cy="3667125"/>
          </a:xfrm>
          <a:prstGeom xmlns:a="http://schemas.openxmlformats.org/drawingml/2006/main" prst="line">
            <a:avLst/>
          </a:prstGeom>
          <a:ln xmlns:a="http://schemas.openxmlformats.org/drawingml/2006/main" w="14288">
            <a:solidFill>
              <a:srgbClr val="D8E1DE"/>
            </a:solidFill>
            <a:prstDash val="dash"/>
          </a:ln>
        </p:spPr>
      </p:sp>
      <p:sp>
        <p:nvSpPr>
          <p:cNvPr id="8" name="SQLite">
            <a:extLst xmlns:a="http://schemas.openxmlformats.org/drawingml/2006/main">
              <a:ext uri="{FF2B5EF4-FFF2-40B4-BE49-F238E27FC236}">
                <a16:creationId xmlns:a16="http://schemas.microsoft.com/office/drawing/2014/main" id="{A0151EB1-532D-4103-9114-07C55B860DEC}"/>
              </a:ext>
            </a:extLst>
          </p:cNvPr>
          <p:cNvSpPr>
            <a:spLocks xmlns:a="http://schemas.openxmlformats.org/drawingml/2006/main" noGrp="1"/>
          </p:cNvSpPr>
          <p:nvPr/>
        </p:nvSpPr>
        <p:spPr>
          <a:xfrm xmlns:a="http://schemas.openxmlformats.org/drawingml/2006/main">
            <a:off x="4857750" y="1647825"/>
            <a:ext cx="1714500" cy="5334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SQLite</a:t>
            </a:r>
          </a:p>
        </p:txBody>
      </p:sp>
      <p:sp>
        <p:nvSpPr>
          <p:cNvPr id="9" name="SQLite lifeline">
            <a:extLst xmlns:a="http://schemas.openxmlformats.org/drawingml/2006/main">
              <a:ext uri="{FF2B5EF4-FFF2-40B4-BE49-F238E27FC236}">
                <a16:creationId xmlns:a16="http://schemas.microsoft.com/office/drawing/2014/main" id="{230058B4-7AF5-4B0D-A9B3-24306D2C3B1E}"/>
              </a:ext>
            </a:extLst>
          </p:cNvPr>
          <p:cNvSpPr>
            <a:spLocks xmlns:a="http://schemas.openxmlformats.org/drawingml/2006/main" noGrp="1"/>
          </p:cNvSpPr>
          <p:nvPr/>
        </p:nvSpPr>
        <p:spPr>
          <a:xfrm xmlns:a="http://schemas.openxmlformats.org/drawingml/2006/main">
            <a:off x="5715000" y="2238375"/>
            <a:ext cx="0" cy="3667125"/>
          </a:xfrm>
          <a:prstGeom xmlns:a="http://schemas.openxmlformats.org/drawingml/2006/main" prst="line">
            <a:avLst/>
          </a:prstGeom>
          <a:ln xmlns:a="http://schemas.openxmlformats.org/drawingml/2006/main" w="14288">
            <a:solidFill>
              <a:srgbClr val="D8E1DE"/>
            </a:solidFill>
            <a:prstDash val="dash"/>
          </a:ln>
        </p:spPr>
      </p:sp>
      <p:sp>
        <p:nvSpPr>
          <p:cNvPr id="10" name="Selector">
            <a:extLst xmlns:a="http://schemas.openxmlformats.org/drawingml/2006/main">
              <a:ext uri="{FF2B5EF4-FFF2-40B4-BE49-F238E27FC236}">
                <a16:creationId xmlns:a16="http://schemas.microsoft.com/office/drawing/2014/main" id="{F0604CBD-AE7B-4CCC-870A-52CEC666E7A5}"/>
              </a:ext>
            </a:extLst>
          </p:cNvPr>
          <p:cNvSpPr>
            <a:spLocks xmlns:a="http://schemas.openxmlformats.org/drawingml/2006/main" noGrp="1"/>
          </p:cNvSpPr>
          <p:nvPr/>
        </p:nvSpPr>
        <p:spPr>
          <a:xfrm xmlns:a="http://schemas.openxmlformats.org/drawingml/2006/main">
            <a:off x="7239000" y="1647825"/>
            <a:ext cx="1714500" cy="5334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Selector</a:t>
            </a:r>
          </a:p>
        </p:txBody>
      </p:sp>
      <p:sp>
        <p:nvSpPr>
          <p:cNvPr id="11" name="Selector lifeline">
            <a:extLst xmlns:a="http://schemas.openxmlformats.org/drawingml/2006/main">
              <a:ext uri="{FF2B5EF4-FFF2-40B4-BE49-F238E27FC236}">
                <a16:creationId xmlns:a16="http://schemas.microsoft.com/office/drawing/2014/main" id="{1A5CFBA4-F2BD-49BF-94DE-9F154C7901F3}"/>
              </a:ext>
            </a:extLst>
          </p:cNvPr>
          <p:cNvSpPr>
            <a:spLocks xmlns:a="http://schemas.openxmlformats.org/drawingml/2006/main" noGrp="1"/>
          </p:cNvSpPr>
          <p:nvPr/>
        </p:nvSpPr>
        <p:spPr>
          <a:xfrm xmlns:a="http://schemas.openxmlformats.org/drawingml/2006/main">
            <a:off x="8096250" y="2238375"/>
            <a:ext cx="0" cy="3667125"/>
          </a:xfrm>
          <a:prstGeom xmlns:a="http://schemas.openxmlformats.org/drawingml/2006/main" prst="line">
            <a:avLst/>
          </a:prstGeom>
          <a:ln xmlns:a="http://schemas.openxmlformats.org/drawingml/2006/main" w="14288">
            <a:solidFill>
              <a:srgbClr val="D8E1DE"/>
            </a:solidFill>
            <a:prstDash val="dash"/>
          </a:ln>
        </p:spPr>
      </p:sp>
      <p:sp>
        <p:nvSpPr>
          <p:cNvPr id="12" name="Model worker">
            <a:extLst xmlns:a="http://schemas.openxmlformats.org/drawingml/2006/main">
              <a:ext uri="{FF2B5EF4-FFF2-40B4-BE49-F238E27FC236}">
                <a16:creationId xmlns:a16="http://schemas.microsoft.com/office/drawing/2014/main" id="{BAE22B77-A75C-4294-8BCB-A0352C89EA2A}"/>
              </a:ext>
            </a:extLst>
          </p:cNvPr>
          <p:cNvSpPr>
            <a:spLocks xmlns:a="http://schemas.openxmlformats.org/drawingml/2006/main" noGrp="1"/>
          </p:cNvSpPr>
          <p:nvPr/>
        </p:nvSpPr>
        <p:spPr>
          <a:xfrm xmlns:a="http://schemas.openxmlformats.org/drawingml/2006/main">
            <a:off x="9620250" y="1647825"/>
            <a:ext cx="1714500" cy="5334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Model worker</a:t>
            </a:r>
          </a:p>
        </p:txBody>
      </p:sp>
      <p:sp>
        <p:nvSpPr>
          <p:cNvPr id="13" name="Model worker lifeline">
            <a:extLst xmlns:a="http://schemas.openxmlformats.org/drawingml/2006/main">
              <a:ext uri="{FF2B5EF4-FFF2-40B4-BE49-F238E27FC236}">
                <a16:creationId xmlns:a16="http://schemas.microsoft.com/office/drawing/2014/main" id="{01A8E0F7-7E7C-4BFD-8903-9EC26122B062}"/>
              </a:ext>
            </a:extLst>
          </p:cNvPr>
          <p:cNvSpPr>
            <a:spLocks xmlns:a="http://schemas.openxmlformats.org/drawingml/2006/main" noGrp="1"/>
          </p:cNvSpPr>
          <p:nvPr/>
        </p:nvSpPr>
        <p:spPr>
          <a:xfrm xmlns:a="http://schemas.openxmlformats.org/drawingml/2006/main">
            <a:off x="10477500" y="2238375"/>
            <a:ext cx="0" cy="3667125"/>
          </a:xfrm>
          <a:prstGeom xmlns:a="http://schemas.openxmlformats.org/drawingml/2006/main" prst="line">
            <a:avLst/>
          </a:prstGeom>
          <a:ln xmlns:a="http://schemas.openxmlformats.org/drawingml/2006/main" w="14288">
            <a:solidFill>
              <a:srgbClr val="D8E1DE"/>
            </a:solidFill>
            <a:prstDash val="dash"/>
          </a:ln>
        </p:spPr>
      </p:sp>
      <p:sp>
        <p:nvSpPr>
          <p:cNvPr id="14" name="sequence start question">
            <a:extLst xmlns:a="http://schemas.openxmlformats.org/drawingml/2006/main">
              <a:ext uri="{FF2B5EF4-FFF2-40B4-BE49-F238E27FC236}">
                <a16:creationId xmlns:a16="http://schemas.microsoft.com/office/drawing/2014/main" id="{FEECBA29-9607-4475-970E-EB773F1BB4F9}"/>
              </a:ext>
            </a:extLst>
          </p:cNvPr>
          <p:cNvSpPr>
            <a:spLocks xmlns:a="http://schemas.openxmlformats.org/drawingml/2006/main" noGrp="1"/>
          </p:cNvSpPr>
          <p:nvPr/>
        </p:nvSpPr>
        <p:spPr>
          <a:xfrm xmlns:a="http://schemas.openxmlformats.org/drawingml/2006/main">
            <a:off x="952500" y="2619375"/>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sequence end question">
            <a:extLst xmlns:a="http://schemas.openxmlformats.org/drawingml/2006/main">
              <a:ext uri="{FF2B5EF4-FFF2-40B4-BE49-F238E27FC236}">
                <a16:creationId xmlns:a16="http://schemas.microsoft.com/office/drawing/2014/main" id="{E1A240EA-E256-46D5-AA98-58AB1C3D0CDA}"/>
              </a:ext>
            </a:extLst>
          </p:cNvPr>
          <p:cNvSpPr>
            <a:spLocks xmlns:a="http://schemas.openxmlformats.org/drawingml/2006/main" noGrp="1"/>
          </p:cNvSpPr>
          <p:nvPr/>
        </p:nvSpPr>
        <p:spPr>
          <a:xfrm xmlns:a="http://schemas.openxmlformats.org/drawingml/2006/main">
            <a:off x="3333750" y="2619375"/>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question">
            <a:extLst xmlns:a="http://schemas.openxmlformats.org/drawingml/2006/main">
              <a:ext uri="{FF2B5EF4-FFF2-40B4-BE49-F238E27FC236}">
                <a16:creationId xmlns:a16="http://schemas.microsoft.com/office/drawing/2014/main" id="{1A0107D2-5787-4DEF-859E-BBD817E71E0C}"/>
              </a:ext>
            </a:extLst>
          </p:cNvPr>
          <p:cNvSpPr>
            <a:spLocks xmlns:a="http://schemas.openxmlformats.org/drawingml/2006/main" noGrp="1"/>
          </p:cNvSpPr>
          <p:nvPr/>
        </p:nvSpPr>
        <p:spPr>
          <a:xfrm xmlns:a="http://schemas.openxmlformats.org/drawingml/2006/main">
            <a:off x="1028700" y="22860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question</a:t>
            </a:r>
          </a:p>
        </p:txBody>
      </p:sp>
      <p:sp>
        <p:nvSpPr>
          <p:cNvPr id="18" name="sequence start capture r11 + facts">
            <a:extLst xmlns:a="http://schemas.openxmlformats.org/drawingml/2006/main">
              <a:ext uri="{FF2B5EF4-FFF2-40B4-BE49-F238E27FC236}">
                <a16:creationId xmlns:a16="http://schemas.microsoft.com/office/drawing/2014/main" id="{EE7CC8EB-427D-4CAF-A523-B0878A93857D}"/>
              </a:ext>
            </a:extLst>
          </p:cNvPr>
          <p:cNvSpPr>
            <a:spLocks xmlns:a="http://schemas.openxmlformats.org/drawingml/2006/main" noGrp="1"/>
          </p:cNvSpPr>
          <p:nvPr/>
        </p:nvSpPr>
        <p:spPr>
          <a:xfrm xmlns:a="http://schemas.openxmlformats.org/drawingml/2006/main">
            <a:off x="3333750" y="3067050"/>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sequence end capture r11 + facts">
            <a:extLst xmlns:a="http://schemas.openxmlformats.org/drawingml/2006/main">
              <a:ext uri="{FF2B5EF4-FFF2-40B4-BE49-F238E27FC236}">
                <a16:creationId xmlns:a16="http://schemas.microsoft.com/office/drawing/2014/main" id="{AF331D39-0905-4BC3-BE8E-13E259D5F0B2}"/>
              </a:ext>
            </a:extLst>
          </p:cNvPr>
          <p:cNvSpPr>
            <a:spLocks xmlns:a="http://schemas.openxmlformats.org/drawingml/2006/main" noGrp="1"/>
          </p:cNvSpPr>
          <p:nvPr/>
        </p:nvSpPr>
        <p:spPr>
          <a:xfrm xmlns:a="http://schemas.openxmlformats.org/drawingml/2006/main">
            <a:off x="5715000" y="3067050"/>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capture r11 + facts">
            <a:extLst xmlns:a="http://schemas.openxmlformats.org/drawingml/2006/main">
              <a:ext uri="{FF2B5EF4-FFF2-40B4-BE49-F238E27FC236}">
                <a16:creationId xmlns:a16="http://schemas.microsoft.com/office/drawing/2014/main" id="{714A26C0-4EC5-4DFB-9803-CA1CE802C6B3}"/>
              </a:ext>
            </a:extLst>
          </p:cNvPr>
          <p:cNvSpPr>
            <a:spLocks xmlns:a="http://schemas.openxmlformats.org/drawingml/2006/main" noGrp="1"/>
          </p:cNvSpPr>
          <p:nvPr/>
        </p:nvSpPr>
        <p:spPr>
          <a:xfrm xmlns:a="http://schemas.openxmlformats.org/drawingml/2006/main">
            <a:off x="3409950" y="27336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capture r11 + facts</a:t>
            </a:r>
          </a:p>
        </p:txBody>
      </p:sp>
      <p:sp>
        <p:nvSpPr>
          <p:cNvPr id="22" name="sequence start query + approved snapshot">
            <a:extLst xmlns:a="http://schemas.openxmlformats.org/drawingml/2006/main">
              <a:ext uri="{FF2B5EF4-FFF2-40B4-BE49-F238E27FC236}">
                <a16:creationId xmlns:a16="http://schemas.microsoft.com/office/drawing/2014/main" id="{77906D2C-1740-4671-980E-BC8EE61061EF}"/>
              </a:ext>
            </a:extLst>
          </p:cNvPr>
          <p:cNvSpPr>
            <a:spLocks xmlns:a="http://schemas.openxmlformats.org/drawingml/2006/main" noGrp="1"/>
          </p:cNvSpPr>
          <p:nvPr/>
        </p:nvSpPr>
        <p:spPr>
          <a:xfrm xmlns:a="http://schemas.openxmlformats.org/drawingml/2006/main">
            <a:off x="3333750" y="3514725"/>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sequence end query + approved snapshot">
            <a:extLst xmlns:a="http://schemas.openxmlformats.org/drawingml/2006/main">
              <a:ext uri="{FF2B5EF4-FFF2-40B4-BE49-F238E27FC236}">
                <a16:creationId xmlns:a16="http://schemas.microsoft.com/office/drawing/2014/main" id="{1E4E5913-1892-4554-B276-99BAFE96FC04}"/>
              </a:ext>
            </a:extLst>
          </p:cNvPr>
          <p:cNvSpPr>
            <a:spLocks xmlns:a="http://schemas.openxmlformats.org/drawingml/2006/main" noGrp="1"/>
          </p:cNvSpPr>
          <p:nvPr/>
        </p:nvSpPr>
        <p:spPr>
          <a:xfrm xmlns:a="http://schemas.openxmlformats.org/drawingml/2006/main">
            <a:off x="8096250" y="3514725"/>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query + approved snapshot">
            <a:extLst xmlns:a="http://schemas.openxmlformats.org/drawingml/2006/main">
              <a:ext uri="{FF2B5EF4-FFF2-40B4-BE49-F238E27FC236}">
                <a16:creationId xmlns:a16="http://schemas.microsoft.com/office/drawing/2014/main" id="{DE309BBA-DB78-44BD-A7B3-5AFF6D5EB2B5}"/>
              </a:ext>
            </a:extLst>
          </p:cNvPr>
          <p:cNvSpPr>
            <a:spLocks xmlns:a="http://schemas.openxmlformats.org/drawingml/2006/main" noGrp="1"/>
          </p:cNvSpPr>
          <p:nvPr/>
        </p:nvSpPr>
        <p:spPr>
          <a:xfrm xmlns:a="http://schemas.openxmlformats.org/drawingml/2006/main">
            <a:off x="3409950" y="3181350"/>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query + approved snapshot</a:t>
            </a:r>
          </a:p>
        </p:txBody>
      </p:sp>
      <p:sp>
        <p:nvSpPr>
          <p:cNvPr id="26" name="sequence start four selected fact IDs">
            <a:extLst xmlns:a="http://schemas.openxmlformats.org/drawingml/2006/main">
              <a:ext uri="{FF2B5EF4-FFF2-40B4-BE49-F238E27FC236}">
                <a16:creationId xmlns:a16="http://schemas.microsoft.com/office/drawing/2014/main" id="{AA7CC266-7145-4BCB-83B1-DE86CCA9487B}"/>
              </a:ext>
            </a:extLst>
          </p:cNvPr>
          <p:cNvSpPr>
            <a:spLocks xmlns:a="http://schemas.openxmlformats.org/drawingml/2006/main" noGrp="1"/>
          </p:cNvSpPr>
          <p:nvPr/>
        </p:nvSpPr>
        <p:spPr>
          <a:xfrm xmlns:a="http://schemas.openxmlformats.org/drawingml/2006/main">
            <a:off x="8096250" y="3962400"/>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sequence end four selected fact IDs">
            <a:extLst xmlns:a="http://schemas.openxmlformats.org/drawingml/2006/main">
              <a:ext uri="{FF2B5EF4-FFF2-40B4-BE49-F238E27FC236}">
                <a16:creationId xmlns:a16="http://schemas.microsoft.com/office/drawing/2014/main" id="{8618F794-5861-4DA2-99A6-C29EF1BF0184}"/>
              </a:ext>
            </a:extLst>
          </p:cNvPr>
          <p:cNvSpPr>
            <a:spLocks xmlns:a="http://schemas.openxmlformats.org/drawingml/2006/main" noGrp="1"/>
          </p:cNvSpPr>
          <p:nvPr/>
        </p:nvSpPr>
        <p:spPr>
          <a:xfrm xmlns:a="http://schemas.openxmlformats.org/drawingml/2006/main">
            <a:off x="3333750" y="3962400"/>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four selected fact IDs">
            <a:extLst xmlns:a="http://schemas.openxmlformats.org/drawingml/2006/main">
              <a:ext uri="{FF2B5EF4-FFF2-40B4-BE49-F238E27FC236}">
                <a16:creationId xmlns:a16="http://schemas.microsoft.com/office/drawing/2014/main" id="{92E0A0D6-0ED2-4BEF-A00D-104F07FEC239}"/>
              </a:ext>
            </a:extLst>
          </p:cNvPr>
          <p:cNvSpPr>
            <a:spLocks xmlns:a="http://schemas.openxmlformats.org/drawingml/2006/main" noGrp="1"/>
          </p:cNvSpPr>
          <p:nvPr/>
        </p:nvSpPr>
        <p:spPr>
          <a:xfrm xmlns:a="http://schemas.openxmlformats.org/drawingml/2006/main">
            <a:off x="3409950" y="3629025"/>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four selected fact IDs</a:t>
            </a:r>
          </a:p>
        </p:txBody>
      </p:sp>
      <p:sp>
        <p:nvSpPr>
          <p:cNvPr id="30" name="sequence start selected facts + revision-compatible history">
            <a:extLst xmlns:a="http://schemas.openxmlformats.org/drawingml/2006/main">
              <a:ext uri="{FF2B5EF4-FFF2-40B4-BE49-F238E27FC236}">
                <a16:creationId xmlns:a16="http://schemas.microsoft.com/office/drawing/2014/main" id="{FFB21080-8750-467D-8D22-5C176FD8E3F7}"/>
              </a:ext>
            </a:extLst>
          </p:cNvPr>
          <p:cNvSpPr>
            <a:spLocks xmlns:a="http://schemas.openxmlformats.org/drawingml/2006/main" noGrp="1"/>
          </p:cNvSpPr>
          <p:nvPr/>
        </p:nvSpPr>
        <p:spPr>
          <a:xfrm xmlns:a="http://schemas.openxmlformats.org/drawingml/2006/main">
            <a:off x="3333750" y="4410075"/>
            <a:ext cx="9525" cy="9525"/>
          </a:xfrm>
          <a:prstGeom xmlns:a="http://schemas.openxmlformats.org/drawingml/2006/main" prst="rect">
            <a:avLst/>
          </a:prstGeom>
          <a:noFill xmlns:a="http://schemas.openxmlformats.org/drawingml/2006/main"/>
          <a:ln xmlns:a="http://schemas.openxmlformats.org/drawingml/2006/main" w="0">
            <a:noFill/>
          </a:ln>
        </p:spPr>
      </p:sp>
      <p:sp>
        <p:nvSpPr>
          <p:cNvPr id="31" name="sequence end selected facts + revision-compatible history">
            <a:extLst xmlns:a="http://schemas.openxmlformats.org/drawingml/2006/main">
              <a:ext uri="{FF2B5EF4-FFF2-40B4-BE49-F238E27FC236}">
                <a16:creationId xmlns:a16="http://schemas.microsoft.com/office/drawing/2014/main" id="{72C20B30-0377-49E5-A282-33C7C22E8426}"/>
              </a:ext>
            </a:extLst>
          </p:cNvPr>
          <p:cNvSpPr>
            <a:spLocks xmlns:a="http://schemas.openxmlformats.org/drawingml/2006/main" noGrp="1"/>
          </p:cNvSpPr>
          <p:nvPr/>
        </p:nvSpPr>
        <p:spPr>
          <a:xfrm xmlns:a="http://schemas.openxmlformats.org/drawingml/2006/main">
            <a:off x="10477500" y="44100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selected facts + revision-compatible history">
            <a:extLst xmlns:a="http://schemas.openxmlformats.org/drawingml/2006/main">
              <a:ext uri="{FF2B5EF4-FFF2-40B4-BE49-F238E27FC236}">
                <a16:creationId xmlns:a16="http://schemas.microsoft.com/office/drawing/2014/main" id="{FD3DA61D-5145-4967-BF96-883609DD6E4B}"/>
              </a:ext>
            </a:extLst>
          </p:cNvPr>
          <p:cNvSpPr>
            <a:spLocks xmlns:a="http://schemas.openxmlformats.org/drawingml/2006/main" noGrp="1"/>
          </p:cNvSpPr>
          <p:nvPr/>
        </p:nvSpPr>
        <p:spPr>
          <a:xfrm xmlns:a="http://schemas.openxmlformats.org/drawingml/2006/main">
            <a:off x="3409950" y="4076700"/>
            <a:ext cx="699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selected facts + revision-compatible history</a:t>
            </a:r>
          </a:p>
        </p:txBody>
      </p:sp>
      <p:sp>
        <p:nvSpPr>
          <p:cNvPr id="34" name="sequence start raw generation + final answer">
            <a:extLst xmlns:a="http://schemas.openxmlformats.org/drawingml/2006/main">
              <a:ext uri="{FF2B5EF4-FFF2-40B4-BE49-F238E27FC236}">
                <a16:creationId xmlns:a16="http://schemas.microsoft.com/office/drawing/2014/main" id="{493E35A3-25F4-48A9-AE75-26450C686CD3}"/>
              </a:ext>
            </a:extLst>
          </p:cNvPr>
          <p:cNvSpPr>
            <a:spLocks xmlns:a="http://schemas.openxmlformats.org/drawingml/2006/main" noGrp="1"/>
          </p:cNvSpPr>
          <p:nvPr/>
        </p:nvSpPr>
        <p:spPr>
          <a:xfrm xmlns:a="http://schemas.openxmlformats.org/drawingml/2006/main">
            <a:off x="10477500" y="48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sequence end raw generation + final answer">
            <a:extLst xmlns:a="http://schemas.openxmlformats.org/drawingml/2006/main">
              <a:ext uri="{FF2B5EF4-FFF2-40B4-BE49-F238E27FC236}">
                <a16:creationId xmlns:a16="http://schemas.microsoft.com/office/drawing/2014/main" id="{EDA67DAA-9CAF-4B39-BE48-0D604F2AFE16}"/>
              </a:ext>
            </a:extLst>
          </p:cNvPr>
          <p:cNvSpPr>
            <a:spLocks xmlns:a="http://schemas.openxmlformats.org/drawingml/2006/main" noGrp="1"/>
          </p:cNvSpPr>
          <p:nvPr/>
        </p:nvSpPr>
        <p:spPr>
          <a:xfrm xmlns:a="http://schemas.openxmlformats.org/drawingml/2006/main">
            <a:off x="3333750" y="48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raw generation + final answer">
            <a:extLst xmlns:a="http://schemas.openxmlformats.org/drawingml/2006/main">
              <a:ext uri="{FF2B5EF4-FFF2-40B4-BE49-F238E27FC236}">
                <a16:creationId xmlns:a16="http://schemas.microsoft.com/office/drawing/2014/main" id="{87DC91D7-7021-46C4-91C7-B56288FE6910}"/>
              </a:ext>
            </a:extLst>
          </p:cNvPr>
          <p:cNvSpPr>
            <a:spLocks xmlns:a="http://schemas.openxmlformats.org/drawingml/2006/main" noGrp="1"/>
          </p:cNvSpPr>
          <p:nvPr/>
        </p:nvSpPr>
        <p:spPr>
          <a:xfrm xmlns:a="http://schemas.openxmlformats.org/drawingml/2006/main">
            <a:off x="3409950" y="4524375"/>
            <a:ext cx="699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raw generation + final answer</a:t>
            </a:r>
          </a:p>
        </p:txBody>
      </p:sp>
      <p:sp>
        <p:nvSpPr>
          <p:cNvPr id="38" name="sequence start atomic turn + evidence">
            <a:extLst xmlns:a="http://schemas.openxmlformats.org/drawingml/2006/main">
              <a:ext uri="{FF2B5EF4-FFF2-40B4-BE49-F238E27FC236}">
                <a16:creationId xmlns:a16="http://schemas.microsoft.com/office/drawing/2014/main" id="{2B782A51-E9A0-48A7-B04E-B9CEF3D61C6C}"/>
              </a:ext>
            </a:extLst>
          </p:cNvPr>
          <p:cNvSpPr>
            <a:spLocks xmlns:a="http://schemas.openxmlformats.org/drawingml/2006/main" noGrp="1"/>
          </p:cNvSpPr>
          <p:nvPr/>
        </p:nvSpPr>
        <p:spPr>
          <a:xfrm xmlns:a="http://schemas.openxmlformats.org/drawingml/2006/main">
            <a:off x="3333750" y="5305425"/>
            <a:ext cx="9525" cy="9525"/>
          </a:xfrm>
          <a:prstGeom xmlns:a="http://schemas.openxmlformats.org/drawingml/2006/main" prst="rect">
            <a:avLst/>
          </a:prstGeom>
          <a:noFill xmlns:a="http://schemas.openxmlformats.org/drawingml/2006/main"/>
          <a:ln xmlns:a="http://schemas.openxmlformats.org/drawingml/2006/main" w="0">
            <a:noFill/>
          </a:ln>
        </p:spPr>
      </p:sp>
      <p:sp>
        <p:nvSpPr>
          <p:cNvPr id="39" name="sequence end atomic turn + evidence">
            <a:extLst xmlns:a="http://schemas.openxmlformats.org/drawingml/2006/main">
              <a:ext uri="{FF2B5EF4-FFF2-40B4-BE49-F238E27FC236}">
                <a16:creationId xmlns:a16="http://schemas.microsoft.com/office/drawing/2014/main" id="{9900F954-7A11-4E34-A7A9-A5E1F03715A5}"/>
              </a:ext>
            </a:extLst>
          </p:cNvPr>
          <p:cNvSpPr>
            <a:spLocks xmlns:a="http://schemas.openxmlformats.org/drawingml/2006/main" noGrp="1"/>
          </p:cNvSpPr>
          <p:nvPr/>
        </p:nvSpPr>
        <p:spPr>
          <a:xfrm xmlns:a="http://schemas.openxmlformats.org/drawingml/2006/main">
            <a:off x="5715000" y="5305425"/>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atomic turn + evidence">
            <a:extLst xmlns:a="http://schemas.openxmlformats.org/drawingml/2006/main">
              <a:ext uri="{FF2B5EF4-FFF2-40B4-BE49-F238E27FC236}">
                <a16:creationId xmlns:a16="http://schemas.microsoft.com/office/drawing/2014/main" id="{554FA387-84A4-4B56-8A82-CD0EA1CDD5FC}"/>
              </a:ext>
            </a:extLst>
          </p:cNvPr>
          <p:cNvSpPr>
            <a:spLocks xmlns:a="http://schemas.openxmlformats.org/drawingml/2006/main" noGrp="1"/>
          </p:cNvSpPr>
          <p:nvPr/>
        </p:nvSpPr>
        <p:spPr>
          <a:xfrm xmlns:a="http://schemas.openxmlformats.org/drawingml/2006/main">
            <a:off x="3409950" y="49720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atomic turn + evidence</a:t>
            </a:r>
          </a:p>
        </p:txBody>
      </p:sp>
      <p:sp>
        <p:nvSpPr>
          <p:cNvPr id="42" name="sequence start answer + source display">
            <a:extLst xmlns:a="http://schemas.openxmlformats.org/drawingml/2006/main">
              <a:ext uri="{FF2B5EF4-FFF2-40B4-BE49-F238E27FC236}">
                <a16:creationId xmlns:a16="http://schemas.microsoft.com/office/drawing/2014/main" id="{D43B24BC-9652-4E86-86CE-4455FB6875CA}"/>
              </a:ext>
            </a:extLst>
          </p:cNvPr>
          <p:cNvSpPr>
            <a:spLocks xmlns:a="http://schemas.openxmlformats.org/drawingml/2006/main" noGrp="1"/>
          </p:cNvSpPr>
          <p:nvPr/>
        </p:nvSpPr>
        <p:spPr>
          <a:xfrm xmlns:a="http://schemas.openxmlformats.org/drawingml/2006/main">
            <a:off x="3333750" y="5753100"/>
            <a:ext cx="9525" cy="9525"/>
          </a:xfrm>
          <a:prstGeom xmlns:a="http://schemas.openxmlformats.org/drawingml/2006/main" prst="rect">
            <a:avLst/>
          </a:prstGeom>
          <a:noFill xmlns:a="http://schemas.openxmlformats.org/drawingml/2006/main"/>
          <a:ln xmlns:a="http://schemas.openxmlformats.org/drawingml/2006/main" w="0">
            <a:noFill/>
          </a:ln>
        </p:spPr>
      </p:sp>
      <p:sp>
        <p:nvSpPr>
          <p:cNvPr id="43" name="sequence end answer + source display">
            <a:extLst xmlns:a="http://schemas.openxmlformats.org/drawingml/2006/main">
              <a:ext uri="{FF2B5EF4-FFF2-40B4-BE49-F238E27FC236}">
                <a16:creationId xmlns:a16="http://schemas.microsoft.com/office/drawing/2014/main" id="{D9415010-A019-48B6-ABC4-940F463569B6}"/>
              </a:ext>
            </a:extLst>
          </p:cNvPr>
          <p:cNvSpPr>
            <a:spLocks xmlns:a="http://schemas.openxmlformats.org/drawingml/2006/main" noGrp="1"/>
          </p:cNvSpPr>
          <p:nvPr/>
        </p:nvSpPr>
        <p:spPr>
          <a:xfrm xmlns:a="http://schemas.openxmlformats.org/drawingml/2006/main">
            <a:off x="952500" y="5753100"/>
            <a:ext cx="9525" cy="9525"/>
          </a:xfrm>
          <a:prstGeom xmlns:a="http://schemas.openxmlformats.org/drawingml/2006/main" prst="rect">
            <a:avLst/>
          </a:prstGeom>
          <a:noFill xmlns:a="http://schemas.openxmlformats.org/drawingml/2006/main"/>
          <a:ln xmlns:a="http://schemas.openxmlformats.org/drawingml/2006/main" w="0">
            <a:noFill/>
          </a:ln>
        </p:spPr>
      </p:sp>
      <p:sp>
        <p:nvSpPr>
          <p:cNvPr id="45" name="answer + source display">
            <a:extLst xmlns:a="http://schemas.openxmlformats.org/drawingml/2006/main">
              <a:ext uri="{FF2B5EF4-FFF2-40B4-BE49-F238E27FC236}">
                <a16:creationId xmlns:a16="http://schemas.microsoft.com/office/drawing/2014/main" id="{77FC19E3-91E5-4D1A-BE2A-EBE9291A95E7}"/>
              </a:ext>
            </a:extLst>
          </p:cNvPr>
          <p:cNvSpPr>
            <a:spLocks xmlns:a="http://schemas.openxmlformats.org/drawingml/2006/main" noGrp="1"/>
          </p:cNvSpPr>
          <p:nvPr/>
        </p:nvSpPr>
        <p:spPr>
          <a:xfrm xmlns:a="http://schemas.openxmlformats.org/drawingml/2006/main">
            <a:off x="1028700" y="541972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52B2B"/>
                </a:solidFill>
                <a:latin typeface="Calibri"/>
                <a:ea typeface="Calibri"/>
                <a:cs typeface="Calibri"/>
              </a:defRPr>
            </a:defPPr>
            <a:lvl1pPr algn="ctr">
              <a:defRPr sz="1500" b="0">
                <a:solidFill>
                  <a:srgbClr val="152B2B"/>
                </a:solidFill>
                <a:latin typeface="Calibri"/>
                <a:ea typeface="Calibri"/>
                <a:cs typeface="Calibri"/>
              </a:defRPr>
            </a:lvl1pPr>
            <a:lvl2pPr algn="ctr">
              <a:defRPr sz="1500" b="0">
                <a:solidFill>
                  <a:srgbClr val="152B2B"/>
                </a:solidFill>
                <a:latin typeface="Calibri"/>
                <a:ea typeface="Calibri"/>
                <a:cs typeface="Calibri"/>
              </a:defRPr>
            </a:lvl2pPr>
            <a:lvl3pPr algn="ctr">
              <a:defRPr sz="1500" b="0">
                <a:solidFill>
                  <a:srgbClr val="152B2B"/>
                </a:solidFill>
                <a:latin typeface="Calibri"/>
                <a:ea typeface="Calibri"/>
                <a:cs typeface="Calibri"/>
              </a:defRPr>
            </a:lvl3pPr>
            <a:lvl4pPr algn="ctr">
              <a:defRPr sz="1500" b="0">
                <a:solidFill>
                  <a:srgbClr val="152B2B"/>
                </a:solidFill>
                <a:latin typeface="Calibri"/>
                <a:ea typeface="Calibri"/>
                <a:cs typeface="Calibri"/>
              </a:defRPr>
            </a:lvl4pPr>
            <a:lvl5pPr algn="ctr">
              <a:defRPr sz="1500" b="0">
                <a:solidFill>
                  <a:srgbClr val="152B2B"/>
                </a:solidFill>
                <a:latin typeface="Calibri"/>
                <a:ea typeface="Calibri"/>
                <a:cs typeface="Calibri"/>
              </a:defRPr>
            </a:lvl5pPr>
            <a:lvl6pPr algn="ctr">
              <a:defRPr sz="1500" b="0">
                <a:solidFill>
                  <a:srgbClr val="152B2B"/>
                </a:solidFill>
                <a:latin typeface="Calibri"/>
                <a:ea typeface="Calibri"/>
                <a:cs typeface="Calibri"/>
              </a:defRPr>
            </a:lvl6pPr>
            <a:lvl7pPr algn="ctr">
              <a:defRPr sz="1500" b="0">
                <a:solidFill>
                  <a:srgbClr val="152B2B"/>
                </a:solidFill>
                <a:latin typeface="Calibri"/>
                <a:ea typeface="Calibri"/>
                <a:cs typeface="Calibri"/>
              </a:defRPr>
            </a:lvl7pPr>
            <a:lvl8pPr algn="ctr">
              <a:defRPr sz="1500" b="0">
                <a:solidFill>
                  <a:srgbClr val="152B2B"/>
                </a:solidFill>
                <a:latin typeface="Calibri"/>
                <a:ea typeface="Calibri"/>
                <a:cs typeface="Calibri"/>
              </a:defRPr>
            </a:lvl8pPr>
            <a:lvl9pPr algn="ctr">
              <a:defRPr sz="1500" b="0">
                <a:solidFill>
                  <a:srgbClr val="152B2B"/>
                </a:solidFill>
                <a:latin typeface="Calibri"/>
                <a:ea typeface="Calibri"/>
                <a:cs typeface="Calibri"/>
              </a:defRPr>
            </a:lvl9pPr>
          </a:lstStyle>
          <a:p xmlns:a="http://schemas.openxmlformats.org/drawingml/2006/main">
            <a:pPr algn="ctr">
              <a:defRPr sz="1500" b="0">
                <a:solidFill>
                  <a:srgbClr val="152B2B"/>
                </a:solidFill>
                <a:latin typeface="Calibri"/>
                <a:ea typeface="Calibri"/>
                <a:cs typeface="Calibri"/>
              </a:defRPr>
            </a:pPr>
            <a:r>
              <a:rPr sz="1500" b="0">
                <a:solidFill>
                  <a:srgbClr val="152B2B"/>
                </a:solidFill>
                <a:latin typeface="Calibri"/>
                <a:ea typeface="Calibri"/>
                <a:cs typeface="Calibri"/>
              </a:rPr>
              <a:t>answer + source display</a:t>
            </a:r>
          </a:p>
        </p:txBody>
      </p:sp>
      <p:sp>
        <p:nvSpPr>
          <p:cNvPr id="46" name="The application lock spans generation. A short SQLite transaction pers">
            <a:extLst xmlns:a="http://schemas.openxmlformats.org/drawingml/2006/main">
              <a:ext uri="{FF2B5EF4-FFF2-40B4-BE49-F238E27FC236}">
                <a16:creationId xmlns:a16="http://schemas.microsoft.com/office/drawing/2014/main" id="{59D9BDDB-F690-457E-A5DD-2C9C305E6F03}"/>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The application lock spans generation. A short SQLite transaction persists the successful turn afterward.</a:t>
            </a:r>
          </a:p>
        </p:txBody>
      </p:sp>
    </p:spTree>
    <p:extLst>
      <p:ext uri="{BB962C8B-B14F-4D97-AF65-F5344CB8AC3E}">
        <p14:creationId xmlns:p14="http://schemas.microsoft.com/office/powerpoint/2010/main" val="1980552009"/>
      </p:ext>
    </p:extLst>
  </p:cSld>
</p:sld>
</file>

<file path=ppt/slides/slide9.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7426E2AC-2BB0-4ABF-B9D2-56657A5B8973}"/>
              </a:ext>
            </a:extLst>
          </p:cNvPr>
          <p:cNvCxnSpPr>
            <a:stCxn xmlns:a="http://schemas.openxmlformats.org/drawingml/2006/main" id="6" idx="2"/>
            <a:endCxn xmlns:a="http://schemas.openxmlformats.org/drawingml/2006/main" id="7" idx="0"/>
          </p:cNvCxnSpPr>
          <p:nvPr/>
        </p:nvCxnSpPr>
        <p:spPr>
          <a:xfrm xmlns:a="http://schemas.openxmlformats.org/drawingml/2006/main">
            <a:off x="9972675" y="4248150"/>
            <a:ext cx="0" cy="6191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60F7313-D648-47E5-ABD1-64E848A6932B}"/>
              </a:ext>
            </a:extLst>
          </p:cNvPr>
          <p:cNvCxnSpPr>
            <a:stCxn xmlns:a="http://schemas.openxmlformats.org/drawingml/2006/main" id="5" idx="2"/>
            <a:endCxn xmlns:a="http://schemas.openxmlformats.org/drawingml/2006/main" id="6" idx="0"/>
          </p:cNvCxnSpPr>
          <p:nvPr/>
        </p:nvCxnSpPr>
        <p:spPr>
          <a:xfrm xmlns:a="http://schemas.openxmlformats.org/drawingml/2006/main">
            <a:off x="9972675" y="2752725"/>
            <a:ext cx="0" cy="6191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11" name="Fact identity, authority and version lineage">
            <a:extLst xmlns:a="http://schemas.openxmlformats.org/drawingml/2006/main">
              <a:ext uri="{FF2B5EF4-FFF2-40B4-BE49-F238E27FC236}">
                <a16:creationId xmlns:a16="http://schemas.microsoft.com/office/drawing/2014/main" id="{85D909CF-893C-4641-96C8-7C5A71A2DFD8}"/>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Fact identity, authority and version lineage</a:t>
            </a:r>
          </a:p>
        </p:txBody>
      </p:sp>
      <p:sp>
        <p:nvSpPr>
          <p:cNvPr id="2" name="Canonical key = (entity_id, relation_id, scope_id). Separate keys pres">
            <a:extLst xmlns:a="http://schemas.openxmlformats.org/drawingml/2006/main">
              <a:ext uri="{FF2B5EF4-FFF2-40B4-BE49-F238E27FC236}">
                <a16:creationId xmlns:a16="http://schemas.microsoft.com/office/drawing/2014/main" id="{F55E15AE-3311-419E-961C-40F0B58C3BE4}"/>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Canonical key = (entity_id, relation_id, scope_id). Separate keys preserve scope.</a:t>
            </a:r>
          </a:p>
        </p:txBody>
      </p:sp>
      <p:sp>
        <p:nvSpPr>
          <p:cNvPr id="3" name="9">
            <a:extLst xmlns:a="http://schemas.openxmlformats.org/drawingml/2006/main">
              <a:ext uri="{FF2B5EF4-FFF2-40B4-BE49-F238E27FC236}">
                <a16:creationId xmlns:a16="http://schemas.microsoft.com/office/drawing/2014/main" id="{E234458D-AD77-423E-936D-E45A501B758C}"/>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9</a:t>
            </a:r>
          </a:p>
        </p:txBody>
      </p:sp>
      <p:graphicFrame>
        <p:nvGraphicFramePr>
          <p:cNvPr id="4" name="">
            <a:extLst xmlns:a="http://schemas.openxmlformats.org/drawingml/2006/main">
              <a:ext uri="{FF2B5EF4-FFF2-40B4-BE49-F238E27FC236}">
                <a16:creationId xmlns:a16="http://schemas.microsoft.com/office/drawing/2014/main" id="{2A1DA75D-2F35-4D43-982C-26BEA7B8E859}"/>
              </a:ext>
            </a:extLst>
          </p:cNvPr>
          <p:cNvGraphicFramePr/>
          <p:nvPr/>
        </p:nvGraphicFramePr>
        <p:xfrm>
          <a:off xmlns:a="http://schemas.openxmlformats.org/drawingml/2006/main" x="628650" y="1876425"/>
          <a:ext xmlns:a="http://schemas.openxmlformats.org/drawingml/2006/main" cx="7000875" cy="3714750"/>
        </p:xfrm>
        <a:graphic xmlns:a="http://schemas.openxmlformats.org/drawingml/2006/main">
          <a:graphicData uri="http://schemas.openxmlformats.org/drawingml/2006/table">
            <a:tbl>
              <a:tblPr/>
              <a:tblGrid>
                <a:gridCol w="2524125"/>
                <a:gridCol w="4476750"/>
              </a:tblGrid>
              <a:tr h="619125">
                <a:tc>
                  <a:txBody>
                    <a:bodyPr lIns="95250" tIns="95250" rIns="95250" bIns="95250"/>
                    <a:lstStyle/>
                    <a:p>
                      <a:r>
                        <a:rPr sz="1800" b="1">
                          <a:solidFill>
                            <a:srgbClr val="152B2B"/>
                          </a:solidFill>
                          <a:latin typeface="Calibri"/>
                          <a:ea typeface="Calibri"/>
                          <a:cs typeface="Calibri"/>
                        </a:rPr>
                        <a:t>Stored field</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Concrete ownership record</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619125">
                <a:tc>
                  <a:txBody>
                    <a:bodyPr lIns="95250" tIns="95250" rIns="95250" bIns="95250"/>
                    <a:lstStyle/>
                    <a:p>
                      <a:r>
                        <a:rPr sz="1800" b="0">
                          <a:solidFill>
                            <a:srgbClr val="152B2B"/>
                          </a:solidFill>
                          <a:latin typeface="Calibri"/>
                          <a:ea typeface="Calibri"/>
                          <a:cs typeface="Calibri"/>
                        </a:rPr>
                        <a:t>entity_id</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india-demo-001-service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9125">
                <a:tc>
                  <a:txBody>
                    <a:bodyPr lIns="95250" tIns="95250" rIns="95250" bIns="95250"/>
                    <a:lstStyle/>
                    <a:p>
                      <a:r>
                        <a:rPr sz="1800" b="0">
                          <a:solidFill>
                            <a:srgbClr val="152B2B"/>
                          </a:solidFill>
                          <a:latin typeface="Calibri"/>
                          <a:ea typeface="Calibri"/>
                          <a:cs typeface="Calibri"/>
                        </a:rPr>
                        <a:t>relation_id / scope_id</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owner / release-2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9125">
                <a:tc>
                  <a:txBody>
                    <a:bodyPr lIns="95250" tIns="95250" rIns="95250" bIns="95250"/>
                    <a:lstStyle/>
                    <a:p>
                      <a:r>
                        <a:rPr sz="1800" b="0">
                          <a:solidFill>
                            <a:srgbClr val="152B2B"/>
                          </a:solidFill>
                          <a:latin typeface="Calibri"/>
                          <a:ea typeface="Calibri"/>
                          <a:cs typeface="Calibri"/>
                        </a:rPr>
                        <a:t>answer / source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Pune Reliability Team / handbook</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9125">
                <a:tc>
                  <a:txBody>
                    <a:bodyPr lIns="95250" tIns="95250" rIns="95250" bIns="95250"/>
                    <a:lstStyle/>
                    <a:p>
                      <a:r>
                        <a:rPr sz="1800" b="0">
                          <a:solidFill>
                            <a:srgbClr val="152B2B"/>
                          </a:solidFill>
                          <a:latin typeface="Calibri"/>
                          <a:ea typeface="Calibri"/>
                          <a:cs typeface="Calibri"/>
                        </a:rPr>
                        <a:t>lineage / version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Same ownership lineage, v2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9125">
                <a:tc>
                  <a:txBody>
                    <a:bodyPr lIns="95250" tIns="95250" rIns="95250" bIns="95250"/>
                    <a:lstStyle/>
                    <a:p>
                      <a:r>
                        <a:rPr sz="1800" b="0">
                          <a:solidFill>
                            <a:srgbClr val="152B2B"/>
                          </a:solidFill>
                          <a:latin typeface="Calibri"/>
                          <a:ea typeface="Calibri"/>
                          <a:cs typeface="Calibri"/>
                        </a:rPr>
                        <a:t>supersedes / approval</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v1 predecessor / explicit approval</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Draft&#10;browser state only">
            <a:extLst xmlns:a="http://schemas.openxmlformats.org/drawingml/2006/main">
              <a:ext uri="{FF2B5EF4-FFF2-40B4-BE49-F238E27FC236}">
                <a16:creationId xmlns:a16="http://schemas.microsoft.com/office/drawing/2014/main" id="{022DD80D-4686-4BAA-9405-C429A87E4C63}"/>
              </a:ext>
            </a:extLst>
          </p:cNvPr>
          <p:cNvSpPr>
            <a:spLocks xmlns:a="http://schemas.openxmlformats.org/drawingml/2006/main" noGrp="1"/>
          </p:cNvSpPr>
          <p:nvPr/>
        </p:nvSpPr>
        <p:spPr>
          <a:xfrm xmlns:a="http://schemas.openxmlformats.org/drawingml/2006/main">
            <a:off x="8401050" y="1876425"/>
            <a:ext cx="3143250" cy="8763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Draft</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browser state only</a:t>
            </a:r>
          </a:p>
        </p:txBody>
      </p:sp>
      <p:sp>
        <p:nvSpPr>
          <p:cNvPr id="6" name="Approved active v1&#10;unique represented key">
            <a:extLst xmlns:a="http://schemas.openxmlformats.org/drawingml/2006/main">
              <a:ext uri="{FF2B5EF4-FFF2-40B4-BE49-F238E27FC236}">
                <a16:creationId xmlns:a16="http://schemas.microsoft.com/office/drawing/2014/main" id="{DA959A52-9AE3-4364-919D-6F202D44ED02}"/>
              </a:ext>
            </a:extLst>
          </p:cNvPr>
          <p:cNvSpPr>
            <a:spLocks xmlns:a="http://schemas.openxmlformats.org/drawingml/2006/main" noGrp="1"/>
          </p:cNvSpPr>
          <p:nvPr/>
        </p:nvSpPr>
        <p:spPr>
          <a:xfrm xmlns:a="http://schemas.openxmlformats.org/drawingml/2006/main">
            <a:off x="8401050" y="3371850"/>
            <a:ext cx="3143250" cy="8763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Approved active v1</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unique represented key</a:t>
            </a:r>
          </a:p>
        </p:txBody>
      </p:sp>
      <p:sp>
        <p:nvSpPr>
          <p:cNvPr id="7" name="Replacement active v2&#10;v1 becomes superseded">
            <a:extLst xmlns:a="http://schemas.openxmlformats.org/drawingml/2006/main">
              <a:ext uri="{FF2B5EF4-FFF2-40B4-BE49-F238E27FC236}">
                <a16:creationId xmlns:a16="http://schemas.microsoft.com/office/drawing/2014/main" id="{D5036A02-282C-438B-B6FF-E6DCF733895B}"/>
              </a:ext>
            </a:extLst>
          </p:cNvPr>
          <p:cNvSpPr>
            <a:spLocks xmlns:a="http://schemas.openxmlformats.org/drawingml/2006/main" noGrp="1"/>
          </p:cNvSpPr>
          <p:nvPr/>
        </p:nvSpPr>
        <p:spPr>
          <a:xfrm xmlns:a="http://schemas.openxmlformats.org/drawingml/2006/main">
            <a:off x="8401050" y="4867275"/>
            <a:ext cx="3143250" cy="8763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Replacement active v2</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v1 becomes superseded</a:t>
            </a:r>
          </a:p>
        </p:txBody>
      </p:sp>
      <p:sp>
        <p:nvSpPr>
          <p:cNvPr id="10" name="Aliases are metadata. A partial unique index permits at most one activ">
            <a:extLst xmlns:a="http://schemas.openxmlformats.org/drawingml/2006/main">
              <a:ext uri="{FF2B5EF4-FFF2-40B4-BE49-F238E27FC236}">
                <a16:creationId xmlns:a16="http://schemas.microsoft.com/office/drawing/2014/main" id="{C7C036B6-450D-4530-B70B-9CEBE3BA6CA3}"/>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Aliases are metadata. A partial unique index permits at most one active version per canonical key.</a:t>
            </a:r>
          </a:p>
        </p:txBody>
      </p:sp>
    </p:spTree>
    <p:extLst>
      <p:ext uri="{BB962C8B-B14F-4D97-AF65-F5344CB8AC3E}">
        <p14:creationId xmlns:p14="http://schemas.microsoft.com/office/powerpoint/2010/main" val="92586671"/>
      </p:ext>
    </p:extLst>
  </p:cSld>
</p:sld>
</file>

<file path=ppt/slides/slide1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200ABB1-8DF9-4805-BD74-182F1DD5BB6C}"/>
              </a:ext>
            </a:extLst>
          </p:cNvPr>
          <p:cNvCxnSpPr>
            <a:stCxn xmlns:a="http://schemas.openxmlformats.org/drawingml/2006/main" id="5" idx="3"/>
            <a:endCxn xmlns:a="http://schemas.openxmlformats.org/drawingml/2006/main" id="6" idx="1"/>
          </p:cNvCxnSpPr>
          <p:nvPr/>
        </p:nvCxnSpPr>
        <p:spPr>
          <a:xfrm xmlns:a="http://schemas.openxmlformats.org/drawingml/2006/main">
            <a:off x="7381875" y="2352675"/>
            <a:ext cx="5619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BBD331BF-C6C7-48C9-AE2A-B22CC01DA63E}"/>
              </a:ext>
            </a:extLst>
          </p:cNvPr>
          <p:cNvCxnSpPr>
            <a:stCxn xmlns:a="http://schemas.openxmlformats.org/drawingml/2006/main" id="4" idx="3"/>
            <a:endCxn xmlns:a="http://schemas.openxmlformats.org/drawingml/2006/main" id="5" idx="1"/>
          </p:cNvCxnSpPr>
          <p:nvPr/>
        </p:nvCxnSpPr>
        <p:spPr>
          <a:xfrm xmlns:a="http://schemas.openxmlformats.org/drawingml/2006/main">
            <a:off x="3914775" y="2352675"/>
            <a:ext cx="561975" cy="0"/>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13" name="Atomic supersession and rollback">
            <a:extLst xmlns:a="http://schemas.openxmlformats.org/drawingml/2006/main">
              <a:ext uri="{FF2B5EF4-FFF2-40B4-BE49-F238E27FC236}">
                <a16:creationId xmlns:a16="http://schemas.microsoft.com/office/drawing/2014/main" id="{5A723D2B-ED8C-4AED-8FD3-B6A167F75847}"/>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Atomic supersession and rollback</a:t>
            </a:r>
          </a:p>
        </p:txBody>
      </p:sp>
      <p:sp>
        <p:nvSpPr>
          <p:cNvPr id="2" name="State, revision and both audit events commit together, or all writes r">
            <a:extLst xmlns:a="http://schemas.openxmlformats.org/drawingml/2006/main">
              <a:ext uri="{FF2B5EF4-FFF2-40B4-BE49-F238E27FC236}">
                <a16:creationId xmlns:a16="http://schemas.microsoft.com/office/drawing/2014/main" id="{EA606303-0204-40D9-BC2B-ABC46BFAE076}"/>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State, revision and both audit events commit together, or all writes roll back.</a:t>
            </a:r>
          </a:p>
        </p:txBody>
      </p:sp>
      <p:sp>
        <p:nvSpPr>
          <p:cNvPr id="3" name="10">
            <a:extLst xmlns:a="http://schemas.openxmlformats.org/drawingml/2006/main">
              <a:ext uri="{FF2B5EF4-FFF2-40B4-BE49-F238E27FC236}">
                <a16:creationId xmlns:a16="http://schemas.microsoft.com/office/drawing/2014/main" id="{182E0CC3-5E94-49C4-95E1-D1E494413399}"/>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10</a:t>
            </a:r>
          </a:p>
        </p:txBody>
      </p:sp>
      <p:sp>
        <p:nvSpPr>
          <p:cNvPr id="4" name="Validate active replacement&#10;and same-key predecessor">
            <a:extLst xmlns:a="http://schemas.openxmlformats.org/drawingml/2006/main">
              <a:ext uri="{FF2B5EF4-FFF2-40B4-BE49-F238E27FC236}">
                <a16:creationId xmlns:a16="http://schemas.microsoft.com/office/drawing/2014/main" id="{408BD3C8-224A-4A00-9384-AB9DE89845AD}"/>
              </a:ext>
            </a:extLst>
          </p:cNvPr>
          <p:cNvSpPr>
            <a:spLocks xmlns:a="http://schemas.openxmlformats.org/drawingml/2006/main" noGrp="1"/>
          </p:cNvSpPr>
          <p:nvPr/>
        </p:nvSpPr>
        <p:spPr>
          <a:xfrm xmlns:a="http://schemas.openxmlformats.org/drawingml/2006/main">
            <a:off x="628650" y="1876425"/>
            <a:ext cx="3286125" cy="9525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Validate active replacement</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and same-key predecessor</a:t>
            </a:r>
          </a:p>
        </p:txBody>
      </p:sp>
      <p:sp>
        <p:nvSpPr>
          <p:cNvPr id="5" name="BEGIN IMMEDIATE&#10;reserved writer lock">
            <a:extLst xmlns:a="http://schemas.openxmlformats.org/drawingml/2006/main">
              <a:ext uri="{FF2B5EF4-FFF2-40B4-BE49-F238E27FC236}">
                <a16:creationId xmlns:a16="http://schemas.microsoft.com/office/drawing/2014/main" id="{259C3098-2F42-42E7-BEAA-9CE1E461B0AB}"/>
              </a:ext>
            </a:extLst>
          </p:cNvPr>
          <p:cNvSpPr>
            <a:spLocks xmlns:a="http://schemas.openxmlformats.org/drawingml/2006/main" noGrp="1"/>
          </p:cNvSpPr>
          <p:nvPr/>
        </p:nvSpPr>
        <p:spPr>
          <a:xfrm xmlns:a="http://schemas.openxmlformats.org/drawingml/2006/main">
            <a:off x="4476750" y="1876425"/>
            <a:ext cx="2905125" cy="952500"/>
          </a:xfrm>
          <a:prstGeom xmlns:a="http://schemas.openxmlformats.org/drawingml/2006/main" prst="rect">
            <a:avLst/>
          </a:prstGeom>
          <a:solidFill xmlns:a="http://schemas.openxmlformats.org/drawingml/2006/main">
            <a:srgbClr val="152B2B"/>
          </a:solidFill>
          <a:ln xmlns:a="http://schemas.openxmlformats.org/drawingml/2006/main" w="11430">
            <a:solidFill>
              <a:srgbClr val="152B2B"/>
            </a:solidFill>
          </a:ln>
        </p:spPr>
        <p:txBody>
          <a:bodyPr xmlns:a="http://schemas.openxmlformats.org/drawingml/2006/main" wrap="square" lIns="133350" tIns="133350" rIns="133350" bIns="133350" anchor="ctr"/>
          <a:lstStyle xmlns:a="http://schemas.openxmlformats.org/drawingml/2006/main">
            <a:defPPr algn="ctr">
              <a:defRPr sz="1875" b="0">
                <a:solidFill>
                  <a:srgbClr val="FFFFFF"/>
                </a:solidFill>
                <a:latin typeface="Calibri"/>
                <a:ea typeface="Calibri"/>
                <a:cs typeface="Calibri"/>
              </a:defRPr>
            </a:defPPr>
            <a:lvl1pPr algn="ctr">
              <a:defRPr sz="1875" b="0">
                <a:solidFill>
                  <a:srgbClr val="FFFFFF"/>
                </a:solidFill>
                <a:latin typeface="Calibri"/>
                <a:ea typeface="Calibri"/>
                <a:cs typeface="Calibri"/>
              </a:defRPr>
            </a:lvl1pPr>
            <a:lvl2pPr algn="ctr">
              <a:defRPr sz="1875" b="0">
                <a:solidFill>
                  <a:srgbClr val="FFFFFF"/>
                </a:solidFill>
                <a:latin typeface="Calibri"/>
                <a:ea typeface="Calibri"/>
                <a:cs typeface="Calibri"/>
              </a:defRPr>
            </a:lvl2pPr>
            <a:lvl3pPr algn="ctr">
              <a:defRPr sz="1875" b="0">
                <a:solidFill>
                  <a:srgbClr val="FFFFFF"/>
                </a:solidFill>
                <a:latin typeface="Calibri"/>
                <a:ea typeface="Calibri"/>
                <a:cs typeface="Calibri"/>
              </a:defRPr>
            </a:lvl3pPr>
            <a:lvl4pPr algn="ctr">
              <a:defRPr sz="1875" b="0">
                <a:solidFill>
                  <a:srgbClr val="FFFFFF"/>
                </a:solidFill>
                <a:latin typeface="Calibri"/>
                <a:ea typeface="Calibri"/>
                <a:cs typeface="Calibri"/>
              </a:defRPr>
            </a:lvl4pPr>
            <a:lvl5pPr algn="ctr">
              <a:defRPr sz="1875" b="0">
                <a:solidFill>
                  <a:srgbClr val="FFFFFF"/>
                </a:solidFill>
                <a:latin typeface="Calibri"/>
                <a:ea typeface="Calibri"/>
                <a:cs typeface="Calibri"/>
              </a:defRPr>
            </a:lvl5pPr>
            <a:lvl6pPr algn="ctr">
              <a:defRPr sz="1875" b="0">
                <a:solidFill>
                  <a:srgbClr val="FFFFFF"/>
                </a:solidFill>
                <a:latin typeface="Calibri"/>
                <a:ea typeface="Calibri"/>
                <a:cs typeface="Calibri"/>
              </a:defRPr>
            </a:lvl6pPr>
            <a:lvl7pPr algn="ctr">
              <a:defRPr sz="1875" b="0">
                <a:solidFill>
                  <a:srgbClr val="FFFFFF"/>
                </a:solidFill>
                <a:latin typeface="Calibri"/>
                <a:ea typeface="Calibri"/>
                <a:cs typeface="Calibri"/>
              </a:defRPr>
            </a:lvl7pPr>
            <a:lvl8pPr algn="ctr">
              <a:defRPr sz="1875" b="0">
                <a:solidFill>
                  <a:srgbClr val="FFFFFF"/>
                </a:solidFill>
                <a:latin typeface="Calibri"/>
                <a:ea typeface="Calibri"/>
                <a:cs typeface="Calibri"/>
              </a:defRPr>
            </a:lvl8pPr>
            <a:lvl9pPr algn="ctr">
              <a:defRPr sz="1875" b="0">
                <a:solidFill>
                  <a:srgbClr val="FFFFFF"/>
                </a:solidFill>
                <a:latin typeface="Calibri"/>
                <a:ea typeface="Calibri"/>
                <a:cs typeface="Calibri"/>
              </a:defRPr>
            </a:lvl9pPr>
          </a:lstStyle>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BEGIN IMMEDIATE</a:t>
            </a:r>
          </a:p>
          <a:p xmlns:a="http://schemas.openxmlformats.org/drawingml/2006/main">
            <a:pPr algn="ctr">
              <a:defRPr sz="1875" b="0">
                <a:solidFill>
                  <a:srgbClr val="FFFFFF"/>
                </a:solidFill>
                <a:latin typeface="Calibri"/>
                <a:ea typeface="Calibri"/>
                <a:cs typeface="Calibri"/>
              </a:defRPr>
            </a:pPr>
            <a:r>
              <a:rPr sz="1875" b="0">
                <a:solidFill>
                  <a:srgbClr val="FFFFFF"/>
                </a:solidFill>
                <a:latin typeface="Calibri"/>
                <a:ea typeface="Calibri"/>
                <a:cs typeface="Calibri"/>
              </a:rPr>
              <a:t>reserved writer lock</a:t>
            </a:r>
          </a:p>
        </p:txBody>
      </p:sp>
      <p:sp>
        <p:nvSpPr>
          <p:cNvPr id="6" name="Withdraw v2, restore v1&#10;one new revision, two events">
            <a:extLst xmlns:a="http://schemas.openxmlformats.org/drawingml/2006/main">
              <a:ext uri="{FF2B5EF4-FFF2-40B4-BE49-F238E27FC236}">
                <a16:creationId xmlns:a16="http://schemas.microsoft.com/office/drawing/2014/main" id="{25D067F7-4961-4A9E-97F3-FFC6D01FD4D9}"/>
              </a:ext>
            </a:extLst>
          </p:cNvPr>
          <p:cNvSpPr>
            <a:spLocks xmlns:a="http://schemas.openxmlformats.org/drawingml/2006/main" noGrp="1"/>
          </p:cNvSpPr>
          <p:nvPr/>
        </p:nvSpPr>
        <p:spPr>
          <a:xfrm xmlns:a="http://schemas.openxmlformats.org/drawingml/2006/main">
            <a:off x="7943850" y="1876425"/>
            <a:ext cx="3600450" cy="9525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Withdraw v2, restore v1</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one new revision, two events</a:t>
            </a:r>
          </a:p>
        </p:txBody>
      </p:sp>
      <p:sp>
        <p:nvSpPr>
          <p:cNvPr id="9" name="try:&#10;  advance_revision_once()&#10;  withdraw(replacement)&#10;  restore(prede">
            <a:extLst xmlns:a="http://schemas.openxmlformats.org/drawingml/2006/main">
              <a:ext uri="{FF2B5EF4-FFF2-40B4-BE49-F238E27FC236}">
                <a16:creationId xmlns:a16="http://schemas.microsoft.com/office/drawing/2014/main" id="{5F355221-68BF-454D-9946-6B55C5170FCD}"/>
              </a:ext>
            </a:extLst>
          </p:cNvPr>
          <p:cNvSpPr>
            <a:spLocks xmlns:a="http://schemas.openxmlformats.org/drawingml/2006/main" noGrp="1"/>
          </p:cNvSpPr>
          <p:nvPr/>
        </p:nvSpPr>
        <p:spPr>
          <a:xfrm xmlns:a="http://schemas.openxmlformats.org/drawingml/2006/main">
            <a:off x="647700" y="3333750"/>
            <a:ext cx="5715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52B2B"/>
                </a:solidFill>
                <a:latin typeface="Consolas"/>
                <a:ea typeface="Consolas"/>
                <a:cs typeface="Consolas"/>
              </a:defRPr>
            </a:defPPr>
            <a:lvl1pPr algn="l">
              <a:defRPr sz="1800" b="0">
                <a:solidFill>
                  <a:srgbClr val="152B2B"/>
                </a:solidFill>
                <a:latin typeface="Consolas"/>
                <a:ea typeface="Consolas"/>
                <a:cs typeface="Consolas"/>
              </a:defRPr>
            </a:lvl1pPr>
            <a:lvl2pPr algn="l">
              <a:defRPr sz="1800" b="0">
                <a:solidFill>
                  <a:srgbClr val="152B2B"/>
                </a:solidFill>
                <a:latin typeface="Consolas"/>
                <a:ea typeface="Consolas"/>
                <a:cs typeface="Consolas"/>
              </a:defRPr>
            </a:lvl2pPr>
            <a:lvl3pPr algn="l">
              <a:defRPr sz="1800" b="0">
                <a:solidFill>
                  <a:srgbClr val="152B2B"/>
                </a:solidFill>
                <a:latin typeface="Consolas"/>
                <a:ea typeface="Consolas"/>
                <a:cs typeface="Consolas"/>
              </a:defRPr>
            </a:lvl3pPr>
            <a:lvl4pPr algn="l">
              <a:defRPr sz="1800" b="0">
                <a:solidFill>
                  <a:srgbClr val="152B2B"/>
                </a:solidFill>
                <a:latin typeface="Consolas"/>
                <a:ea typeface="Consolas"/>
                <a:cs typeface="Consolas"/>
              </a:defRPr>
            </a:lvl4pPr>
            <a:lvl5pPr algn="l">
              <a:defRPr sz="1800" b="0">
                <a:solidFill>
                  <a:srgbClr val="152B2B"/>
                </a:solidFill>
                <a:latin typeface="Consolas"/>
                <a:ea typeface="Consolas"/>
                <a:cs typeface="Consolas"/>
              </a:defRPr>
            </a:lvl5pPr>
            <a:lvl6pPr algn="l">
              <a:defRPr sz="1800" b="0">
                <a:solidFill>
                  <a:srgbClr val="152B2B"/>
                </a:solidFill>
                <a:latin typeface="Consolas"/>
                <a:ea typeface="Consolas"/>
                <a:cs typeface="Consolas"/>
              </a:defRPr>
            </a:lvl6pPr>
            <a:lvl7pPr algn="l">
              <a:defRPr sz="1800" b="0">
                <a:solidFill>
                  <a:srgbClr val="152B2B"/>
                </a:solidFill>
                <a:latin typeface="Consolas"/>
                <a:ea typeface="Consolas"/>
                <a:cs typeface="Consolas"/>
              </a:defRPr>
            </a:lvl7pPr>
            <a:lvl8pPr algn="l">
              <a:defRPr sz="1800" b="0">
                <a:solidFill>
                  <a:srgbClr val="152B2B"/>
                </a:solidFill>
                <a:latin typeface="Consolas"/>
                <a:ea typeface="Consolas"/>
                <a:cs typeface="Consolas"/>
              </a:defRPr>
            </a:lvl8pPr>
            <a:lvl9pPr algn="l">
              <a:defRPr sz="1800" b="0">
                <a:solidFill>
                  <a:srgbClr val="152B2B"/>
                </a:solidFill>
                <a:latin typeface="Consolas"/>
                <a:ea typeface="Consolas"/>
                <a:cs typeface="Consolas"/>
              </a:defRPr>
            </a:lvl9pPr>
          </a:lstStyle>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try:</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advance_revision_once()</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withdraw(replacement)</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restore(predecessor)</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write_both_audit_events()</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COMMIT</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except: ROLLBACK</a:t>
            </a:r>
          </a:p>
        </p:txBody>
      </p:sp>
      <p:sp>
        <p:nvSpPr>
          <p:cNvPr id="10" name="Failure and history rules">
            <a:extLst xmlns:a="http://schemas.openxmlformats.org/drawingml/2006/main">
              <a:ext uri="{FF2B5EF4-FFF2-40B4-BE49-F238E27FC236}">
                <a16:creationId xmlns:a16="http://schemas.microsoft.com/office/drawing/2014/main" id="{74A78048-43A1-4473-9EB7-6995B5E5615D}"/>
              </a:ext>
            </a:extLst>
          </p:cNvPr>
          <p:cNvSpPr>
            <a:spLocks xmlns:a="http://schemas.openxmlformats.org/drawingml/2006/main" noGrp="1"/>
          </p:cNvSpPr>
          <p:nvPr/>
        </p:nvSpPr>
        <p:spPr>
          <a:xfrm xmlns:a="http://schemas.openxmlformats.org/drawingml/2006/main">
            <a:off x="7286625" y="331470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Failure and history rules</a:t>
            </a:r>
          </a:p>
        </p:txBody>
      </p:sp>
      <p:sp>
        <p:nvSpPr>
          <p:cNvPr id="11" name="Competing approval returns HTTP 409.&#10;Injected late-event failure resto">
            <a:extLst xmlns:a="http://schemas.openxmlformats.org/drawingml/2006/main">
              <a:ext uri="{FF2B5EF4-FFF2-40B4-BE49-F238E27FC236}">
                <a16:creationId xmlns:a16="http://schemas.microsoft.com/office/drawing/2014/main" id="{82C3D336-8B4A-4F4F-A94A-9294397CE8E6}"/>
              </a:ext>
            </a:extLst>
          </p:cNvPr>
          <p:cNvSpPr>
            <a:spLocks xmlns:a="http://schemas.openxmlformats.org/drawingml/2006/main" noGrp="1"/>
          </p:cNvSpPr>
          <p:nvPr/>
        </p:nvSpPr>
        <p:spPr>
          <a:xfrm xmlns:a="http://schemas.openxmlformats.org/drawingml/2006/main">
            <a:off x="7286625" y="3905250"/>
            <a:ext cx="42386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B2B"/>
                </a:solidFill>
                <a:latin typeface="Calibri"/>
                <a:ea typeface="Calibri"/>
                <a:cs typeface="Calibri"/>
              </a:defRPr>
            </a:defPPr>
            <a:lvl1pPr algn="l">
              <a:defRPr sz="1875" b="0">
                <a:solidFill>
                  <a:srgbClr val="152B2B"/>
                </a:solidFill>
                <a:latin typeface="Calibri"/>
                <a:ea typeface="Calibri"/>
                <a:cs typeface="Calibri"/>
              </a:defRPr>
            </a:lvl1pPr>
            <a:lvl2pPr algn="l">
              <a:defRPr sz="1875" b="0">
                <a:solidFill>
                  <a:srgbClr val="152B2B"/>
                </a:solidFill>
                <a:latin typeface="Calibri"/>
                <a:ea typeface="Calibri"/>
                <a:cs typeface="Calibri"/>
              </a:defRPr>
            </a:lvl2pPr>
            <a:lvl3pPr algn="l">
              <a:defRPr sz="1875" b="0">
                <a:solidFill>
                  <a:srgbClr val="152B2B"/>
                </a:solidFill>
                <a:latin typeface="Calibri"/>
                <a:ea typeface="Calibri"/>
                <a:cs typeface="Calibri"/>
              </a:defRPr>
            </a:lvl3pPr>
            <a:lvl4pPr algn="l">
              <a:defRPr sz="1875" b="0">
                <a:solidFill>
                  <a:srgbClr val="152B2B"/>
                </a:solidFill>
                <a:latin typeface="Calibri"/>
                <a:ea typeface="Calibri"/>
                <a:cs typeface="Calibri"/>
              </a:defRPr>
            </a:lvl4pPr>
            <a:lvl5pPr algn="l">
              <a:defRPr sz="1875" b="0">
                <a:solidFill>
                  <a:srgbClr val="152B2B"/>
                </a:solidFill>
                <a:latin typeface="Calibri"/>
                <a:ea typeface="Calibri"/>
                <a:cs typeface="Calibri"/>
              </a:defRPr>
            </a:lvl5pPr>
            <a:lvl6pPr algn="l">
              <a:defRPr sz="1875" b="0">
                <a:solidFill>
                  <a:srgbClr val="152B2B"/>
                </a:solidFill>
                <a:latin typeface="Calibri"/>
                <a:ea typeface="Calibri"/>
                <a:cs typeface="Calibri"/>
              </a:defRPr>
            </a:lvl6pPr>
            <a:lvl7pPr algn="l">
              <a:defRPr sz="1875" b="0">
                <a:solidFill>
                  <a:srgbClr val="152B2B"/>
                </a:solidFill>
                <a:latin typeface="Calibri"/>
                <a:ea typeface="Calibri"/>
                <a:cs typeface="Calibri"/>
              </a:defRPr>
            </a:lvl7pPr>
            <a:lvl8pPr algn="l">
              <a:defRPr sz="1875" b="0">
                <a:solidFill>
                  <a:srgbClr val="152B2B"/>
                </a:solidFill>
                <a:latin typeface="Calibri"/>
                <a:ea typeface="Calibri"/>
                <a:cs typeface="Calibri"/>
              </a:defRPr>
            </a:lvl8pPr>
            <a:lvl9pPr algn="l">
              <a:defRPr sz="1875" b="0">
                <a:solidFill>
                  <a:srgbClr val="152B2B"/>
                </a:solidFill>
                <a:latin typeface="Calibri"/>
                <a:ea typeface="Calibri"/>
                <a:cs typeface="Calibri"/>
              </a:defRPr>
            </a:lvl9pPr>
          </a:lstStyle>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Competing approval returns HTTP 409.</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Injected late-event failure restores state.</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Historical replay leaves live state intact.</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Knowledge changes invalidate context caches.</a:t>
            </a:r>
          </a:p>
        </p:txBody>
      </p:sp>
      <p:sp>
        <p:nvSpPr>
          <p:cNvPr id="12" name="These transaction guarantees concern represented identities and operat">
            <a:extLst xmlns:a="http://schemas.openxmlformats.org/drawingml/2006/main">
              <a:ext uri="{FF2B5EF4-FFF2-40B4-BE49-F238E27FC236}">
                <a16:creationId xmlns:a16="http://schemas.microsoft.com/office/drawing/2014/main" id="{C1ED31CA-1B9B-4868-9281-BAACCC5F7F3B}"/>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These transaction guarantees concern represented identities and operational consistency.</a:t>
            </a:r>
          </a:p>
        </p:txBody>
      </p:sp>
    </p:spTree>
    <p:extLst>
      <p:ext uri="{BB962C8B-B14F-4D97-AF65-F5344CB8AC3E}">
        <p14:creationId xmlns:p14="http://schemas.microsoft.com/office/powerpoint/2010/main" val="360232909"/>
      </p:ext>
    </p:extLst>
  </p:cSld>
</p:sld>
</file>

<file path=ppt/slides/slide1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Bounded iterative retrieval algorithm">
            <a:extLst xmlns:a="http://schemas.openxmlformats.org/drawingml/2006/main">
              <a:ext uri="{FF2B5EF4-FFF2-40B4-BE49-F238E27FC236}">
                <a16:creationId xmlns:a16="http://schemas.microsoft.com/office/drawing/2014/main" id="{72701E0D-D1F0-40DC-A277-C70360C47124}"/>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Bounded iterative retrieval algorithm</a:t>
            </a:r>
          </a:p>
        </p:txBody>
      </p:sp>
      <p:sp>
        <p:nvSpPr>
          <p:cNvPr id="2" name="BM25-style ranking uses approved question + scope + answer text, with ">
            <a:extLst xmlns:a="http://schemas.openxmlformats.org/drawingml/2006/main">
              <a:ext uri="{FF2B5EF4-FFF2-40B4-BE49-F238E27FC236}">
                <a16:creationId xmlns:a16="http://schemas.microsoft.com/office/drawing/2014/main" id="{D5C72919-F4B6-45D3-97B0-C7D5DBC5D45A}"/>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BM25-style ranking uses approved question + scope + answer text, with fact-ID tie breaks.</a:t>
            </a:r>
          </a:p>
        </p:txBody>
      </p:sp>
      <p:sp>
        <p:nvSpPr>
          <p:cNvPr id="3" name="11">
            <a:extLst xmlns:a="http://schemas.openxmlformats.org/drawingml/2006/main">
              <a:ext uri="{FF2B5EF4-FFF2-40B4-BE49-F238E27FC236}">
                <a16:creationId xmlns:a16="http://schemas.microsoft.com/office/drawing/2014/main" id="{A4D0D28D-814E-4FDF-84E5-1F3B283A0BFA}"/>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11</a:t>
            </a:r>
          </a:p>
        </p:txBody>
      </p:sp>
      <p:sp>
        <p:nvSpPr>
          <p:cNvPr id="4" name="S = top2(rank(question, memory))&#10;frontier = answers(S)&#10;repeat at most ">
            <a:extLst xmlns:a="http://schemas.openxmlformats.org/drawingml/2006/main">
              <a:ext uri="{FF2B5EF4-FFF2-40B4-BE49-F238E27FC236}">
                <a16:creationId xmlns:a16="http://schemas.microsoft.com/office/drawing/2014/main" id="{E0A1623C-F548-4213-8550-545583C8C8B8}"/>
              </a:ext>
            </a:extLst>
          </p:cNvPr>
          <p:cNvSpPr>
            <a:spLocks xmlns:a="http://schemas.openxmlformats.org/drawingml/2006/main" noGrp="1"/>
          </p:cNvSpPr>
          <p:nvPr/>
        </p:nvSpPr>
        <p:spPr>
          <a:xfrm xmlns:a="http://schemas.openxmlformats.org/drawingml/2006/main">
            <a:off x="647700" y="1971675"/>
            <a:ext cx="68103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52B2B"/>
                </a:solidFill>
                <a:latin typeface="Consolas"/>
                <a:ea typeface="Consolas"/>
                <a:cs typeface="Consolas"/>
              </a:defRPr>
            </a:defPPr>
            <a:lvl1pPr algn="l">
              <a:defRPr sz="1800" b="0">
                <a:solidFill>
                  <a:srgbClr val="152B2B"/>
                </a:solidFill>
                <a:latin typeface="Consolas"/>
                <a:ea typeface="Consolas"/>
                <a:cs typeface="Consolas"/>
              </a:defRPr>
            </a:lvl1pPr>
            <a:lvl2pPr algn="l">
              <a:defRPr sz="1800" b="0">
                <a:solidFill>
                  <a:srgbClr val="152B2B"/>
                </a:solidFill>
                <a:latin typeface="Consolas"/>
                <a:ea typeface="Consolas"/>
                <a:cs typeface="Consolas"/>
              </a:defRPr>
            </a:lvl2pPr>
            <a:lvl3pPr algn="l">
              <a:defRPr sz="1800" b="0">
                <a:solidFill>
                  <a:srgbClr val="152B2B"/>
                </a:solidFill>
                <a:latin typeface="Consolas"/>
                <a:ea typeface="Consolas"/>
                <a:cs typeface="Consolas"/>
              </a:defRPr>
            </a:lvl3pPr>
            <a:lvl4pPr algn="l">
              <a:defRPr sz="1800" b="0">
                <a:solidFill>
                  <a:srgbClr val="152B2B"/>
                </a:solidFill>
                <a:latin typeface="Consolas"/>
                <a:ea typeface="Consolas"/>
                <a:cs typeface="Consolas"/>
              </a:defRPr>
            </a:lvl4pPr>
            <a:lvl5pPr algn="l">
              <a:defRPr sz="1800" b="0">
                <a:solidFill>
                  <a:srgbClr val="152B2B"/>
                </a:solidFill>
                <a:latin typeface="Consolas"/>
                <a:ea typeface="Consolas"/>
                <a:cs typeface="Consolas"/>
              </a:defRPr>
            </a:lvl5pPr>
            <a:lvl6pPr algn="l">
              <a:defRPr sz="1800" b="0">
                <a:solidFill>
                  <a:srgbClr val="152B2B"/>
                </a:solidFill>
                <a:latin typeface="Consolas"/>
                <a:ea typeface="Consolas"/>
                <a:cs typeface="Consolas"/>
              </a:defRPr>
            </a:lvl6pPr>
            <a:lvl7pPr algn="l">
              <a:defRPr sz="1800" b="0">
                <a:solidFill>
                  <a:srgbClr val="152B2B"/>
                </a:solidFill>
                <a:latin typeface="Consolas"/>
                <a:ea typeface="Consolas"/>
                <a:cs typeface="Consolas"/>
              </a:defRPr>
            </a:lvl7pPr>
            <a:lvl8pPr algn="l">
              <a:defRPr sz="1800" b="0">
                <a:solidFill>
                  <a:srgbClr val="152B2B"/>
                </a:solidFill>
                <a:latin typeface="Consolas"/>
                <a:ea typeface="Consolas"/>
                <a:cs typeface="Consolas"/>
              </a:defRPr>
            </a:lvl8pPr>
            <a:lvl9pPr algn="l">
              <a:defRPr sz="1800" b="0">
                <a:solidFill>
                  <a:srgbClr val="152B2B"/>
                </a:solidFill>
                <a:latin typeface="Consolas"/>
                <a:ea typeface="Consolas"/>
                <a:cs typeface="Consolas"/>
              </a:defRPr>
            </a:lvl9pPr>
          </a:lstStyle>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S = top2(rank(question, memory))</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frontier = answers(S)</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repeat at most 3 rounds:</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stop if |S| = 4 or no unseen facts</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f = top1(rank(frontier, unseen))</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S = S + [f]</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  frontier = answer(f)</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return S</a:t>
            </a:r>
          </a:p>
        </p:txBody>
      </p:sp>
      <p:sp>
        <p:nvSpPr>
          <p:cNvPr id="5" name="Concrete expansion">
            <a:extLst xmlns:a="http://schemas.openxmlformats.org/drawingml/2006/main">
              <a:ext uri="{FF2B5EF4-FFF2-40B4-BE49-F238E27FC236}">
                <a16:creationId xmlns:a16="http://schemas.microsoft.com/office/drawing/2014/main" id="{8054A93F-3EF0-440A-BEAD-76891BF833F1}"/>
              </a:ext>
            </a:extLst>
          </p:cNvPr>
          <p:cNvSpPr>
            <a:spLocks xmlns:a="http://schemas.openxmlformats.org/drawingml/2006/main" noGrp="1"/>
          </p:cNvSpPr>
          <p:nvPr/>
        </p:nvSpPr>
        <p:spPr>
          <a:xfrm xmlns:a="http://schemas.openxmlformats.org/drawingml/2006/main">
            <a:off x="8220075" y="19335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Concrete expansion</a:t>
            </a:r>
          </a:p>
        </p:txBody>
      </p:sp>
      <p:sp>
        <p:nvSpPr>
          <p:cNvPr id="6" name="Question seeds&#10;Hosting + ownership&#10;&#10;Pune Reliability Team&#10;On-call cont">
            <a:extLst xmlns:a="http://schemas.openxmlformats.org/drawingml/2006/main">
              <a:ext uri="{FF2B5EF4-FFF2-40B4-BE49-F238E27FC236}">
                <a16:creationId xmlns:a16="http://schemas.microsoft.com/office/drawing/2014/main" id="{97981CB6-C088-4E6E-A776-31DB56212A43}"/>
              </a:ext>
            </a:extLst>
          </p:cNvPr>
          <p:cNvSpPr>
            <a:spLocks xmlns:a="http://schemas.openxmlformats.org/drawingml/2006/main" noGrp="1"/>
          </p:cNvSpPr>
          <p:nvPr/>
        </p:nvSpPr>
        <p:spPr>
          <a:xfrm xmlns:a="http://schemas.openxmlformats.org/drawingml/2006/main">
            <a:off x="8220075" y="2486025"/>
            <a:ext cx="333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Question seeds</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Hosting + ownership</a:t>
            </a:r>
          </a:p>
          <a:p xmlns:a="http://schemas.openxmlformats.org/drawingml/2006/main">
            <a:r>
              <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Pune Reliability Team</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On-call contact record</a:t>
            </a:r>
          </a:p>
          <a:p xmlns:a="http://schemas.openxmlformats.org/drawingml/2006/main">
            <a:r>
              <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Arjun Deshmukh</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Office-city record</a:t>
            </a:r>
          </a:p>
        </p:txBody>
      </p:sp>
      <p:sp>
        <p:nvSpPr>
          <p:cNvPr id="7" name="Four-fact context cap. No expected answer, gold support ID or question">
            <a:extLst xmlns:a="http://schemas.openxmlformats.org/drawingml/2006/main">
              <a:ext uri="{FF2B5EF4-FFF2-40B4-BE49-F238E27FC236}">
                <a16:creationId xmlns:a16="http://schemas.microsoft.com/office/drawing/2014/main" id="{F263CCA9-3099-43C5-882E-A0A1BB748114}"/>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Four-fact context cap. No expected answer, gold support ID or question-depth metadata enters retrieval.</a:t>
            </a:r>
          </a:p>
        </p:txBody>
      </p:sp>
    </p:spTree>
    <p:extLst>
      <p:ext uri="{BB962C8B-B14F-4D97-AF65-F5344CB8AC3E}">
        <p14:creationId xmlns:p14="http://schemas.microsoft.com/office/powerpoint/2010/main" val="2052535252"/>
      </p:ext>
    </p:extLst>
  </p:cSld>
</p:sld>
</file>

<file path=ppt/slides/slide1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Retrieval selection before final evaluation">
            <a:extLst xmlns:a="http://schemas.openxmlformats.org/drawingml/2006/main">
              <a:ext uri="{FF2B5EF4-FFF2-40B4-BE49-F238E27FC236}">
                <a16:creationId xmlns:a16="http://schemas.microsoft.com/office/drawing/2014/main" id="{DB2F7B02-6775-4E84-A009-AFF086E7B7F2}"/>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Retrieval selection before final evaluation</a:t>
            </a:r>
          </a:p>
        </p:txBody>
      </p:sp>
      <p:sp>
        <p:nvSpPr>
          <p:cNvPr id="2" name="Development support completeness, 32 questions per depth group. No mod">
            <a:extLst xmlns:a="http://schemas.openxmlformats.org/drawingml/2006/main">
              <a:ext uri="{FF2B5EF4-FFF2-40B4-BE49-F238E27FC236}">
                <a16:creationId xmlns:a16="http://schemas.microsoft.com/office/drawing/2014/main" id="{2F1DC5B4-97F3-4999-AC1A-D4547F5666C5}"/>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Development support completeness, 32 questions per depth group. No model generation.</a:t>
            </a:r>
          </a:p>
        </p:txBody>
      </p:sp>
      <p:sp>
        <p:nvSpPr>
          <p:cNvPr id="3" name="12">
            <a:extLst xmlns:a="http://schemas.openxmlformats.org/drawingml/2006/main">
              <a:ext uri="{FF2B5EF4-FFF2-40B4-BE49-F238E27FC236}">
                <a16:creationId xmlns:a16="http://schemas.microsoft.com/office/drawing/2014/main" id="{1754C6C5-989C-4A72-80AE-194DCA931616}"/>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12</a:t>
            </a:r>
          </a:p>
        </p:txBody>
      </p:sp>
      <p:graphicFrame>
        <p:nvGraphicFramePr>
          <p:cNvPr id="4" name="Chart">
            <a:extLst xmlns:a="http://schemas.openxmlformats.org/drawingml/2006/main">
              <a:ext uri="{FF2B5EF4-FFF2-40B4-BE49-F238E27FC236}">
                <a16:creationId xmlns:a16="http://schemas.microsoft.com/office/drawing/2014/main" id="{98C81CF9-7DCE-4A1B-BE69-83E2A5530C4A}"/>
              </a:ext>
            </a:extLst>
          </p:cNvPr>
          <p:cNvGraphicFramePr/>
          <p:nvPr/>
        </p:nvGraphicFramePr>
        <p:xfrm>
          <a:off xmlns:a="http://schemas.openxmlformats.org/drawingml/2006/main" x="590550" y="18669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deb683b7833b4f24"/>
          </a:graphicData>
        </a:graphic>
      </p:graphicFrame>
      <p:sp>
        <p:nvSpPr>
          <p:cNvPr id="5" name="Complete paths">
            <a:extLst xmlns:a="http://schemas.openxmlformats.org/drawingml/2006/main">
              <a:ext uri="{FF2B5EF4-FFF2-40B4-BE49-F238E27FC236}">
                <a16:creationId xmlns:a16="http://schemas.microsoft.com/office/drawing/2014/main" id="{8EF3C2AB-9DE8-4080-95CF-E52F37F88F1C}"/>
              </a:ext>
            </a:extLst>
          </p:cNvPr>
          <p:cNvSpPr>
            <a:spLocks xmlns:a="http://schemas.openxmlformats.org/drawingml/2006/main" noGrp="1"/>
          </p:cNvSpPr>
          <p:nvPr/>
        </p:nvSpPr>
        <p:spPr>
          <a:xfrm xmlns:a="http://schemas.openxmlformats.org/drawingml/2006/main">
            <a:off x="8505825" y="19335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Complete paths</a:t>
            </a:r>
          </a:p>
        </p:txBody>
      </p:sp>
      <p:sp>
        <p:nvSpPr>
          <p:cNvPr id="6" name="96/128 original&#10;128/128 iterative">
            <a:extLst xmlns:a="http://schemas.openxmlformats.org/drawingml/2006/main">
              <a:ext uri="{FF2B5EF4-FFF2-40B4-BE49-F238E27FC236}">
                <a16:creationId xmlns:a16="http://schemas.microsoft.com/office/drawing/2014/main" id="{8F418547-63F4-4F51-B382-49736439C451}"/>
              </a:ext>
            </a:extLst>
          </p:cNvPr>
          <p:cNvSpPr>
            <a:spLocks xmlns:a="http://schemas.openxmlformats.org/drawingml/2006/main" noGrp="1"/>
          </p:cNvSpPr>
          <p:nvPr/>
        </p:nvSpPr>
        <p:spPr>
          <a:xfrm xmlns:a="http://schemas.openxmlformats.org/drawingml/2006/main">
            <a:off x="8505825" y="2476500"/>
            <a:ext cx="304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52B2B"/>
                </a:solidFill>
                <a:latin typeface="Calibri"/>
                <a:ea typeface="Calibri"/>
                <a:cs typeface="Calibri"/>
              </a:defRPr>
            </a:defPPr>
            <a:lvl1pPr algn="l">
              <a:defRPr sz="2325" b="1">
                <a:solidFill>
                  <a:srgbClr val="152B2B"/>
                </a:solidFill>
                <a:latin typeface="Calibri"/>
                <a:ea typeface="Calibri"/>
                <a:cs typeface="Calibri"/>
              </a:defRPr>
            </a:lvl1pPr>
            <a:lvl2pPr algn="l">
              <a:defRPr sz="2325" b="1">
                <a:solidFill>
                  <a:srgbClr val="152B2B"/>
                </a:solidFill>
                <a:latin typeface="Calibri"/>
                <a:ea typeface="Calibri"/>
                <a:cs typeface="Calibri"/>
              </a:defRPr>
            </a:lvl2pPr>
            <a:lvl3pPr algn="l">
              <a:defRPr sz="2325" b="1">
                <a:solidFill>
                  <a:srgbClr val="152B2B"/>
                </a:solidFill>
                <a:latin typeface="Calibri"/>
                <a:ea typeface="Calibri"/>
                <a:cs typeface="Calibri"/>
              </a:defRPr>
            </a:lvl3pPr>
            <a:lvl4pPr algn="l">
              <a:defRPr sz="2325" b="1">
                <a:solidFill>
                  <a:srgbClr val="152B2B"/>
                </a:solidFill>
                <a:latin typeface="Calibri"/>
                <a:ea typeface="Calibri"/>
                <a:cs typeface="Calibri"/>
              </a:defRPr>
            </a:lvl4pPr>
            <a:lvl5pPr algn="l">
              <a:defRPr sz="2325" b="1">
                <a:solidFill>
                  <a:srgbClr val="152B2B"/>
                </a:solidFill>
                <a:latin typeface="Calibri"/>
                <a:ea typeface="Calibri"/>
                <a:cs typeface="Calibri"/>
              </a:defRPr>
            </a:lvl5pPr>
            <a:lvl6pPr algn="l">
              <a:defRPr sz="2325" b="1">
                <a:solidFill>
                  <a:srgbClr val="152B2B"/>
                </a:solidFill>
                <a:latin typeface="Calibri"/>
                <a:ea typeface="Calibri"/>
                <a:cs typeface="Calibri"/>
              </a:defRPr>
            </a:lvl6pPr>
            <a:lvl7pPr algn="l">
              <a:defRPr sz="2325" b="1">
                <a:solidFill>
                  <a:srgbClr val="152B2B"/>
                </a:solidFill>
                <a:latin typeface="Calibri"/>
                <a:ea typeface="Calibri"/>
                <a:cs typeface="Calibri"/>
              </a:defRPr>
            </a:lvl7pPr>
            <a:lvl8pPr algn="l">
              <a:defRPr sz="2325" b="1">
                <a:solidFill>
                  <a:srgbClr val="152B2B"/>
                </a:solidFill>
                <a:latin typeface="Calibri"/>
                <a:ea typeface="Calibri"/>
                <a:cs typeface="Calibri"/>
              </a:defRPr>
            </a:lvl8pPr>
            <a:lvl9pPr algn="l">
              <a:defRPr sz="2325" b="1">
                <a:solidFill>
                  <a:srgbClr val="152B2B"/>
                </a:solidFill>
                <a:latin typeface="Calibri"/>
                <a:ea typeface="Calibri"/>
                <a:cs typeface="Calibri"/>
              </a:defRPr>
            </a:lvl9pPr>
          </a:lstStyle>
          <a:p xmlns:a="http://schemas.openxmlformats.org/drawingml/2006/main">
            <a:pPr algn="l">
              <a:defRPr sz="2325" b="1">
                <a:solidFill>
                  <a:srgbClr val="152B2B"/>
                </a:solidFill>
                <a:latin typeface="Calibri"/>
                <a:ea typeface="Calibri"/>
                <a:cs typeface="Calibri"/>
              </a:defRPr>
            </a:pPr>
            <a:r>
              <a:rPr sz="2325" b="1">
                <a:solidFill>
                  <a:srgbClr val="152B2B"/>
                </a:solidFill>
                <a:latin typeface="Calibri"/>
                <a:ea typeface="Calibri"/>
                <a:cs typeface="Calibri"/>
              </a:rPr>
              <a:t>96/128 original</a:t>
            </a:r>
          </a:p>
          <a:p xmlns:a="http://schemas.openxmlformats.org/drawingml/2006/main">
            <a:pPr algn="l">
              <a:defRPr sz="2325" b="1">
                <a:solidFill>
                  <a:srgbClr val="152B2B"/>
                </a:solidFill>
                <a:latin typeface="Calibri"/>
                <a:ea typeface="Calibri"/>
                <a:cs typeface="Calibri"/>
              </a:defRPr>
            </a:pPr>
            <a:r>
              <a:rPr sz="2325" b="1">
                <a:solidFill>
                  <a:srgbClr val="152B2B"/>
                </a:solidFill>
                <a:latin typeface="Calibri"/>
                <a:ea typeface="Calibri"/>
                <a:cs typeface="Calibri"/>
              </a:rPr>
              <a:t>128/128 iterative</a:t>
            </a:r>
          </a:p>
        </p:txBody>
      </p:sp>
      <p:sp>
        <p:nvSpPr>
          <p:cNvPr id="7" name="Six declared candidates.&#10;Two display states checked.&#10;Selected: two see">
            <a:extLst xmlns:a="http://schemas.openxmlformats.org/drawingml/2006/main">
              <a:ext uri="{FF2B5EF4-FFF2-40B4-BE49-F238E27FC236}">
                <a16:creationId xmlns:a16="http://schemas.microsoft.com/office/drawing/2014/main" id="{6EFCD7C9-DD1C-42C8-AB94-A62CB0589AA6}"/>
              </a:ext>
            </a:extLst>
          </p:cNvPr>
          <p:cNvSpPr>
            <a:spLocks xmlns:a="http://schemas.openxmlformats.org/drawingml/2006/main" noGrp="1"/>
          </p:cNvSpPr>
          <p:nvPr/>
        </p:nvSpPr>
        <p:spPr>
          <a:xfrm xmlns:a="http://schemas.openxmlformats.org/drawingml/2006/main">
            <a:off x="8505825" y="4038600"/>
            <a:ext cx="304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26464"/>
                </a:solidFill>
                <a:latin typeface="Calibri"/>
                <a:ea typeface="Calibri"/>
                <a:cs typeface="Calibri"/>
              </a:defRPr>
            </a:defPPr>
            <a:lvl1pPr algn="l">
              <a:defRPr sz="1950" b="0">
                <a:solidFill>
                  <a:srgbClr val="526464"/>
                </a:solidFill>
                <a:latin typeface="Calibri"/>
                <a:ea typeface="Calibri"/>
                <a:cs typeface="Calibri"/>
              </a:defRPr>
            </a:lvl1pPr>
            <a:lvl2pPr algn="l">
              <a:defRPr sz="1950" b="0">
                <a:solidFill>
                  <a:srgbClr val="526464"/>
                </a:solidFill>
                <a:latin typeface="Calibri"/>
                <a:ea typeface="Calibri"/>
                <a:cs typeface="Calibri"/>
              </a:defRPr>
            </a:lvl2pPr>
            <a:lvl3pPr algn="l">
              <a:defRPr sz="1950" b="0">
                <a:solidFill>
                  <a:srgbClr val="526464"/>
                </a:solidFill>
                <a:latin typeface="Calibri"/>
                <a:ea typeface="Calibri"/>
                <a:cs typeface="Calibri"/>
              </a:defRPr>
            </a:lvl3pPr>
            <a:lvl4pPr algn="l">
              <a:defRPr sz="1950" b="0">
                <a:solidFill>
                  <a:srgbClr val="526464"/>
                </a:solidFill>
                <a:latin typeface="Calibri"/>
                <a:ea typeface="Calibri"/>
                <a:cs typeface="Calibri"/>
              </a:defRPr>
            </a:lvl4pPr>
            <a:lvl5pPr algn="l">
              <a:defRPr sz="1950" b="0">
                <a:solidFill>
                  <a:srgbClr val="526464"/>
                </a:solidFill>
                <a:latin typeface="Calibri"/>
                <a:ea typeface="Calibri"/>
                <a:cs typeface="Calibri"/>
              </a:defRPr>
            </a:lvl5pPr>
            <a:lvl6pPr algn="l">
              <a:defRPr sz="1950" b="0">
                <a:solidFill>
                  <a:srgbClr val="526464"/>
                </a:solidFill>
                <a:latin typeface="Calibri"/>
                <a:ea typeface="Calibri"/>
                <a:cs typeface="Calibri"/>
              </a:defRPr>
            </a:lvl6pPr>
            <a:lvl7pPr algn="l">
              <a:defRPr sz="1950" b="0">
                <a:solidFill>
                  <a:srgbClr val="526464"/>
                </a:solidFill>
                <a:latin typeface="Calibri"/>
                <a:ea typeface="Calibri"/>
                <a:cs typeface="Calibri"/>
              </a:defRPr>
            </a:lvl7pPr>
            <a:lvl8pPr algn="l">
              <a:defRPr sz="1950" b="0">
                <a:solidFill>
                  <a:srgbClr val="526464"/>
                </a:solidFill>
                <a:latin typeface="Calibri"/>
                <a:ea typeface="Calibri"/>
                <a:cs typeface="Calibri"/>
              </a:defRPr>
            </a:lvl8pPr>
            <a:lvl9pPr algn="l">
              <a:defRPr sz="1950" b="0">
                <a:solidFill>
                  <a:srgbClr val="526464"/>
                </a:solidFill>
                <a:latin typeface="Calibri"/>
                <a:ea typeface="Calibri"/>
                <a:cs typeface="Calibri"/>
              </a:defRPr>
            </a:lvl9pPr>
          </a:lstStyle>
          <a:p xmlns:a="http://schemas.openxmlformats.org/drawingml/2006/main">
            <a:pPr algn="l">
              <a:defRPr sz="1950" b="0">
                <a:solidFill>
                  <a:srgbClr val="526464"/>
                </a:solidFill>
                <a:latin typeface="Calibri"/>
                <a:ea typeface="Calibri"/>
                <a:cs typeface="Calibri"/>
              </a:defRPr>
            </a:pPr>
            <a:r>
              <a:rPr sz="1950" b="0">
                <a:solidFill>
                  <a:srgbClr val="526464"/>
                </a:solidFill>
                <a:latin typeface="Calibri"/>
                <a:ea typeface="Calibri"/>
                <a:cs typeface="Calibri"/>
              </a:rPr>
              <a:t>Six declared candidates.</a:t>
            </a:r>
          </a:p>
          <a:p xmlns:a="http://schemas.openxmlformats.org/drawingml/2006/main">
            <a:pPr algn="l">
              <a:defRPr sz="1950" b="0">
                <a:solidFill>
                  <a:srgbClr val="526464"/>
                </a:solidFill>
                <a:latin typeface="Calibri"/>
                <a:ea typeface="Calibri"/>
                <a:cs typeface="Calibri"/>
              </a:defRPr>
            </a:pPr>
            <a:r>
              <a:rPr sz="1950" b="0">
                <a:solidFill>
                  <a:srgbClr val="526464"/>
                </a:solidFill>
                <a:latin typeface="Calibri"/>
                <a:ea typeface="Calibri"/>
                <a:cs typeface="Calibri"/>
              </a:rPr>
              <a:t>Two display states checked.</a:t>
            </a:r>
          </a:p>
          <a:p xmlns:a="http://schemas.openxmlformats.org/drawingml/2006/main">
            <a:pPr algn="l">
              <a:defRPr sz="1950" b="0">
                <a:solidFill>
                  <a:srgbClr val="526464"/>
                </a:solidFill>
                <a:latin typeface="Calibri"/>
                <a:ea typeface="Calibri"/>
                <a:cs typeface="Calibri"/>
              </a:defRPr>
            </a:pPr>
            <a:r>
              <a:rPr sz="1950" b="0">
                <a:solidFill>
                  <a:srgbClr val="526464"/>
                </a:solidFill>
                <a:latin typeface="Calibri"/>
                <a:ea typeface="Calibri"/>
                <a:cs typeface="Calibri"/>
              </a:rPr>
              <a:t>Selected: two seeds, four facts.</a:t>
            </a:r>
          </a:p>
        </p:txBody>
      </p:sp>
      <p:sp>
        <p:nvSpPr>
          <p:cNvPr id="8" name="Selection precedes neural profiling and final freeze. Development retr">
            <a:extLst xmlns:a="http://schemas.openxmlformats.org/drawingml/2006/main">
              <a:ext uri="{FF2B5EF4-FFF2-40B4-BE49-F238E27FC236}">
                <a16:creationId xmlns:a16="http://schemas.microsoft.com/office/drawing/2014/main" id="{7DEEF843-3BBE-41FC-A446-3AF612837CF4}"/>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Selection precedes neural profiling and final freeze. Development retrieval recall is not final answer accuracy.</a:t>
            </a:r>
          </a:p>
        </p:txBody>
      </p:sp>
    </p:spTree>
    <p:extLst>
      <p:ext uri="{BB962C8B-B14F-4D97-AF65-F5344CB8AC3E}">
        <p14:creationId xmlns:p14="http://schemas.microsoft.com/office/powerpoint/2010/main" val="883859638"/>
      </p:ext>
    </p:extLst>
  </p:cSld>
</p:sld>
</file>

<file path=ppt/slides/slide1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83115E94-C5C4-4D06-B235-AEE477475923}"/>
              </a:ext>
            </a:extLst>
          </p:cNvPr>
          <p:cNvCxnSpPr>
            <a:stCxn xmlns:a="http://schemas.openxmlformats.org/drawingml/2006/main" id="5" idx="2"/>
            <a:endCxn xmlns:a="http://schemas.openxmlformats.org/drawingml/2006/main" id="6" idx="0"/>
          </p:cNvCxnSpPr>
          <p:nvPr/>
        </p:nvCxnSpPr>
        <p:spPr>
          <a:xfrm xmlns:a="http://schemas.openxmlformats.org/drawingml/2006/main">
            <a:off x="9701213" y="2809875"/>
            <a:ext cx="0" cy="733425"/>
          </a:xfrm>
          <a:prstGeom xmlns:a="http://schemas.openxmlformats.org/drawingml/2006/main" prst="straightConnector1">
            <a:avLst/>
          </a:prstGeom>
          <a:ln xmlns:a="http://schemas.openxmlformats.org/drawingml/2006/main" w="19050">
            <a:solidFill>
              <a:srgbClr val="26766D"/>
            </a:solidFill>
            <a:prstDash val="solid"/>
            <a:tailEnd type="arrow" w="med" len="med"/>
          </a:ln>
        </p:spPr>
      </p:cxnSp>
      <p:sp>
        <p:nvSpPr>
          <p:cNvPr id="11" name="Prompt assembly and revision-safe history">
            <a:extLst xmlns:a="http://schemas.openxmlformats.org/drawingml/2006/main">
              <a:ext uri="{FF2B5EF4-FFF2-40B4-BE49-F238E27FC236}">
                <a16:creationId xmlns:a16="http://schemas.microsoft.com/office/drawing/2014/main" id="{C5D3486B-E025-4805-AEC4-013B6C6200B9}"/>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Prompt assembly and revision-safe history</a:t>
            </a:r>
          </a:p>
        </p:txBody>
      </p:sp>
      <p:sp>
        <p:nvSpPr>
          <p:cNvPr id="2" name="The latest user turn contains approved facts and the current question.">
            <a:extLst xmlns:a="http://schemas.openxmlformats.org/drawingml/2006/main">
              <a:ext uri="{FF2B5EF4-FFF2-40B4-BE49-F238E27FC236}">
                <a16:creationId xmlns:a16="http://schemas.microsoft.com/office/drawing/2014/main" id="{C18B8801-FAA5-4B63-AEFA-C9CB8ED7EE7B}"/>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latest user turn contains approved facts and the current question.</a:t>
            </a:r>
          </a:p>
        </p:txBody>
      </p:sp>
      <p:sp>
        <p:nvSpPr>
          <p:cNvPr id="3" name="13">
            <a:extLst xmlns:a="http://schemas.openxmlformats.org/drawingml/2006/main">
              <a:ext uri="{FF2B5EF4-FFF2-40B4-BE49-F238E27FC236}">
                <a16:creationId xmlns:a16="http://schemas.microsoft.com/office/drawing/2014/main" id="{8454B86E-079F-4C35-998A-B8A27CD0A65D}"/>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13</a:t>
            </a:r>
          </a:p>
        </p:txBody>
      </p:sp>
      <p:sp>
        <p:nvSpPr>
          <p:cNvPr id="4" name="[Updated Information]&#10;JSON: id, question, answer, scope, source&#10;&#10;[Quer">
            <a:extLst xmlns:a="http://schemas.openxmlformats.org/drawingml/2006/main">
              <a:ext uri="{FF2B5EF4-FFF2-40B4-BE49-F238E27FC236}">
                <a16:creationId xmlns:a16="http://schemas.microsoft.com/office/drawing/2014/main" id="{513AE32C-F506-480F-9C1B-781A8C436FCF}"/>
              </a:ext>
            </a:extLst>
          </p:cNvPr>
          <p:cNvSpPr>
            <a:spLocks xmlns:a="http://schemas.openxmlformats.org/drawingml/2006/main" noGrp="1"/>
          </p:cNvSpPr>
          <p:nvPr/>
        </p:nvSpPr>
        <p:spPr>
          <a:xfrm xmlns:a="http://schemas.openxmlformats.org/drawingml/2006/main">
            <a:off x="647700" y="19812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B2B"/>
                </a:solidFill>
                <a:latin typeface="Consolas"/>
                <a:ea typeface="Consolas"/>
                <a:cs typeface="Consolas"/>
              </a:defRPr>
            </a:defPPr>
            <a:lvl1pPr algn="l">
              <a:defRPr sz="1875" b="0">
                <a:solidFill>
                  <a:srgbClr val="152B2B"/>
                </a:solidFill>
                <a:latin typeface="Consolas"/>
                <a:ea typeface="Consolas"/>
                <a:cs typeface="Consolas"/>
              </a:defRPr>
            </a:lvl1pPr>
            <a:lvl2pPr algn="l">
              <a:defRPr sz="1875" b="0">
                <a:solidFill>
                  <a:srgbClr val="152B2B"/>
                </a:solidFill>
                <a:latin typeface="Consolas"/>
                <a:ea typeface="Consolas"/>
                <a:cs typeface="Consolas"/>
              </a:defRPr>
            </a:lvl2pPr>
            <a:lvl3pPr algn="l">
              <a:defRPr sz="1875" b="0">
                <a:solidFill>
                  <a:srgbClr val="152B2B"/>
                </a:solidFill>
                <a:latin typeface="Consolas"/>
                <a:ea typeface="Consolas"/>
                <a:cs typeface="Consolas"/>
              </a:defRPr>
            </a:lvl3pPr>
            <a:lvl4pPr algn="l">
              <a:defRPr sz="1875" b="0">
                <a:solidFill>
                  <a:srgbClr val="152B2B"/>
                </a:solidFill>
                <a:latin typeface="Consolas"/>
                <a:ea typeface="Consolas"/>
                <a:cs typeface="Consolas"/>
              </a:defRPr>
            </a:lvl4pPr>
            <a:lvl5pPr algn="l">
              <a:defRPr sz="1875" b="0">
                <a:solidFill>
                  <a:srgbClr val="152B2B"/>
                </a:solidFill>
                <a:latin typeface="Consolas"/>
                <a:ea typeface="Consolas"/>
                <a:cs typeface="Consolas"/>
              </a:defRPr>
            </a:lvl5pPr>
            <a:lvl6pPr algn="l">
              <a:defRPr sz="1875" b="0">
                <a:solidFill>
                  <a:srgbClr val="152B2B"/>
                </a:solidFill>
                <a:latin typeface="Consolas"/>
                <a:ea typeface="Consolas"/>
                <a:cs typeface="Consolas"/>
              </a:defRPr>
            </a:lvl6pPr>
            <a:lvl7pPr algn="l">
              <a:defRPr sz="1875" b="0">
                <a:solidFill>
                  <a:srgbClr val="152B2B"/>
                </a:solidFill>
                <a:latin typeface="Consolas"/>
                <a:ea typeface="Consolas"/>
                <a:cs typeface="Consolas"/>
              </a:defRPr>
            </a:lvl7pPr>
            <a:lvl8pPr algn="l">
              <a:defRPr sz="1875" b="0">
                <a:solidFill>
                  <a:srgbClr val="152B2B"/>
                </a:solidFill>
                <a:latin typeface="Consolas"/>
                <a:ea typeface="Consolas"/>
                <a:cs typeface="Consolas"/>
              </a:defRPr>
            </a:lvl8pPr>
            <a:lvl9pPr algn="l">
              <a:defRPr sz="1875" b="0">
                <a:solidFill>
                  <a:srgbClr val="152B2B"/>
                </a:solidFill>
                <a:latin typeface="Consolas"/>
                <a:ea typeface="Consolas"/>
                <a:cs typeface="Consolas"/>
              </a:defRPr>
            </a:lvl9pPr>
          </a:lstStyle>
          <a:p xmlns:a="http://schemas.openxmlformats.org/drawingml/2006/main">
            <a:pPr algn="l">
              <a:defRPr sz="1875" b="0">
                <a:solidFill>
                  <a:srgbClr val="152B2B"/>
                </a:solidFill>
                <a:latin typeface="Consolas"/>
                <a:ea typeface="Consolas"/>
                <a:cs typeface="Consolas"/>
              </a:defRPr>
            </a:pPr>
            <a:r>
              <a:rPr sz="1875" b="0">
                <a:solidFill>
                  <a:srgbClr val="152B2B"/>
                </a:solidFill>
                <a:latin typeface="Consolas"/>
                <a:ea typeface="Consolas"/>
                <a:cs typeface="Consolas"/>
              </a:rPr>
              <a:t>[Updated Information]</a:t>
            </a:r>
          </a:p>
          <a:p xmlns:a="http://schemas.openxmlformats.org/drawingml/2006/main">
            <a:pPr algn="l">
              <a:defRPr sz="1875" b="0">
                <a:solidFill>
                  <a:srgbClr val="152B2B"/>
                </a:solidFill>
                <a:latin typeface="Consolas"/>
                <a:ea typeface="Consolas"/>
                <a:cs typeface="Consolas"/>
              </a:defRPr>
            </a:pPr>
            <a:r>
              <a:rPr sz="1875" b="0">
                <a:solidFill>
                  <a:srgbClr val="152B2B"/>
                </a:solidFill>
                <a:latin typeface="Consolas"/>
                <a:ea typeface="Consolas"/>
                <a:cs typeface="Consolas"/>
              </a:rPr>
              <a:t>JSON: id, question, answer, scope, source</a:t>
            </a:r>
          </a:p>
          <a:p xmlns:a="http://schemas.openxmlformats.org/drawingml/2006/main">
            <a:r>
              <a:t/>
            </a:r>
          </a:p>
          <a:p xmlns:a="http://schemas.openxmlformats.org/drawingml/2006/main">
            <a:pPr algn="l">
              <a:defRPr sz="1875" b="0">
                <a:solidFill>
                  <a:srgbClr val="152B2B"/>
                </a:solidFill>
                <a:latin typeface="Consolas"/>
                <a:ea typeface="Consolas"/>
                <a:cs typeface="Consolas"/>
              </a:defRPr>
            </a:pPr>
            <a:r>
              <a:rPr sz="1875" b="0">
                <a:solidFill>
                  <a:srgbClr val="152B2B"/>
                </a:solidFill>
                <a:latin typeface="Consolas"/>
                <a:ea typeface="Consolas"/>
                <a:cs typeface="Consolas"/>
              </a:rPr>
              <a:t>[Query]</a:t>
            </a:r>
          </a:p>
          <a:p xmlns:a="http://schemas.openxmlformats.org/drawingml/2006/main">
            <a:pPr algn="l">
              <a:defRPr sz="1875" b="0">
                <a:solidFill>
                  <a:srgbClr val="152B2B"/>
                </a:solidFill>
                <a:latin typeface="Consolas"/>
                <a:ea typeface="Consolas"/>
                <a:cs typeface="Consolas"/>
              </a:defRPr>
            </a:pPr>
            <a:r>
              <a:rPr sz="1875" b="0">
                <a:solidFill>
                  <a:srgbClr val="152B2B"/>
                </a:solidFill>
                <a:latin typeface="Consolas"/>
                <a:ea typeface="Consolas"/>
                <a:cs typeface="Consolas"/>
              </a:rPr>
              <a:t>In which city is the owner team’s</a:t>
            </a:r>
          </a:p>
          <a:p xmlns:a="http://schemas.openxmlformats.org/drawingml/2006/main">
            <a:pPr algn="l">
              <a:defRPr sz="1875" b="0">
                <a:solidFill>
                  <a:srgbClr val="152B2B"/>
                </a:solidFill>
                <a:latin typeface="Consolas"/>
                <a:ea typeface="Consolas"/>
                <a:cs typeface="Consolas"/>
              </a:defRPr>
            </a:pPr>
            <a:r>
              <a:rPr sz="1875" b="0">
                <a:solidFill>
                  <a:srgbClr val="152B2B"/>
                </a:solidFill>
                <a:latin typeface="Consolas"/>
                <a:ea typeface="Consolas"/>
                <a:cs typeface="Consolas"/>
              </a:rPr>
              <a:t>on-call contact’s office?</a:t>
            </a:r>
          </a:p>
        </p:txBody>
      </p:sp>
      <p:sp>
        <p:nvSpPr>
          <p:cNvPr id="5" name="Stored conversation&#10;all prior revisions remain visible">
            <a:extLst xmlns:a="http://schemas.openxmlformats.org/drawingml/2006/main">
              <a:ext uri="{FF2B5EF4-FFF2-40B4-BE49-F238E27FC236}">
                <a16:creationId xmlns:a16="http://schemas.microsoft.com/office/drawing/2014/main" id="{CD936719-5178-4821-8B33-FC00A8FE6416}"/>
              </a:ext>
            </a:extLst>
          </p:cNvPr>
          <p:cNvSpPr>
            <a:spLocks xmlns:a="http://schemas.openxmlformats.org/drawingml/2006/main" noGrp="1"/>
          </p:cNvSpPr>
          <p:nvPr/>
        </p:nvSpPr>
        <p:spPr>
          <a:xfrm xmlns:a="http://schemas.openxmlformats.org/drawingml/2006/main">
            <a:off x="7858125" y="1933575"/>
            <a:ext cx="3686175" cy="8763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Stored conversation</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all prior revisions remain visible</a:t>
            </a:r>
          </a:p>
        </p:txBody>
      </p:sp>
      <p:sp>
        <p:nvSpPr>
          <p:cNvPr id="6" name="Compatible complete pairs&#10;current revision and model only">
            <a:extLst xmlns:a="http://schemas.openxmlformats.org/drawingml/2006/main">
              <a:ext uri="{FF2B5EF4-FFF2-40B4-BE49-F238E27FC236}">
                <a16:creationId xmlns:a16="http://schemas.microsoft.com/office/drawing/2014/main" id="{776C8853-30E3-42E0-BAF8-417A32524728}"/>
              </a:ext>
            </a:extLst>
          </p:cNvPr>
          <p:cNvSpPr>
            <a:spLocks xmlns:a="http://schemas.openxmlformats.org/drawingml/2006/main" noGrp="1"/>
          </p:cNvSpPr>
          <p:nvPr/>
        </p:nvSpPr>
        <p:spPr>
          <a:xfrm xmlns:a="http://schemas.openxmlformats.org/drawingml/2006/main">
            <a:off x="7858125" y="3543300"/>
            <a:ext cx="3686175" cy="876300"/>
          </a:xfrm>
          <a:prstGeom xmlns:a="http://schemas.openxmlformats.org/drawingml/2006/main" prst="rect">
            <a:avLst/>
          </a:prstGeom>
          <a:solidFill xmlns:a="http://schemas.openxmlformats.org/drawingml/2006/main">
            <a:srgbClr val="E5EEEB"/>
          </a:solidFill>
          <a:ln xmlns:a="http://schemas.openxmlformats.org/drawingml/2006/main" w="11430">
            <a:solidFill>
              <a:srgbClr val="D8E1DE"/>
            </a:solidFill>
          </a:ln>
        </p:spPr>
        <p:txBody>
          <a:bodyPr xmlns:a="http://schemas.openxmlformats.org/drawingml/2006/main" wrap="square" lIns="133350" tIns="133350" rIns="133350" bIns="133350" anchor="ctr"/>
          <a:lstStyle xmlns:a="http://schemas.openxmlformats.org/drawingml/2006/main">
            <a:defPPr algn="ctr">
              <a:defRPr sz="1875" b="0">
                <a:solidFill>
                  <a:srgbClr val="152B2B"/>
                </a:solidFill>
                <a:latin typeface="Calibri"/>
                <a:ea typeface="Calibri"/>
                <a:cs typeface="Calibri"/>
              </a:defRPr>
            </a:defPPr>
            <a:lvl1pPr algn="ctr">
              <a:defRPr sz="1875" b="0">
                <a:solidFill>
                  <a:srgbClr val="152B2B"/>
                </a:solidFill>
                <a:latin typeface="Calibri"/>
                <a:ea typeface="Calibri"/>
                <a:cs typeface="Calibri"/>
              </a:defRPr>
            </a:lvl1pPr>
            <a:lvl2pPr algn="ctr">
              <a:defRPr sz="1875" b="0">
                <a:solidFill>
                  <a:srgbClr val="152B2B"/>
                </a:solidFill>
                <a:latin typeface="Calibri"/>
                <a:ea typeface="Calibri"/>
                <a:cs typeface="Calibri"/>
              </a:defRPr>
            </a:lvl2pPr>
            <a:lvl3pPr algn="ctr">
              <a:defRPr sz="1875" b="0">
                <a:solidFill>
                  <a:srgbClr val="152B2B"/>
                </a:solidFill>
                <a:latin typeface="Calibri"/>
                <a:ea typeface="Calibri"/>
                <a:cs typeface="Calibri"/>
              </a:defRPr>
            </a:lvl3pPr>
            <a:lvl4pPr algn="ctr">
              <a:defRPr sz="1875" b="0">
                <a:solidFill>
                  <a:srgbClr val="152B2B"/>
                </a:solidFill>
                <a:latin typeface="Calibri"/>
                <a:ea typeface="Calibri"/>
                <a:cs typeface="Calibri"/>
              </a:defRPr>
            </a:lvl4pPr>
            <a:lvl5pPr algn="ctr">
              <a:defRPr sz="1875" b="0">
                <a:solidFill>
                  <a:srgbClr val="152B2B"/>
                </a:solidFill>
                <a:latin typeface="Calibri"/>
                <a:ea typeface="Calibri"/>
                <a:cs typeface="Calibri"/>
              </a:defRPr>
            </a:lvl5pPr>
            <a:lvl6pPr algn="ctr">
              <a:defRPr sz="1875" b="0">
                <a:solidFill>
                  <a:srgbClr val="152B2B"/>
                </a:solidFill>
                <a:latin typeface="Calibri"/>
                <a:ea typeface="Calibri"/>
                <a:cs typeface="Calibri"/>
              </a:defRPr>
            </a:lvl6pPr>
            <a:lvl7pPr algn="ctr">
              <a:defRPr sz="1875" b="0">
                <a:solidFill>
                  <a:srgbClr val="152B2B"/>
                </a:solidFill>
                <a:latin typeface="Calibri"/>
                <a:ea typeface="Calibri"/>
                <a:cs typeface="Calibri"/>
              </a:defRPr>
            </a:lvl7pPr>
            <a:lvl8pPr algn="ctr">
              <a:defRPr sz="1875" b="0">
                <a:solidFill>
                  <a:srgbClr val="152B2B"/>
                </a:solidFill>
                <a:latin typeface="Calibri"/>
                <a:ea typeface="Calibri"/>
                <a:cs typeface="Calibri"/>
              </a:defRPr>
            </a:lvl8pPr>
            <a:lvl9pPr algn="ctr">
              <a:defRPr sz="1875" b="0">
                <a:solidFill>
                  <a:srgbClr val="152B2B"/>
                </a:solidFill>
                <a:latin typeface="Calibri"/>
                <a:ea typeface="Calibri"/>
                <a:cs typeface="Calibri"/>
              </a:defRPr>
            </a:lvl9pPr>
          </a:lstStyle>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Compatible complete pairs</a:t>
            </a:r>
          </a:p>
          <a:p xmlns:a="http://schemas.openxmlformats.org/drawingml/2006/main">
            <a:pPr algn="ctr">
              <a:defRPr sz="1875" b="0">
                <a:solidFill>
                  <a:srgbClr val="152B2B"/>
                </a:solidFill>
                <a:latin typeface="Calibri"/>
                <a:ea typeface="Calibri"/>
                <a:cs typeface="Calibri"/>
              </a:defRPr>
            </a:pPr>
            <a:r>
              <a:rPr sz="1875" b="0">
                <a:solidFill>
                  <a:srgbClr val="152B2B"/>
                </a:solidFill>
                <a:latin typeface="Calibri"/>
                <a:ea typeface="Calibri"/>
                <a:cs typeface="Calibri"/>
              </a:rPr>
              <a:t>current revision and model only</a:t>
            </a:r>
          </a:p>
        </p:txBody>
      </p:sp>
      <p:sp>
        <p:nvSpPr>
          <p:cNvPr id="8" name="Matched historical comparison">
            <a:extLst xmlns:a="http://schemas.openxmlformats.org/drawingml/2006/main">
              <a:ext uri="{FF2B5EF4-FFF2-40B4-BE49-F238E27FC236}">
                <a16:creationId xmlns:a16="http://schemas.microsoft.com/office/drawing/2014/main" id="{17FB03E2-09CC-4B55-8AD8-752819E0B52D}"/>
              </a:ext>
            </a:extLst>
          </p:cNvPr>
          <p:cNvSpPr>
            <a:spLocks xmlns:a="http://schemas.openxmlformats.org/drawingml/2006/main" noGrp="1"/>
          </p:cNvSpPr>
          <p:nvPr/>
        </p:nvSpPr>
        <p:spPr>
          <a:xfrm xmlns:a="http://schemas.openxmlformats.org/drawingml/2006/main">
            <a:off x="647700" y="45720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Matched historical comparison</a:t>
            </a:r>
          </a:p>
        </p:txBody>
      </p:sp>
      <p:sp>
        <p:nvSpPr>
          <p:cNvPr id="9" name="Replay approved memory at the requested revision.&#10;Generate both sides ">
            <a:extLst xmlns:a="http://schemas.openxmlformats.org/drawingml/2006/main">
              <a:ext uri="{FF2B5EF4-FFF2-40B4-BE49-F238E27FC236}">
                <a16:creationId xmlns:a16="http://schemas.microsoft.com/office/drawing/2014/main" id="{EAD23FA8-0C9B-4481-B099-D0B56EDEB2D3}"/>
              </a:ext>
            </a:extLst>
          </p:cNvPr>
          <p:cNvSpPr>
            <a:spLocks xmlns:a="http://schemas.openxmlformats.org/drawingml/2006/main" noGrp="1"/>
          </p:cNvSpPr>
          <p:nvPr/>
        </p:nvSpPr>
        <p:spPr>
          <a:xfrm xmlns:a="http://schemas.openxmlformats.org/drawingml/2006/main">
            <a:off x="647700" y="5143500"/>
            <a:ext cx="10715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B2B"/>
                </a:solidFill>
                <a:latin typeface="Calibri"/>
                <a:ea typeface="Calibri"/>
                <a:cs typeface="Calibri"/>
              </a:defRPr>
            </a:defPPr>
            <a:lvl1pPr algn="l">
              <a:defRPr sz="2025" b="0">
                <a:solidFill>
                  <a:srgbClr val="152B2B"/>
                </a:solidFill>
                <a:latin typeface="Calibri"/>
                <a:ea typeface="Calibri"/>
                <a:cs typeface="Calibri"/>
              </a:defRPr>
            </a:lvl1pPr>
            <a:lvl2pPr algn="l">
              <a:defRPr sz="2025" b="0">
                <a:solidFill>
                  <a:srgbClr val="152B2B"/>
                </a:solidFill>
                <a:latin typeface="Calibri"/>
                <a:ea typeface="Calibri"/>
                <a:cs typeface="Calibri"/>
              </a:defRPr>
            </a:lvl2pPr>
            <a:lvl3pPr algn="l">
              <a:defRPr sz="2025" b="0">
                <a:solidFill>
                  <a:srgbClr val="152B2B"/>
                </a:solidFill>
                <a:latin typeface="Calibri"/>
                <a:ea typeface="Calibri"/>
                <a:cs typeface="Calibri"/>
              </a:defRPr>
            </a:lvl3pPr>
            <a:lvl4pPr algn="l">
              <a:defRPr sz="2025" b="0">
                <a:solidFill>
                  <a:srgbClr val="152B2B"/>
                </a:solidFill>
                <a:latin typeface="Calibri"/>
                <a:ea typeface="Calibri"/>
                <a:cs typeface="Calibri"/>
              </a:defRPr>
            </a:lvl4pPr>
            <a:lvl5pPr algn="l">
              <a:defRPr sz="2025" b="0">
                <a:solidFill>
                  <a:srgbClr val="152B2B"/>
                </a:solidFill>
                <a:latin typeface="Calibri"/>
                <a:ea typeface="Calibri"/>
                <a:cs typeface="Calibri"/>
              </a:defRPr>
            </a:lvl5pPr>
            <a:lvl6pPr algn="l">
              <a:defRPr sz="2025" b="0">
                <a:solidFill>
                  <a:srgbClr val="152B2B"/>
                </a:solidFill>
                <a:latin typeface="Calibri"/>
                <a:ea typeface="Calibri"/>
                <a:cs typeface="Calibri"/>
              </a:defRPr>
            </a:lvl6pPr>
            <a:lvl7pPr algn="l">
              <a:defRPr sz="2025" b="0">
                <a:solidFill>
                  <a:srgbClr val="152B2B"/>
                </a:solidFill>
                <a:latin typeface="Calibri"/>
                <a:ea typeface="Calibri"/>
                <a:cs typeface="Calibri"/>
              </a:defRPr>
            </a:lvl7pPr>
            <a:lvl8pPr algn="l">
              <a:defRPr sz="2025" b="0">
                <a:solidFill>
                  <a:srgbClr val="152B2B"/>
                </a:solidFill>
                <a:latin typeface="Calibri"/>
                <a:ea typeface="Calibri"/>
                <a:cs typeface="Calibri"/>
              </a:defRPr>
            </a:lvl8pPr>
            <a:lvl9pPr algn="l">
              <a:defRPr sz="2025" b="0">
                <a:solidFill>
                  <a:srgbClr val="152B2B"/>
                </a:solidFill>
                <a:latin typeface="Calibri"/>
                <a:ea typeface="Calibri"/>
                <a:cs typeface="Calibri"/>
              </a:defRPr>
            </a:lvl9pPr>
          </a:lstStyle>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Replay approved memory at the requested revision.</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Generate both sides with the same pre-question history.</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Exclude correction-conditioned pairs from both sides.</a:t>
            </a:r>
          </a:p>
        </p:txBody>
      </p:sp>
      <p:sp>
        <p:nvSpPr>
          <p:cNvPr id="10" name="At most eight history messages and 6,000 characters. A comparison gene">
            <a:extLst xmlns:a="http://schemas.openxmlformats.org/drawingml/2006/main">
              <a:ext uri="{FF2B5EF4-FFF2-40B4-BE49-F238E27FC236}">
                <a16:creationId xmlns:a16="http://schemas.microsoft.com/office/drawing/2014/main" id="{969B7D50-9C32-424A-B69D-50EC821505A1}"/>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At most eight history messages and 6,000 characters. A comparison generates new answers and does not rewrite stored turns.</a:t>
            </a:r>
          </a:p>
        </p:txBody>
      </p:sp>
    </p:spTree>
    <p:extLst>
      <p:ext uri="{BB962C8B-B14F-4D97-AF65-F5344CB8AC3E}">
        <p14:creationId xmlns:p14="http://schemas.microsoft.com/office/powerpoint/2010/main" val="1302092038"/>
      </p:ext>
    </p:extLst>
  </p:cSld>
</p:sld>
</file>

<file path=ppt/slides/slide1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Frozen model worker and answer evidence">
            <a:extLst xmlns:a="http://schemas.openxmlformats.org/drawingml/2006/main">
              <a:ext uri="{FF2B5EF4-FFF2-40B4-BE49-F238E27FC236}">
                <a16:creationId xmlns:a16="http://schemas.microsoft.com/office/drawing/2014/main" id="{FA77B944-0174-46C4-B7A5-077FEE64988D}"/>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Frozen model worker and answer evidence</a:t>
            </a:r>
          </a:p>
        </p:txBody>
      </p:sp>
      <p:sp>
        <p:nvSpPr>
          <p:cNvPr id="2" name="Exact checkpoint IDs and revisions stay pinned. Corrections change mem">
            <a:extLst xmlns:a="http://schemas.openxmlformats.org/drawingml/2006/main">
              <a:ext uri="{FF2B5EF4-FFF2-40B4-BE49-F238E27FC236}">
                <a16:creationId xmlns:a16="http://schemas.microsoft.com/office/drawing/2014/main" id="{836CAE03-1CFE-4A72-BBDE-719B6A988ED5}"/>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Exact checkpoint IDs and revisions stay pinned. Corrections change memory, not weights.</a:t>
            </a:r>
          </a:p>
        </p:txBody>
      </p:sp>
      <p:sp>
        <p:nvSpPr>
          <p:cNvPr id="3" name="14">
            <a:extLst xmlns:a="http://schemas.openxmlformats.org/drawingml/2006/main">
              <a:ext uri="{FF2B5EF4-FFF2-40B4-BE49-F238E27FC236}">
                <a16:creationId xmlns:a16="http://schemas.microsoft.com/office/drawing/2014/main" id="{F30FD0BE-2BCD-4AE2-AAD0-9F1DB33E563E}"/>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DA4F88F5-F8D7-4443-B498-EB742795606C}"/>
              </a:ext>
            </a:extLst>
          </p:cNvPr>
          <p:cNvGraphicFramePr/>
          <p:nvPr/>
        </p:nvGraphicFramePr>
        <p:xfrm>
          <a:off xmlns:a="http://schemas.openxmlformats.org/drawingml/2006/main" x="628650" y="1828800"/>
          <a:ext xmlns:a="http://schemas.openxmlformats.org/drawingml/2006/main" cx="6572250" cy="3981450"/>
        </p:xfrm>
        <a:graphic xmlns:a="http://schemas.openxmlformats.org/drawingml/2006/main">
          <a:graphicData uri="http://schemas.openxmlformats.org/drawingml/2006/table">
            <a:tbl>
              <a:tblPr/>
              <a:tblGrid>
                <a:gridCol w="2857500"/>
                <a:gridCol w="3714750"/>
              </a:tblGrid>
              <a:tr h="568779">
                <a:tc>
                  <a:txBody>
                    <a:bodyPr lIns="95250" tIns="95250" rIns="95250" bIns="95250"/>
                    <a:lstStyle/>
                    <a:p>
                      <a:r>
                        <a:rPr sz="1725" b="1">
                          <a:solidFill>
                            <a:srgbClr val="152B2B"/>
                          </a:solidFill>
                          <a:latin typeface="Calibri"/>
                          <a:ea typeface="Calibri"/>
                          <a:cs typeface="Calibri"/>
                        </a:rPr>
                        <a:t>Worker setting</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725" b="1">
                          <a:solidFill>
                            <a:srgbClr val="152B2B"/>
                          </a:solidFill>
                          <a:latin typeface="Calibri"/>
                          <a:ea typeface="Calibri"/>
                          <a:cs typeface="Calibri"/>
                        </a:rPr>
                        <a:t>Measured deployment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68779">
                <a:tc>
                  <a:txBody>
                    <a:bodyPr lIns="95250" tIns="95250" rIns="95250" bIns="95250"/>
                    <a:lstStyle/>
                    <a:p>
                      <a:r>
                        <a:rPr sz="1725" b="0">
                          <a:solidFill>
                            <a:srgbClr val="152B2B"/>
                          </a:solidFill>
                          <a:latin typeface="Calibri"/>
                          <a:ea typeface="Calibri"/>
                          <a:cs typeface="Calibri"/>
                        </a:rPr>
                        <a:t>Parameters per checkpoint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7,615,616,512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8779">
                <a:tc>
                  <a:txBody>
                    <a:bodyPr lIns="95250" tIns="95250" rIns="95250" bIns="95250"/>
                    <a:lstStyle/>
                    <a:p>
                      <a:r>
                        <a:rPr sz="1725" b="0">
                          <a:solidFill>
                            <a:srgbClr val="152B2B"/>
                          </a:solidFill>
                          <a:latin typeface="Calibri"/>
                          <a:ea typeface="Calibri"/>
                          <a:cs typeface="Calibri"/>
                        </a:rPr>
                        <a:t>Weight storage / compute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NF4 double quantization / FP16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8779">
                <a:tc>
                  <a:txBody>
                    <a:bodyPr lIns="95250" tIns="95250" rIns="95250" bIns="95250"/>
                    <a:lstStyle/>
                    <a:p>
                      <a:r>
                        <a:rPr sz="1725" b="0">
                          <a:solidFill>
                            <a:srgbClr val="152B2B"/>
                          </a:solidFill>
                          <a:latin typeface="Calibri"/>
                          <a:ea typeface="Calibri"/>
                          <a:cs typeface="Calibri"/>
                        </a:rPr>
                        <a:t>Attention / decoding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SDPA / greedy, one beam</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8779">
                <a:tc>
                  <a:txBody>
                    <a:bodyPr lIns="95250" tIns="95250" rIns="95250" bIns="95250"/>
                    <a:lstStyle/>
                    <a:p>
                      <a:r>
                        <a:rPr sz="1725" b="0">
                          <a:solidFill>
                            <a:srgbClr val="152B2B"/>
                          </a:solidFill>
                          <a:latin typeface="Calibri"/>
                          <a:ea typeface="Calibri"/>
                          <a:cs typeface="Calibri"/>
                        </a:rPr>
                        <a:t>Input / output ceiling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4,096 / 512 tokens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8779">
                <a:tc>
                  <a:txBody>
                    <a:bodyPr lIns="95250" tIns="95250" rIns="95250" bIns="95250"/>
                    <a:lstStyle/>
                    <a:p>
                      <a:r>
                        <a:rPr sz="1725" b="0">
                          <a:solidFill>
                            <a:srgbClr val="152B2B"/>
                          </a:solidFill>
                          <a:latin typeface="Calibri"/>
                          <a:ea typeface="Calibri"/>
                          <a:cs typeface="Calibri"/>
                        </a:rPr>
                        <a:t>Device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T4, one loaded model at a time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8779">
                <a:tc>
                  <a:txBody>
                    <a:bodyPr lIns="95250" tIns="95250" rIns="95250" bIns="95250"/>
                    <a:lstStyle/>
                    <a:p>
                      <a:r>
                        <a:rPr sz="1725" b="0">
                          <a:solidFill>
                            <a:srgbClr val="152B2B"/>
                          </a:solidFill>
                          <a:latin typeface="Calibri"/>
                          <a:ea typeface="Calibri"/>
                          <a:cs typeface="Calibri"/>
                        </a:rPr>
                        <a:t>Load peak allocated CUDA</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6.59 GiB</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Answer extraction">
            <a:extLst xmlns:a="http://schemas.openxmlformats.org/drawingml/2006/main">
              <a:ext uri="{FF2B5EF4-FFF2-40B4-BE49-F238E27FC236}">
                <a16:creationId xmlns:a16="http://schemas.microsoft.com/office/drawing/2014/main" id="{01C466B2-8F8C-45CE-AFAF-E213DA32075E}"/>
              </a:ext>
            </a:extLst>
          </p:cNvPr>
          <p:cNvSpPr>
            <a:spLocks xmlns:a="http://schemas.openxmlformats.org/drawingml/2006/main" noGrp="1"/>
          </p:cNvSpPr>
          <p:nvPr/>
        </p:nvSpPr>
        <p:spPr>
          <a:xfrm xmlns:a="http://schemas.openxmlformats.org/drawingml/2006/main">
            <a:off x="7772400" y="1876425"/>
            <a:ext cx="379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Answer extraction</a:t>
            </a:r>
          </a:p>
        </p:txBody>
      </p:sp>
      <p:sp>
        <p:nvSpPr>
          <p:cNvPr id="6" name="&lt;think&gt; ... &lt;/think&gt;&#10;&lt;answer&gt;Hyderabad&lt;/answer&gt;">
            <a:extLst xmlns:a="http://schemas.openxmlformats.org/drawingml/2006/main">
              <a:ext uri="{FF2B5EF4-FFF2-40B4-BE49-F238E27FC236}">
                <a16:creationId xmlns:a16="http://schemas.microsoft.com/office/drawing/2014/main" id="{10F63240-C88F-48F8-ACC3-0DE7C895D251}"/>
              </a:ext>
            </a:extLst>
          </p:cNvPr>
          <p:cNvSpPr>
            <a:spLocks xmlns:a="http://schemas.openxmlformats.org/drawingml/2006/main" noGrp="1"/>
          </p:cNvSpPr>
          <p:nvPr/>
        </p:nvSpPr>
        <p:spPr>
          <a:xfrm xmlns:a="http://schemas.openxmlformats.org/drawingml/2006/main">
            <a:off x="7772400" y="2495550"/>
            <a:ext cx="3790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52B2B"/>
                </a:solidFill>
                <a:latin typeface="Consolas"/>
                <a:ea typeface="Consolas"/>
                <a:cs typeface="Consolas"/>
              </a:defRPr>
            </a:defPPr>
            <a:lvl1pPr algn="l">
              <a:defRPr sz="1800" b="0">
                <a:solidFill>
                  <a:srgbClr val="152B2B"/>
                </a:solidFill>
                <a:latin typeface="Consolas"/>
                <a:ea typeface="Consolas"/>
                <a:cs typeface="Consolas"/>
              </a:defRPr>
            </a:lvl1pPr>
            <a:lvl2pPr algn="l">
              <a:defRPr sz="1800" b="0">
                <a:solidFill>
                  <a:srgbClr val="152B2B"/>
                </a:solidFill>
                <a:latin typeface="Consolas"/>
                <a:ea typeface="Consolas"/>
                <a:cs typeface="Consolas"/>
              </a:defRPr>
            </a:lvl2pPr>
            <a:lvl3pPr algn="l">
              <a:defRPr sz="1800" b="0">
                <a:solidFill>
                  <a:srgbClr val="152B2B"/>
                </a:solidFill>
                <a:latin typeface="Consolas"/>
                <a:ea typeface="Consolas"/>
                <a:cs typeface="Consolas"/>
              </a:defRPr>
            </a:lvl3pPr>
            <a:lvl4pPr algn="l">
              <a:defRPr sz="1800" b="0">
                <a:solidFill>
                  <a:srgbClr val="152B2B"/>
                </a:solidFill>
                <a:latin typeface="Consolas"/>
                <a:ea typeface="Consolas"/>
                <a:cs typeface="Consolas"/>
              </a:defRPr>
            </a:lvl4pPr>
            <a:lvl5pPr algn="l">
              <a:defRPr sz="1800" b="0">
                <a:solidFill>
                  <a:srgbClr val="152B2B"/>
                </a:solidFill>
                <a:latin typeface="Consolas"/>
                <a:ea typeface="Consolas"/>
                <a:cs typeface="Consolas"/>
              </a:defRPr>
            </a:lvl5pPr>
            <a:lvl6pPr algn="l">
              <a:defRPr sz="1800" b="0">
                <a:solidFill>
                  <a:srgbClr val="152B2B"/>
                </a:solidFill>
                <a:latin typeface="Consolas"/>
                <a:ea typeface="Consolas"/>
                <a:cs typeface="Consolas"/>
              </a:defRPr>
            </a:lvl6pPr>
            <a:lvl7pPr algn="l">
              <a:defRPr sz="1800" b="0">
                <a:solidFill>
                  <a:srgbClr val="152B2B"/>
                </a:solidFill>
                <a:latin typeface="Consolas"/>
                <a:ea typeface="Consolas"/>
                <a:cs typeface="Consolas"/>
              </a:defRPr>
            </a:lvl7pPr>
            <a:lvl8pPr algn="l">
              <a:defRPr sz="1800" b="0">
                <a:solidFill>
                  <a:srgbClr val="152B2B"/>
                </a:solidFill>
                <a:latin typeface="Consolas"/>
                <a:ea typeface="Consolas"/>
                <a:cs typeface="Consolas"/>
              </a:defRPr>
            </a:lvl8pPr>
            <a:lvl9pPr algn="l">
              <a:defRPr sz="1800" b="0">
                <a:solidFill>
                  <a:srgbClr val="152B2B"/>
                </a:solidFill>
                <a:latin typeface="Consolas"/>
                <a:ea typeface="Consolas"/>
                <a:cs typeface="Consolas"/>
              </a:defRPr>
            </a:lvl9pPr>
          </a:lstStyle>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&lt;think&gt; ... &lt;/think&gt;</a:t>
            </a:r>
          </a:p>
          <a:p xmlns:a="http://schemas.openxmlformats.org/drawingml/2006/main">
            <a:pPr algn="l">
              <a:defRPr sz="1800" b="0">
                <a:solidFill>
                  <a:srgbClr val="152B2B"/>
                </a:solidFill>
                <a:latin typeface="Consolas"/>
                <a:ea typeface="Consolas"/>
                <a:cs typeface="Consolas"/>
              </a:defRPr>
            </a:pPr>
            <a:r>
              <a:rPr sz="1800" b="0">
                <a:solidFill>
                  <a:srgbClr val="152B2B"/>
                </a:solidFill>
                <a:latin typeface="Consolas"/>
                <a:ea typeface="Consolas"/>
                <a:cs typeface="Consolas"/>
              </a:rPr>
              <a:t>&lt;answer&gt;Hyderabad&lt;/answer&gt;</a:t>
            </a:r>
          </a:p>
        </p:txBody>
      </p:sp>
      <p:sp>
        <p:nvSpPr>
          <p:cNvPr id="7" name="One nonempty answer block:&#10;extract the final span.&#10;&#10;Otherwise disclose">
            <a:extLst xmlns:a="http://schemas.openxmlformats.org/drawingml/2006/main">
              <a:ext uri="{FF2B5EF4-FFF2-40B4-BE49-F238E27FC236}">
                <a16:creationId xmlns:a16="http://schemas.microsoft.com/office/drawing/2014/main" id="{456D676A-744D-43CB-900C-9954ECFDA555}"/>
              </a:ext>
            </a:extLst>
          </p:cNvPr>
          <p:cNvSpPr>
            <a:spLocks xmlns:a="http://schemas.openxmlformats.org/drawingml/2006/main" noGrp="1"/>
          </p:cNvSpPr>
          <p:nvPr/>
        </p:nvSpPr>
        <p:spPr>
          <a:xfrm xmlns:a="http://schemas.openxmlformats.org/drawingml/2006/main">
            <a:off x="7772400" y="3743325"/>
            <a:ext cx="37909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B2B"/>
                </a:solidFill>
                <a:latin typeface="Calibri"/>
                <a:ea typeface="Calibri"/>
                <a:cs typeface="Calibri"/>
              </a:defRPr>
            </a:defPPr>
            <a:lvl1pPr algn="l">
              <a:defRPr sz="1875" b="0">
                <a:solidFill>
                  <a:srgbClr val="152B2B"/>
                </a:solidFill>
                <a:latin typeface="Calibri"/>
                <a:ea typeface="Calibri"/>
                <a:cs typeface="Calibri"/>
              </a:defRPr>
            </a:lvl1pPr>
            <a:lvl2pPr algn="l">
              <a:defRPr sz="1875" b="0">
                <a:solidFill>
                  <a:srgbClr val="152B2B"/>
                </a:solidFill>
                <a:latin typeface="Calibri"/>
                <a:ea typeface="Calibri"/>
                <a:cs typeface="Calibri"/>
              </a:defRPr>
            </a:lvl2pPr>
            <a:lvl3pPr algn="l">
              <a:defRPr sz="1875" b="0">
                <a:solidFill>
                  <a:srgbClr val="152B2B"/>
                </a:solidFill>
                <a:latin typeface="Calibri"/>
                <a:ea typeface="Calibri"/>
                <a:cs typeface="Calibri"/>
              </a:defRPr>
            </a:lvl3pPr>
            <a:lvl4pPr algn="l">
              <a:defRPr sz="1875" b="0">
                <a:solidFill>
                  <a:srgbClr val="152B2B"/>
                </a:solidFill>
                <a:latin typeface="Calibri"/>
                <a:ea typeface="Calibri"/>
                <a:cs typeface="Calibri"/>
              </a:defRPr>
            </a:lvl4pPr>
            <a:lvl5pPr algn="l">
              <a:defRPr sz="1875" b="0">
                <a:solidFill>
                  <a:srgbClr val="152B2B"/>
                </a:solidFill>
                <a:latin typeface="Calibri"/>
                <a:ea typeface="Calibri"/>
                <a:cs typeface="Calibri"/>
              </a:defRPr>
            </a:lvl5pPr>
            <a:lvl6pPr algn="l">
              <a:defRPr sz="1875" b="0">
                <a:solidFill>
                  <a:srgbClr val="152B2B"/>
                </a:solidFill>
                <a:latin typeface="Calibri"/>
                <a:ea typeface="Calibri"/>
                <a:cs typeface="Calibri"/>
              </a:defRPr>
            </a:lvl6pPr>
            <a:lvl7pPr algn="l">
              <a:defRPr sz="1875" b="0">
                <a:solidFill>
                  <a:srgbClr val="152B2B"/>
                </a:solidFill>
                <a:latin typeface="Calibri"/>
                <a:ea typeface="Calibri"/>
                <a:cs typeface="Calibri"/>
              </a:defRPr>
            </a:lvl7pPr>
            <a:lvl8pPr algn="l">
              <a:defRPr sz="1875" b="0">
                <a:solidFill>
                  <a:srgbClr val="152B2B"/>
                </a:solidFill>
                <a:latin typeface="Calibri"/>
                <a:ea typeface="Calibri"/>
                <a:cs typeface="Calibri"/>
              </a:defRPr>
            </a:lvl8pPr>
            <a:lvl9pPr algn="l">
              <a:defRPr sz="1875" b="0">
                <a:solidFill>
                  <a:srgbClr val="152B2B"/>
                </a:solidFill>
                <a:latin typeface="Calibri"/>
                <a:ea typeface="Calibri"/>
                <a:cs typeface="Calibri"/>
              </a:defRPr>
            </a:lvl9pPr>
          </a:lstStyle>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One nonempty answer block:</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extract the final span.</a:t>
            </a:r>
          </a:p>
          <a:p xmlns:a="http://schemas.openxmlformats.org/drawingml/2006/main">
            <a:r>
              <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Otherwise disclose raw fallback.</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Persist raw output, sources,</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revision, tokens and latency.</a:t>
            </a:r>
          </a:p>
        </p:txBody>
      </p:sp>
      <p:sp>
        <p:nvSpPr>
          <p:cNvPr id="8" name="Measured on T4. CUDA allocation excludes other device usage. Extractio">
            <a:extLst xmlns:a="http://schemas.openxmlformats.org/drawingml/2006/main">
              <a:ext uri="{FF2B5EF4-FFF2-40B4-BE49-F238E27FC236}">
                <a16:creationId xmlns:a16="http://schemas.microsoft.com/office/drawing/2014/main" id="{B0E806D3-1580-4A18-B987-784E21C5A5E4}"/>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Measured on T4. CUDA allocation excludes other device usage. Extraction preserves raw output and format flags.</a:t>
            </a:r>
          </a:p>
        </p:txBody>
      </p:sp>
    </p:spTree>
    <p:extLst>
      <p:ext uri="{BB962C8B-B14F-4D97-AF65-F5344CB8AC3E}">
        <p14:creationId xmlns:p14="http://schemas.microsoft.com/office/powerpoint/2010/main" val="352132827"/>
      </p:ext>
    </p:extLst>
  </p:cSld>
</p:sld>
</file>

<file path=ppt/slides/slide1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6" name="Fact worlds, lineages and split control">
            <a:extLst xmlns:a="http://schemas.openxmlformats.org/drawingml/2006/main">
              <a:ext uri="{FF2B5EF4-FFF2-40B4-BE49-F238E27FC236}">
                <a16:creationId xmlns:a16="http://schemas.microsoft.com/office/drawing/2014/main" id="{D0AA6E51-CC0D-4ECC-BEA0-D69D9F85F2C5}"/>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Fact worlds, lineages and split control</a:t>
            </a:r>
          </a:p>
        </p:txBody>
      </p:sp>
      <p:sp>
        <p:nvSpPr>
          <p:cNvPr id="2" name="Split edit lineages before augmenting related questions.">
            <a:extLst xmlns:a="http://schemas.openxmlformats.org/drawingml/2006/main">
              <a:ext uri="{FF2B5EF4-FFF2-40B4-BE49-F238E27FC236}">
                <a16:creationId xmlns:a16="http://schemas.microsoft.com/office/drawing/2014/main" id="{D182157C-5894-4BB2-9F59-CD4DDD623031}"/>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Split edit lineages before augmenting related questions.</a:t>
            </a:r>
          </a:p>
        </p:txBody>
      </p:sp>
      <p:sp>
        <p:nvSpPr>
          <p:cNvPr id="3" name="15">
            <a:extLst xmlns:a="http://schemas.openxmlformats.org/drawingml/2006/main">
              <a:ext uri="{FF2B5EF4-FFF2-40B4-BE49-F238E27FC236}">
                <a16:creationId xmlns:a16="http://schemas.microsoft.com/office/drawing/2014/main" id="{496DA0CD-1BFA-457C-BD27-135BBA82DC4B}"/>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A553C8C2-DFA5-4F29-A943-E638443BF041}"/>
              </a:ext>
            </a:extLst>
          </p:cNvPr>
          <p:cNvGraphicFramePr/>
          <p:nvPr/>
        </p:nvGraphicFramePr>
        <p:xfrm>
          <a:off xmlns:a="http://schemas.openxmlformats.org/drawingml/2006/main" x="628650" y="1838325"/>
          <a:ext xmlns:a="http://schemas.openxmlformats.org/drawingml/2006/main" cx="10906125" cy="3838575"/>
        </p:xfrm>
        <a:graphic xmlns:a="http://schemas.openxmlformats.org/drawingml/2006/main">
          <a:graphicData uri="http://schemas.openxmlformats.org/drawingml/2006/table">
            <a:tbl>
              <a:tblPr/>
              <a:tblGrid>
                <a:gridCol w="4619625"/>
                <a:gridCol w="3143250"/>
                <a:gridCol w="3143250"/>
              </a:tblGrid>
              <a:tr h="548368">
                <a:tc>
                  <a:txBody>
                    <a:bodyPr lIns="95250" tIns="95250" rIns="95250" bIns="95250"/>
                    <a:lstStyle/>
                    <a:p>
                      <a:r>
                        <a:rPr sz="1800" b="1">
                          <a:solidFill>
                            <a:srgbClr val="152B2B"/>
                          </a:solidFill>
                          <a:latin typeface="Calibri"/>
                          <a:ea typeface="Calibri"/>
                          <a:cs typeface="Calibri"/>
                        </a:rPr>
                        <a:t>Dataset property</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Operations study</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Depth challenge</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48368">
                <a:tc>
                  <a:txBody>
                    <a:bodyPr lIns="95250" tIns="95250" rIns="95250" bIns="95250"/>
                    <a:lstStyle/>
                    <a:p>
                      <a:r>
                        <a:rPr sz="1800" b="0">
                          <a:solidFill>
                            <a:srgbClr val="152B2B"/>
                          </a:solidFill>
                          <a:latin typeface="Calibri"/>
                          <a:ea typeface="Calibri"/>
                          <a:cs typeface="Calibri"/>
                        </a:rPr>
                        <a:t>Authored fact worlds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48</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48</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8368">
                <a:tc>
                  <a:txBody>
                    <a:bodyPr lIns="95250" tIns="95250" rIns="95250" bIns="95250"/>
                    <a:lstStyle/>
                    <a:p>
                      <a:r>
                        <a:rPr sz="1800" b="0">
                          <a:solidFill>
                            <a:srgbClr val="152B2B"/>
                          </a:solidFill>
                          <a:latin typeface="Calibri"/>
                          <a:ea typeface="Calibri"/>
                          <a:cs typeface="Calibri"/>
                        </a:rPr>
                        <a:t>Development / final lineages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8368">
                <a:tc>
                  <a:txBody>
                    <a:bodyPr lIns="95250" tIns="95250" rIns="95250" bIns="95250"/>
                    <a:lstStyle/>
                    <a:p>
                      <a:r>
                        <a:rPr sz="1800" b="0">
                          <a:solidFill>
                            <a:srgbClr val="152B2B"/>
                          </a:solidFill>
                          <a:latin typeface="Calibri"/>
                          <a:ea typeface="Calibri"/>
                          <a:cs typeface="Calibri"/>
                        </a:rPr>
                        <a:t>Development / final questions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128 / 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128 / 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8368">
                <a:tc>
                  <a:txBody>
                    <a:bodyPr lIns="95250" tIns="95250" rIns="95250" bIns="95250"/>
                    <a:lstStyle/>
                    <a:p>
                      <a:r>
                        <a:rPr sz="1800" b="0">
                          <a:solidFill>
                            <a:srgbClr val="152B2B"/>
                          </a:solidFill>
                          <a:latin typeface="Calibri"/>
                          <a:ea typeface="Calibri"/>
                          <a:cs typeface="Calibri"/>
                        </a:rPr>
                        <a:t>Facts per world</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9</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8368">
                <a:tc>
                  <a:txBody>
                    <a:bodyPr lIns="95250" tIns="95250" rIns="95250" bIns="95250"/>
                    <a:lstStyle/>
                    <a:p>
                      <a:r>
                        <a:rPr sz="1800" b="0">
                          <a:solidFill>
                            <a:srgbClr val="152B2B"/>
                          </a:solidFill>
                          <a:latin typeface="Calibri"/>
                          <a:ea typeface="Calibri"/>
                          <a:cs typeface="Calibri"/>
                        </a:rPr>
                        <a:t>Maximum tested path</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8368">
                <a:tc>
                  <a:txBody>
                    <a:bodyPr lIns="95250" tIns="95250" rIns="95250" bIns="95250"/>
                    <a:lstStyle/>
                    <a:p>
                      <a:r>
                        <a:rPr sz="1800" b="0">
                          <a:solidFill>
                            <a:srgbClr val="152B2B"/>
                          </a:solidFill>
                          <a:latin typeface="Calibri"/>
                          <a:ea typeface="Calibri"/>
                          <a:cs typeface="Calibri"/>
                        </a:rPr>
                        <a:t>Final wording bank</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Shared template families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Separate dev/final banks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Automated graph/label review, without independent human semantic revie">
            <a:extLst xmlns:a="http://schemas.openxmlformats.org/drawingml/2006/main">
              <a:ext uri="{FF2B5EF4-FFF2-40B4-BE49-F238E27FC236}">
                <a16:creationId xmlns:a16="http://schemas.microsoft.com/office/drawing/2014/main" id="{1FE93CB6-7C23-45C6-B90A-2E42465B7449}"/>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Automated graph/label review, without independent human semantic review. Simple values and relation vocabulary can repeat.</a:t>
            </a:r>
          </a:p>
        </p:txBody>
      </p:sp>
    </p:spTree>
    <p:extLst>
      <p:ext uri="{BB962C8B-B14F-4D97-AF65-F5344CB8AC3E}">
        <p14:creationId xmlns:p14="http://schemas.microsoft.com/office/powerpoint/2010/main" val="1643807856"/>
      </p:ext>
    </p:extLst>
  </p:cSld>
</p:sld>
</file>

<file path=ppt/slides/slide1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Matched conditions and diagnostic populations">
            <a:extLst xmlns:a="http://schemas.openxmlformats.org/drawingml/2006/main">
              <a:ext uri="{FF2B5EF4-FFF2-40B4-BE49-F238E27FC236}">
                <a16:creationId xmlns:a16="http://schemas.microsoft.com/office/drawing/2014/main" id="{C76C024B-5977-43DC-ADFC-DCB0BBB9DCEB}"/>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Matched conditions and diagnostic populations</a:t>
            </a:r>
          </a:p>
        </p:txBody>
      </p:sp>
      <p:sp>
        <p:nvSpPr>
          <p:cNvPr id="2" name="Updated baselines receive the same approved information. Retrieved fac">
            <a:extLst xmlns:a="http://schemas.openxmlformats.org/drawingml/2006/main">
              <a:ext uri="{FF2B5EF4-FFF2-40B4-BE49-F238E27FC236}">
                <a16:creationId xmlns:a16="http://schemas.microsoft.com/office/drawing/2014/main" id="{B17524FE-9860-4624-8798-766BF9F1FCA6}"/>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Updated baselines receive the same approved information. Retrieved fact IDs match across generators.</a:t>
            </a:r>
          </a:p>
        </p:txBody>
      </p:sp>
      <p:sp>
        <p:nvSpPr>
          <p:cNvPr id="3" name="16">
            <a:extLst xmlns:a="http://schemas.openxmlformats.org/drawingml/2006/main">
              <a:ext uri="{FF2B5EF4-FFF2-40B4-BE49-F238E27FC236}">
                <a16:creationId xmlns:a16="http://schemas.microsoft.com/office/drawing/2014/main" id="{84B64BD0-380D-44A2-9C7B-89D6D69D4646}"/>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3269F01C-CA78-4963-BD0E-0CE41E6AAE3C}"/>
              </a:ext>
            </a:extLst>
          </p:cNvPr>
          <p:cNvGraphicFramePr/>
          <p:nvPr/>
        </p:nvGraphicFramePr>
        <p:xfrm>
          <a:off xmlns:a="http://schemas.openxmlformats.org/drawingml/2006/main" x="628650" y="1819275"/>
          <a:ext xmlns:a="http://schemas.openxmlformats.org/drawingml/2006/main" cx="10906125" cy="3267075"/>
        </p:xfrm>
        <a:graphic xmlns:a="http://schemas.openxmlformats.org/drawingml/2006/main">
          <a:graphicData uri="http://schemas.openxmlformats.org/drawingml/2006/table">
            <a:tbl>
              <a:tblPr/>
              <a:tblGrid>
                <a:gridCol w="2524125"/>
                <a:gridCol w="2428875"/>
                <a:gridCol w="4286250"/>
                <a:gridCol w="1666875"/>
              </a:tblGrid>
              <a:tr h="544513">
                <a:tc>
                  <a:txBody>
                    <a:bodyPr lIns="95250" tIns="95250" rIns="95250" bIns="95250"/>
                    <a:lstStyle/>
                    <a:p>
                      <a:r>
                        <a:rPr sz="1800" b="1">
                          <a:solidFill>
                            <a:srgbClr val="152B2B"/>
                          </a:solidFill>
                          <a:latin typeface="Calibri"/>
                          <a:ea typeface="Calibri"/>
                          <a:cs typeface="Calibri"/>
                        </a:rPr>
                        <a:t>Main condition</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Generator</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Supplied context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Assigned</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44513">
                <a:tc>
                  <a:txBody>
                    <a:bodyPr lIns="95250" tIns="95250" rIns="95250" bIns="95250"/>
                    <a:lstStyle/>
                    <a:p>
                      <a:r>
                        <a:rPr sz="1800" b="0">
                          <a:solidFill>
                            <a:srgbClr val="152B2B"/>
                          </a:solidFill>
                          <a:latin typeface="Calibri"/>
                          <a:ea typeface="Calibri"/>
                          <a:cs typeface="Calibri"/>
                        </a:rPr>
                        <a:t>R0 diagnostic</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Reason-KE++</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Initial full memory</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4513">
                <a:tc>
                  <a:txBody>
                    <a:bodyPr lIns="95250" tIns="95250" rIns="95250" bIns="95250"/>
                    <a:lstStyle/>
                    <a:p>
                      <a:r>
                        <a:rPr sz="1800" b="0">
                          <a:solidFill>
                            <a:srgbClr val="152B2B"/>
                          </a:solidFill>
                          <a:latin typeface="Calibri"/>
                          <a:ea typeface="Calibri"/>
                          <a:cs typeface="Calibri"/>
                        </a:rPr>
                        <a:t>R-RAG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Reason-KE++</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Updated retrieved facts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4513">
                <a:tc>
                  <a:txBody>
                    <a:bodyPr lIns="95250" tIns="95250" rIns="95250" bIns="95250"/>
                    <a:lstStyle/>
                    <a:p>
                      <a:r>
                        <a:rPr sz="1800" b="0">
                          <a:solidFill>
                            <a:srgbClr val="152B2B"/>
                          </a:solidFill>
                          <a:latin typeface="Calibri"/>
                          <a:ea typeface="Calibri"/>
                          <a:cs typeface="Calibri"/>
                        </a:rPr>
                        <a:t>R-ALL</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Reason-KE++</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Full updated memory</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4513">
                <a:tc>
                  <a:txBody>
                    <a:bodyPr lIns="95250" tIns="95250" rIns="95250" bIns="95250"/>
                    <a:lstStyle/>
                    <a:p>
                      <a:r>
                        <a:rPr sz="1800" b="0">
                          <a:solidFill>
                            <a:srgbClr val="152B2B"/>
                          </a:solidFill>
                          <a:latin typeface="Calibri"/>
                          <a:ea typeface="Calibri"/>
                          <a:cs typeface="Calibri"/>
                        </a:rPr>
                        <a:t>G-RAG</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Qwen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Same retrieved fact IDs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44513">
                <a:tc>
                  <a:txBody>
                    <a:bodyPr lIns="95250" tIns="95250" rIns="95250" bIns="95250"/>
                    <a:lstStyle/>
                    <a:p>
                      <a:r>
                        <a:rPr sz="1800" b="0">
                          <a:solidFill>
                            <a:srgbClr val="152B2B"/>
                          </a:solidFill>
                          <a:latin typeface="Calibri"/>
                          <a:ea typeface="Calibri"/>
                          <a:cs typeface="Calibri"/>
                        </a:rPr>
                        <a:t>G-ALL</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Qwen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Full updated memory</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Original: 5 × 256 + 2 × 16 oracle = 1,312 generations">
            <a:extLst xmlns:a="http://schemas.openxmlformats.org/drawingml/2006/main">
              <a:ext uri="{FF2B5EF4-FFF2-40B4-BE49-F238E27FC236}">
                <a16:creationId xmlns:a16="http://schemas.microsoft.com/office/drawing/2014/main" id="{2B4E016F-CD17-4A22-87A2-BEFE3D810E8F}"/>
              </a:ext>
            </a:extLst>
          </p:cNvPr>
          <p:cNvSpPr>
            <a:spLocks xmlns:a="http://schemas.openxmlformats.org/drawingml/2006/main" noGrp="1"/>
          </p:cNvSpPr>
          <p:nvPr/>
        </p:nvSpPr>
        <p:spPr>
          <a:xfrm xmlns:a="http://schemas.openxmlformats.org/drawingml/2006/main">
            <a:off x="6477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Original: 5 × 256 + 2 × 16 oracle = 1,312 generations</a:t>
            </a:r>
          </a:p>
        </p:txBody>
      </p:sp>
      <p:sp>
        <p:nvSpPr>
          <p:cNvPr id="6" name="Separate depth: 2 × (256 main + 16 oracle) = 544 generations">
            <a:extLst xmlns:a="http://schemas.openxmlformats.org/drawingml/2006/main">
              <a:ext uri="{FF2B5EF4-FFF2-40B4-BE49-F238E27FC236}">
                <a16:creationId xmlns:a16="http://schemas.microsoft.com/office/drawing/2014/main" id="{D59055D3-4334-469C-AA38-9C1B53AD04BF}"/>
              </a:ext>
            </a:extLst>
          </p:cNvPr>
          <p:cNvSpPr>
            <a:spLocks xmlns:a="http://schemas.openxmlformats.org/drawingml/2006/main" noGrp="1"/>
          </p:cNvSpPr>
          <p:nvPr/>
        </p:nvSpPr>
        <p:spPr>
          <a:xfrm xmlns:a="http://schemas.openxmlformats.org/drawingml/2006/main">
            <a:off x="647700" y="571500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52B2B"/>
                </a:solidFill>
                <a:latin typeface="Calibri"/>
                <a:ea typeface="Calibri"/>
                <a:cs typeface="Calibri"/>
              </a:defRPr>
            </a:defPPr>
            <a:lvl1pPr algn="l">
              <a:defRPr sz="2100" b="0">
                <a:solidFill>
                  <a:srgbClr val="152B2B"/>
                </a:solidFill>
                <a:latin typeface="Calibri"/>
                <a:ea typeface="Calibri"/>
                <a:cs typeface="Calibri"/>
              </a:defRPr>
            </a:lvl1pPr>
            <a:lvl2pPr algn="l">
              <a:defRPr sz="2100" b="0">
                <a:solidFill>
                  <a:srgbClr val="152B2B"/>
                </a:solidFill>
                <a:latin typeface="Calibri"/>
                <a:ea typeface="Calibri"/>
                <a:cs typeface="Calibri"/>
              </a:defRPr>
            </a:lvl2pPr>
            <a:lvl3pPr algn="l">
              <a:defRPr sz="2100" b="0">
                <a:solidFill>
                  <a:srgbClr val="152B2B"/>
                </a:solidFill>
                <a:latin typeface="Calibri"/>
                <a:ea typeface="Calibri"/>
                <a:cs typeface="Calibri"/>
              </a:defRPr>
            </a:lvl3pPr>
            <a:lvl4pPr algn="l">
              <a:defRPr sz="2100" b="0">
                <a:solidFill>
                  <a:srgbClr val="152B2B"/>
                </a:solidFill>
                <a:latin typeface="Calibri"/>
                <a:ea typeface="Calibri"/>
                <a:cs typeface="Calibri"/>
              </a:defRPr>
            </a:lvl4pPr>
            <a:lvl5pPr algn="l">
              <a:defRPr sz="2100" b="0">
                <a:solidFill>
                  <a:srgbClr val="152B2B"/>
                </a:solidFill>
                <a:latin typeface="Calibri"/>
                <a:ea typeface="Calibri"/>
                <a:cs typeface="Calibri"/>
              </a:defRPr>
            </a:lvl5pPr>
            <a:lvl6pPr algn="l">
              <a:defRPr sz="2100" b="0">
                <a:solidFill>
                  <a:srgbClr val="152B2B"/>
                </a:solidFill>
                <a:latin typeface="Calibri"/>
                <a:ea typeface="Calibri"/>
                <a:cs typeface="Calibri"/>
              </a:defRPr>
            </a:lvl6pPr>
            <a:lvl7pPr algn="l">
              <a:defRPr sz="2100" b="0">
                <a:solidFill>
                  <a:srgbClr val="152B2B"/>
                </a:solidFill>
                <a:latin typeface="Calibri"/>
                <a:ea typeface="Calibri"/>
                <a:cs typeface="Calibri"/>
              </a:defRPr>
            </a:lvl7pPr>
            <a:lvl8pPr algn="l">
              <a:defRPr sz="2100" b="0">
                <a:solidFill>
                  <a:srgbClr val="152B2B"/>
                </a:solidFill>
                <a:latin typeface="Calibri"/>
                <a:ea typeface="Calibri"/>
                <a:cs typeface="Calibri"/>
              </a:defRPr>
            </a:lvl8pPr>
            <a:lvl9pPr algn="l">
              <a:defRPr sz="2100" b="0">
                <a:solidFill>
                  <a:srgbClr val="152B2B"/>
                </a:solidFill>
                <a:latin typeface="Calibri"/>
                <a:ea typeface="Calibri"/>
                <a:cs typeface="Calibri"/>
              </a:defRPr>
            </a:lvl9pPr>
          </a:lstStyle>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Separate depth: 2 × (256 main + 16 oracle) = 544 generations</a:t>
            </a:r>
          </a:p>
        </p:txBody>
      </p:sp>
      <p:sp>
        <p:nvSpPr>
          <p:cNvPr id="7" name="Oracle supplies labelled supporting facts to a preselected smaller sub">
            <a:extLst xmlns:a="http://schemas.openxmlformats.org/drawingml/2006/main">
              <a:ext uri="{FF2B5EF4-FFF2-40B4-BE49-F238E27FC236}">
                <a16:creationId xmlns:a16="http://schemas.microsoft.com/office/drawing/2014/main" id="{C8EBC424-627E-472F-872F-0387073C84D1}"/>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Oracle supplies labelled supporting facts to a preselected smaller subset. It does not replace main retrieval accuracy.</a:t>
            </a:r>
          </a:p>
        </p:txBody>
      </p:sp>
    </p:spTree>
    <p:extLst>
      <p:ext uri="{BB962C8B-B14F-4D97-AF65-F5344CB8AC3E}">
        <p14:creationId xmlns:p14="http://schemas.microsoft.com/office/powerpoint/2010/main" val="1989208070"/>
      </p:ext>
    </p:extLst>
  </p:cSld>
</p:sld>
</file>

<file path=ppt/slides/slide1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0" name="Scoring and paired uncertainty">
            <a:extLst xmlns:a="http://schemas.openxmlformats.org/drawingml/2006/main">
              <a:ext uri="{FF2B5EF4-FFF2-40B4-BE49-F238E27FC236}">
                <a16:creationId xmlns:a16="http://schemas.microsoft.com/office/drawing/2014/main" id="{86957BE7-DF18-45DA-9C27-365349600A8B}"/>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Scoring and paired uncertainty</a:t>
            </a:r>
          </a:p>
        </p:txBody>
      </p:sp>
      <p:sp>
        <p:nvSpPr>
          <p:cNvPr id="2" name="The primary unit is an assigned question. The uncertainty cluster is a">
            <a:extLst xmlns:a="http://schemas.openxmlformats.org/drawingml/2006/main">
              <a:ext uri="{FF2B5EF4-FFF2-40B4-BE49-F238E27FC236}">
                <a16:creationId xmlns:a16="http://schemas.microsoft.com/office/drawing/2014/main" id="{3A46C41A-A844-4DC4-8D49-2769F14B82E4}"/>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primary unit is an assigned question. The uncertainty cluster is an edit lineage.</a:t>
            </a:r>
          </a:p>
        </p:txBody>
      </p:sp>
      <p:sp>
        <p:nvSpPr>
          <p:cNvPr id="3" name="17">
            <a:extLst xmlns:a="http://schemas.openxmlformats.org/drawingml/2006/main">
              <a:ext uri="{FF2B5EF4-FFF2-40B4-BE49-F238E27FC236}">
                <a16:creationId xmlns:a16="http://schemas.microsoft.com/office/drawing/2014/main" id="{3988191E-ED4C-4834-ACF1-96D053BD8D45}"/>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17</a:t>
            </a:r>
          </a:p>
        </p:txBody>
      </p:sp>
      <p:sp>
        <p:nvSpPr>
          <p:cNvPr id="4" name="Whole endorsed-answer scoring">
            <a:extLst xmlns:a="http://schemas.openxmlformats.org/drawingml/2006/main">
              <a:ext uri="{FF2B5EF4-FFF2-40B4-BE49-F238E27FC236}">
                <a16:creationId xmlns:a16="http://schemas.microsoft.com/office/drawing/2014/main" id="{3A7EDAC1-825C-4209-96CB-FBB163DA1923}"/>
              </a:ext>
            </a:extLst>
          </p:cNvPr>
          <p:cNvSpPr>
            <a:spLocks xmlns:a="http://schemas.openxmlformats.org/drawingml/2006/main" noGrp="1"/>
          </p:cNvSpPr>
          <p:nvPr/>
        </p:nvSpPr>
        <p:spPr>
          <a:xfrm xmlns:a="http://schemas.openxmlformats.org/drawingml/2006/main">
            <a:off x="647700" y="18954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Whole endorsed-answer scoring</a:t>
            </a:r>
          </a:p>
        </p:txBody>
      </p:sp>
      <p:sp>
        <p:nvSpPr>
          <p:cNvPr id="5" name="accuracy = correct / all assigned&#10;coverage = answered / all assigned&#10;&#10;">
            <a:extLst xmlns:a="http://schemas.openxmlformats.org/drawingml/2006/main">
              <a:ext uri="{FF2B5EF4-FFF2-40B4-BE49-F238E27FC236}">
                <a16:creationId xmlns:a16="http://schemas.microsoft.com/office/drawing/2014/main" id="{FD4FE13D-9D72-4D6C-AEA7-935ABFBC18AD}"/>
              </a:ext>
            </a:extLst>
          </p:cNvPr>
          <p:cNvSpPr>
            <a:spLocks xmlns:a="http://schemas.openxmlformats.org/drawingml/2006/main" noGrp="1"/>
          </p:cNvSpPr>
          <p:nvPr/>
        </p:nvSpPr>
        <p:spPr>
          <a:xfrm xmlns:a="http://schemas.openxmlformats.org/drawingml/2006/main">
            <a:off x="647700" y="2486025"/>
            <a:ext cx="59055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B2B"/>
                </a:solidFill>
                <a:latin typeface="Calibri"/>
                <a:ea typeface="Calibri"/>
                <a:cs typeface="Calibri"/>
              </a:defRPr>
            </a:defPPr>
            <a:lvl1pPr algn="l">
              <a:defRPr sz="2025" b="0">
                <a:solidFill>
                  <a:srgbClr val="152B2B"/>
                </a:solidFill>
                <a:latin typeface="Calibri"/>
                <a:ea typeface="Calibri"/>
                <a:cs typeface="Calibri"/>
              </a:defRPr>
            </a:lvl1pPr>
            <a:lvl2pPr algn="l">
              <a:defRPr sz="2025" b="0">
                <a:solidFill>
                  <a:srgbClr val="152B2B"/>
                </a:solidFill>
                <a:latin typeface="Calibri"/>
                <a:ea typeface="Calibri"/>
                <a:cs typeface="Calibri"/>
              </a:defRPr>
            </a:lvl2pPr>
            <a:lvl3pPr algn="l">
              <a:defRPr sz="2025" b="0">
                <a:solidFill>
                  <a:srgbClr val="152B2B"/>
                </a:solidFill>
                <a:latin typeface="Calibri"/>
                <a:ea typeface="Calibri"/>
                <a:cs typeface="Calibri"/>
              </a:defRPr>
            </a:lvl3pPr>
            <a:lvl4pPr algn="l">
              <a:defRPr sz="2025" b="0">
                <a:solidFill>
                  <a:srgbClr val="152B2B"/>
                </a:solidFill>
                <a:latin typeface="Calibri"/>
                <a:ea typeface="Calibri"/>
                <a:cs typeface="Calibri"/>
              </a:defRPr>
            </a:lvl4pPr>
            <a:lvl5pPr algn="l">
              <a:defRPr sz="2025" b="0">
                <a:solidFill>
                  <a:srgbClr val="152B2B"/>
                </a:solidFill>
                <a:latin typeface="Calibri"/>
                <a:ea typeface="Calibri"/>
                <a:cs typeface="Calibri"/>
              </a:defRPr>
            </a:lvl5pPr>
            <a:lvl6pPr algn="l">
              <a:defRPr sz="2025" b="0">
                <a:solidFill>
                  <a:srgbClr val="152B2B"/>
                </a:solidFill>
                <a:latin typeface="Calibri"/>
                <a:ea typeface="Calibri"/>
                <a:cs typeface="Calibri"/>
              </a:defRPr>
            </a:lvl6pPr>
            <a:lvl7pPr algn="l">
              <a:defRPr sz="2025" b="0">
                <a:solidFill>
                  <a:srgbClr val="152B2B"/>
                </a:solidFill>
                <a:latin typeface="Calibri"/>
                <a:ea typeface="Calibri"/>
                <a:cs typeface="Calibri"/>
              </a:defRPr>
            </a:lvl7pPr>
            <a:lvl8pPr algn="l">
              <a:defRPr sz="2025" b="0">
                <a:solidFill>
                  <a:srgbClr val="152B2B"/>
                </a:solidFill>
                <a:latin typeface="Calibri"/>
                <a:ea typeface="Calibri"/>
                <a:cs typeface="Calibri"/>
              </a:defRPr>
            </a:lvl8pPr>
            <a:lvl9pPr algn="l">
              <a:defRPr sz="2025" b="0">
                <a:solidFill>
                  <a:srgbClr val="152B2B"/>
                </a:solidFill>
                <a:latin typeface="Calibri"/>
                <a:ea typeface="Calibri"/>
                <a:cs typeface="Calibri"/>
              </a:defRPr>
            </a:lvl9pPr>
          </a:lstStyle>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accuracy = correct / all assigned</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coverage = answered / all assigned</a:t>
            </a:r>
          </a:p>
          <a:p xmlns:a="http://schemas.openxmlformats.org/drawingml/2006/main">
            <a:r>
              <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UNKNOWN, errors and unexecuted cases</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receive zero primary accuracy credit.</a:t>
            </a:r>
          </a:p>
        </p:txBody>
      </p:sp>
      <p:sp>
        <p:nvSpPr>
          <p:cNvPr id="6" name="Paired lineage bootstrap">
            <a:extLst xmlns:a="http://schemas.openxmlformats.org/drawingml/2006/main">
              <a:ext uri="{FF2B5EF4-FFF2-40B4-BE49-F238E27FC236}">
                <a16:creationId xmlns:a16="http://schemas.microsoft.com/office/drawing/2014/main" id="{38F94D64-5B9B-4245-A5A1-692DA2B89C71}"/>
              </a:ext>
            </a:extLst>
          </p:cNvPr>
          <p:cNvSpPr>
            <a:spLocks xmlns:a="http://schemas.openxmlformats.org/drawingml/2006/main" noGrp="1"/>
          </p:cNvSpPr>
          <p:nvPr/>
        </p:nvSpPr>
        <p:spPr>
          <a:xfrm xmlns:a="http://schemas.openxmlformats.org/drawingml/2006/main">
            <a:off x="7467600" y="18954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Paired lineage bootstrap</a:t>
            </a:r>
          </a:p>
        </p:txBody>
      </p:sp>
      <p:sp>
        <p:nvSpPr>
          <p:cNvPr id="7" name="Resample 32 whole lineages.&#10;Keep related variants together.&#10;Compare ma">
            <a:extLst xmlns:a="http://schemas.openxmlformats.org/drawingml/2006/main">
              <a:ext uri="{FF2B5EF4-FFF2-40B4-BE49-F238E27FC236}">
                <a16:creationId xmlns:a16="http://schemas.microsoft.com/office/drawing/2014/main" id="{A8AF8162-0141-4B8E-80BD-70D8EE945ACB}"/>
              </a:ext>
            </a:extLst>
          </p:cNvPr>
          <p:cNvSpPr>
            <a:spLocks xmlns:a="http://schemas.openxmlformats.org/drawingml/2006/main" noGrp="1"/>
          </p:cNvSpPr>
          <p:nvPr/>
        </p:nvSpPr>
        <p:spPr>
          <a:xfrm xmlns:a="http://schemas.openxmlformats.org/drawingml/2006/main">
            <a:off x="7467600" y="2486025"/>
            <a:ext cx="4095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B2B"/>
                </a:solidFill>
                <a:latin typeface="Calibri"/>
                <a:ea typeface="Calibri"/>
                <a:cs typeface="Calibri"/>
              </a:defRPr>
            </a:defPPr>
            <a:lvl1pPr algn="l">
              <a:defRPr sz="2025" b="0">
                <a:solidFill>
                  <a:srgbClr val="152B2B"/>
                </a:solidFill>
                <a:latin typeface="Calibri"/>
                <a:ea typeface="Calibri"/>
                <a:cs typeface="Calibri"/>
              </a:defRPr>
            </a:lvl1pPr>
            <a:lvl2pPr algn="l">
              <a:defRPr sz="2025" b="0">
                <a:solidFill>
                  <a:srgbClr val="152B2B"/>
                </a:solidFill>
                <a:latin typeface="Calibri"/>
                <a:ea typeface="Calibri"/>
                <a:cs typeface="Calibri"/>
              </a:defRPr>
            </a:lvl2pPr>
            <a:lvl3pPr algn="l">
              <a:defRPr sz="2025" b="0">
                <a:solidFill>
                  <a:srgbClr val="152B2B"/>
                </a:solidFill>
                <a:latin typeface="Calibri"/>
                <a:ea typeface="Calibri"/>
                <a:cs typeface="Calibri"/>
              </a:defRPr>
            </a:lvl3pPr>
            <a:lvl4pPr algn="l">
              <a:defRPr sz="2025" b="0">
                <a:solidFill>
                  <a:srgbClr val="152B2B"/>
                </a:solidFill>
                <a:latin typeface="Calibri"/>
                <a:ea typeface="Calibri"/>
                <a:cs typeface="Calibri"/>
              </a:defRPr>
            </a:lvl4pPr>
            <a:lvl5pPr algn="l">
              <a:defRPr sz="2025" b="0">
                <a:solidFill>
                  <a:srgbClr val="152B2B"/>
                </a:solidFill>
                <a:latin typeface="Calibri"/>
                <a:ea typeface="Calibri"/>
                <a:cs typeface="Calibri"/>
              </a:defRPr>
            </a:lvl5pPr>
            <a:lvl6pPr algn="l">
              <a:defRPr sz="2025" b="0">
                <a:solidFill>
                  <a:srgbClr val="152B2B"/>
                </a:solidFill>
                <a:latin typeface="Calibri"/>
                <a:ea typeface="Calibri"/>
                <a:cs typeface="Calibri"/>
              </a:defRPr>
            </a:lvl6pPr>
            <a:lvl7pPr algn="l">
              <a:defRPr sz="2025" b="0">
                <a:solidFill>
                  <a:srgbClr val="152B2B"/>
                </a:solidFill>
                <a:latin typeface="Calibri"/>
                <a:ea typeface="Calibri"/>
                <a:cs typeface="Calibri"/>
              </a:defRPr>
            </a:lvl7pPr>
            <a:lvl8pPr algn="l">
              <a:defRPr sz="2025" b="0">
                <a:solidFill>
                  <a:srgbClr val="152B2B"/>
                </a:solidFill>
                <a:latin typeface="Calibri"/>
                <a:ea typeface="Calibri"/>
                <a:cs typeface="Calibri"/>
              </a:defRPr>
            </a:lvl8pPr>
            <a:lvl9pPr algn="l">
              <a:defRPr sz="2025" b="0">
                <a:solidFill>
                  <a:srgbClr val="152B2B"/>
                </a:solidFill>
                <a:latin typeface="Calibri"/>
                <a:ea typeface="Calibri"/>
                <a:cs typeface="Calibri"/>
              </a:defRPr>
            </a:lvl9pPr>
          </a:lstStyle>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Resample 32 whole lineages.</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Keep related variants together.</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Compare matched conditions.</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10,000 draws, fixed seed 42.</a:t>
            </a:r>
          </a:p>
        </p:txBody>
      </p:sp>
      <p:sp>
        <p:nvSpPr>
          <p:cNvPr id="8" name="Preservation: initially correct locality subset.&#10;Factual locality accu">
            <a:extLst xmlns:a="http://schemas.openxmlformats.org/drawingml/2006/main">
              <a:ext uri="{FF2B5EF4-FFF2-40B4-BE49-F238E27FC236}">
                <a16:creationId xmlns:a16="http://schemas.microsoft.com/office/drawing/2014/main" id="{1B74B45D-5F6A-4404-90D3-B7509CDFA1E4}"/>
              </a:ext>
            </a:extLst>
          </p:cNvPr>
          <p:cNvSpPr>
            <a:spLocks xmlns:a="http://schemas.openxmlformats.org/drawingml/2006/main" noGrp="1"/>
          </p:cNvSpPr>
          <p:nvPr/>
        </p:nvSpPr>
        <p:spPr>
          <a:xfrm xmlns:a="http://schemas.openxmlformats.org/drawingml/2006/main">
            <a:off x="647700" y="5210175"/>
            <a:ext cx="10715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Preservation: initially correct locality subset.</a:t>
            </a:r>
          </a:p>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Factual locality accuracy: every locality question.</a:t>
            </a:r>
          </a:p>
        </p:txBody>
      </p:sp>
      <p:sp>
        <p:nvSpPr>
          <p:cNvPr id="9" name="Fixed aliases score the requested subject, relation and final span. Ex">
            <a:extLst xmlns:a="http://schemas.openxmlformats.org/drawingml/2006/main">
              <a:ext uri="{FF2B5EF4-FFF2-40B4-BE49-F238E27FC236}">
                <a16:creationId xmlns:a16="http://schemas.microsoft.com/office/drawing/2014/main" id="{5CD47162-3E84-4D81-AA48-177D46352155}"/>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Fixed aliases score the requested subject, relation and final span. Extra target mentions do not earn automatic credit.</a:t>
            </a:r>
          </a:p>
        </p:txBody>
      </p:sp>
    </p:spTree>
    <p:extLst>
      <p:ext uri="{BB962C8B-B14F-4D97-AF65-F5344CB8AC3E}">
        <p14:creationId xmlns:p14="http://schemas.microsoft.com/office/powerpoint/2010/main" val="1047276113"/>
      </p:ext>
    </p:extLst>
  </p:cSld>
</p:sld>
</file>

<file path=ppt/slides/slide1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6" name="Original operations results">
            <a:extLst xmlns:a="http://schemas.openxmlformats.org/drawingml/2006/main">
              <a:ext uri="{FF2B5EF4-FFF2-40B4-BE49-F238E27FC236}">
                <a16:creationId xmlns:a16="http://schemas.microsoft.com/office/drawing/2014/main" id="{50A86708-C92B-4274-909B-4241E1C222C3}"/>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Original operations results</a:t>
            </a:r>
          </a:p>
        </p:txBody>
      </p:sp>
      <p:sp>
        <p:nvSpPr>
          <p:cNvPr id="2" name="All five main conditions contain 256 assigned questions.">
            <a:extLst xmlns:a="http://schemas.openxmlformats.org/drawingml/2006/main">
              <a:ext uri="{FF2B5EF4-FFF2-40B4-BE49-F238E27FC236}">
                <a16:creationId xmlns:a16="http://schemas.microsoft.com/office/drawing/2014/main" id="{61700EEA-B120-4CE3-B55E-50F2CFB984D6}"/>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All five main conditions contain 256 assigned questions.</a:t>
            </a:r>
          </a:p>
        </p:txBody>
      </p:sp>
      <p:sp>
        <p:nvSpPr>
          <p:cNvPr id="3" name="18">
            <a:extLst xmlns:a="http://schemas.openxmlformats.org/drawingml/2006/main">
              <a:ext uri="{FF2B5EF4-FFF2-40B4-BE49-F238E27FC236}">
                <a16:creationId xmlns:a16="http://schemas.microsoft.com/office/drawing/2014/main" id="{17607FC5-B55F-4B9F-B75C-E79C144F4423}"/>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18</a:t>
            </a:r>
          </a:p>
        </p:txBody>
      </p:sp>
      <p:graphicFrame>
        <p:nvGraphicFramePr>
          <p:cNvPr id="4" name="Chart">
            <a:extLst xmlns:a="http://schemas.openxmlformats.org/drawingml/2006/main">
              <a:ext uri="{FF2B5EF4-FFF2-40B4-BE49-F238E27FC236}">
                <a16:creationId xmlns:a16="http://schemas.microsoft.com/office/drawing/2014/main" id="{82206824-A2F4-45C4-B3F3-F858B89E0876}"/>
              </a:ext>
            </a:extLst>
          </p:cNvPr>
          <p:cNvGraphicFramePr/>
          <p:nvPr/>
        </p:nvGraphicFramePr>
        <p:xfrm>
          <a:off xmlns:a="http://schemas.openxmlformats.org/drawingml/2006/main" x="590550" y="1771650"/>
          <a:ext xmlns:a="http://schemas.openxmlformats.org/drawingml/2006/main" cx="10839450" cy="4029075"/>
        </p:xfrm>
        <a:graphic xmlns:a="http://schemas.openxmlformats.org/drawingml/2006/main">
          <a:graphicData uri="http://schemas.openxmlformats.org/drawingml/2006/chart">
            <c:chart xmlns:r="http://schemas.openxmlformats.org/officeDocument/2006/relationships" xmlns:c="http://schemas.openxmlformats.org/drawingml/2006/chart" r:id="Rb84c5d50b4de4206"/>
          </a:graphicData>
        </a:graphic>
      </p:graphicFrame>
      <p:sp>
        <p:nvSpPr>
          <p:cNvPr id="5" name="Retrieved gain: +5.86 pp, 95% lineage interval +3.91 to +8.20.&#10;R = Rea">
            <a:extLst xmlns:a="http://schemas.openxmlformats.org/drawingml/2006/main">
              <a:ext uri="{FF2B5EF4-FFF2-40B4-BE49-F238E27FC236}">
                <a16:creationId xmlns:a16="http://schemas.microsoft.com/office/drawing/2014/main" id="{26752D99-6FEC-46BD-A767-CAE5DEAE0704}"/>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Retrieved gain: +5.86 pp, 95% lineage interval +3.91 to +8.20.</a:t>
            </a:r>
          </a:p>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 = Reason-KE++. Q = Qwen. UNKNOWN: retrieved Q 15, full Q 2. Errors / unexecuted: 0.</a:t>
            </a:r>
          </a:p>
        </p:txBody>
      </p:sp>
    </p:spTree>
    <p:extLst>
      <p:ext uri="{BB962C8B-B14F-4D97-AF65-F5344CB8AC3E}">
        <p14:creationId xmlns:p14="http://schemas.microsoft.com/office/powerpoint/2010/main" val="1001287654"/>
      </p:ext>
    </p:extLst>
  </p:cSld>
</p:sld>
</file>

<file path=ppt/slides/slide19.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0" name="Separate depth challenge results">
            <a:extLst xmlns:a="http://schemas.openxmlformats.org/drawingml/2006/main">
              <a:ext uri="{FF2B5EF4-FFF2-40B4-BE49-F238E27FC236}">
                <a16:creationId xmlns:a16="http://schemas.microsoft.com/office/drawing/2014/main" id="{EB261916-1D29-46B9-B094-E40A43A9357E}"/>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Separate depth challenge results</a:t>
            </a:r>
          </a:p>
        </p:txBody>
      </p:sp>
      <p:sp>
        <p:nvSpPr>
          <p:cNvPr id="2" name="64 assigned main questions per group and checkpoint.">
            <a:extLst xmlns:a="http://schemas.openxmlformats.org/drawingml/2006/main">
              <a:ext uri="{FF2B5EF4-FFF2-40B4-BE49-F238E27FC236}">
                <a16:creationId xmlns:a16="http://schemas.microsoft.com/office/drawing/2014/main" id="{6710E6D7-E371-434D-8062-C6F57C1DA413}"/>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64 assigned main questions per group and checkpoint.</a:t>
            </a:r>
          </a:p>
        </p:txBody>
      </p:sp>
      <p:sp>
        <p:nvSpPr>
          <p:cNvPr id="3" name="19">
            <a:extLst xmlns:a="http://schemas.openxmlformats.org/drawingml/2006/main">
              <a:ext uri="{FF2B5EF4-FFF2-40B4-BE49-F238E27FC236}">
                <a16:creationId xmlns:a16="http://schemas.microsoft.com/office/drawing/2014/main" id="{E1A42B00-8357-42D9-9634-03C4F1B9FE01}"/>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19</a:t>
            </a:r>
          </a:p>
        </p:txBody>
      </p:sp>
      <p:graphicFrame>
        <p:nvGraphicFramePr>
          <p:cNvPr id="4" name="Chart">
            <a:extLst xmlns:a="http://schemas.openxmlformats.org/drawingml/2006/main">
              <a:ext uri="{FF2B5EF4-FFF2-40B4-BE49-F238E27FC236}">
                <a16:creationId xmlns:a16="http://schemas.microsoft.com/office/drawing/2014/main" id="{DF90C74A-EA06-4890-98C8-B14479D0282C}"/>
              </a:ext>
            </a:extLst>
          </p:cNvPr>
          <p:cNvGraphicFramePr/>
          <p:nvPr/>
        </p:nvGraphicFramePr>
        <p:xfrm>
          <a:off xmlns:a="http://schemas.openxmlformats.org/drawingml/2006/main" x="590550" y="1819275"/>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daffe90075e24232"/>
          </a:graphicData>
        </a:graphic>
      </p:graphicFrame>
      <p:sp>
        <p:nvSpPr>
          <p:cNvPr id="5" name="Main final answers">
            <a:extLst xmlns:a="http://schemas.openxmlformats.org/drawingml/2006/main">
              <a:ext uri="{FF2B5EF4-FFF2-40B4-BE49-F238E27FC236}">
                <a16:creationId xmlns:a16="http://schemas.microsoft.com/office/drawing/2014/main" id="{BDF42BB1-2BEC-4125-885D-515AB099D115}"/>
              </a:ext>
            </a:extLst>
          </p:cNvPr>
          <p:cNvSpPr>
            <a:spLocks xmlns:a="http://schemas.openxmlformats.org/drawingml/2006/main" noGrp="1"/>
          </p:cNvSpPr>
          <p:nvPr/>
        </p:nvSpPr>
        <p:spPr>
          <a:xfrm xmlns:a="http://schemas.openxmlformats.org/drawingml/2006/main">
            <a:off x="8496300" y="1857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Main final answers</a:t>
            </a:r>
          </a:p>
        </p:txBody>
      </p:sp>
      <p:sp>
        <p:nvSpPr>
          <p:cNvPr id="6" name="256/256 vs 248/256">
            <a:extLst xmlns:a="http://schemas.openxmlformats.org/drawingml/2006/main">
              <a:ext uri="{FF2B5EF4-FFF2-40B4-BE49-F238E27FC236}">
                <a16:creationId xmlns:a16="http://schemas.microsoft.com/office/drawing/2014/main" id="{7A25C3DC-A2D4-4133-81DA-1F6BE61B19B5}"/>
              </a:ext>
            </a:extLst>
          </p:cNvPr>
          <p:cNvSpPr>
            <a:spLocks xmlns:a="http://schemas.openxmlformats.org/drawingml/2006/main" noGrp="1"/>
          </p:cNvSpPr>
          <p:nvPr/>
        </p:nvSpPr>
        <p:spPr>
          <a:xfrm xmlns:a="http://schemas.openxmlformats.org/drawingml/2006/main">
            <a:off x="8496300" y="238125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52B2B"/>
                </a:solidFill>
                <a:latin typeface="Calibri"/>
                <a:ea typeface="Calibri"/>
                <a:cs typeface="Calibri"/>
              </a:defRPr>
            </a:defPPr>
            <a:lvl1pPr algn="l">
              <a:defRPr sz="2325" b="1">
                <a:solidFill>
                  <a:srgbClr val="152B2B"/>
                </a:solidFill>
                <a:latin typeface="Calibri"/>
                <a:ea typeface="Calibri"/>
                <a:cs typeface="Calibri"/>
              </a:defRPr>
            </a:lvl1pPr>
            <a:lvl2pPr algn="l">
              <a:defRPr sz="2325" b="1">
                <a:solidFill>
                  <a:srgbClr val="152B2B"/>
                </a:solidFill>
                <a:latin typeface="Calibri"/>
                <a:ea typeface="Calibri"/>
                <a:cs typeface="Calibri"/>
              </a:defRPr>
            </a:lvl2pPr>
            <a:lvl3pPr algn="l">
              <a:defRPr sz="2325" b="1">
                <a:solidFill>
                  <a:srgbClr val="152B2B"/>
                </a:solidFill>
                <a:latin typeface="Calibri"/>
                <a:ea typeface="Calibri"/>
                <a:cs typeface="Calibri"/>
              </a:defRPr>
            </a:lvl3pPr>
            <a:lvl4pPr algn="l">
              <a:defRPr sz="2325" b="1">
                <a:solidFill>
                  <a:srgbClr val="152B2B"/>
                </a:solidFill>
                <a:latin typeface="Calibri"/>
                <a:ea typeface="Calibri"/>
                <a:cs typeface="Calibri"/>
              </a:defRPr>
            </a:lvl4pPr>
            <a:lvl5pPr algn="l">
              <a:defRPr sz="2325" b="1">
                <a:solidFill>
                  <a:srgbClr val="152B2B"/>
                </a:solidFill>
                <a:latin typeface="Calibri"/>
                <a:ea typeface="Calibri"/>
                <a:cs typeface="Calibri"/>
              </a:defRPr>
            </a:lvl5pPr>
            <a:lvl6pPr algn="l">
              <a:defRPr sz="2325" b="1">
                <a:solidFill>
                  <a:srgbClr val="152B2B"/>
                </a:solidFill>
                <a:latin typeface="Calibri"/>
                <a:ea typeface="Calibri"/>
                <a:cs typeface="Calibri"/>
              </a:defRPr>
            </a:lvl6pPr>
            <a:lvl7pPr algn="l">
              <a:defRPr sz="2325" b="1">
                <a:solidFill>
                  <a:srgbClr val="152B2B"/>
                </a:solidFill>
                <a:latin typeface="Calibri"/>
                <a:ea typeface="Calibri"/>
                <a:cs typeface="Calibri"/>
              </a:defRPr>
            </a:lvl7pPr>
            <a:lvl8pPr algn="l">
              <a:defRPr sz="2325" b="1">
                <a:solidFill>
                  <a:srgbClr val="152B2B"/>
                </a:solidFill>
                <a:latin typeface="Calibri"/>
                <a:ea typeface="Calibri"/>
                <a:cs typeface="Calibri"/>
              </a:defRPr>
            </a:lvl8pPr>
            <a:lvl9pPr algn="l">
              <a:defRPr sz="2325" b="1">
                <a:solidFill>
                  <a:srgbClr val="152B2B"/>
                </a:solidFill>
                <a:latin typeface="Calibri"/>
                <a:ea typeface="Calibri"/>
                <a:cs typeface="Calibri"/>
              </a:defRPr>
            </a:lvl9pPr>
          </a:lstStyle>
          <a:p xmlns:a="http://schemas.openxmlformats.org/drawingml/2006/main">
            <a:pPr algn="l">
              <a:defRPr sz="2325" b="1">
                <a:solidFill>
                  <a:srgbClr val="152B2B"/>
                </a:solidFill>
                <a:latin typeface="Calibri"/>
                <a:ea typeface="Calibri"/>
                <a:cs typeface="Calibri"/>
              </a:defRPr>
            </a:pPr>
            <a:r>
              <a:rPr sz="2325" b="1">
                <a:solidFill>
                  <a:srgbClr val="152B2B"/>
                </a:solidFill>
                <a:latin typeface="Calibri"/>
                <a:ea typeface="Calibri"/>
                <a:cs typeface="Calibri"/>
              </a:rPr>
              <a:t>256/256 vs 248/256</a:t>
            </a:r>
          </a:p>
        </p:txBody>
      </p:sp>
      <p:sp>
        <p:nvSpPr>
          <p:cNvPr id="7" name="+3.125 pp&#10;95% interval +1.56 to +5.08">
            <a:extLst xmlns:a="http://schemas.openxmlformats.org/drawingml/2006/main">
              <a:ext uri="{FF2B5EF4-FFF2-40B4-BE49-F238E27FC236}">
                <a16:creationId xmlns:a16="http://schemas.microsoft.com/office/drawing/2014/main" id="{641EB76F-2767-4324-AC28-17040B9D3792}"/>
              </a:ext>
            </a:extLst>
          </p:cNvPr>
          <p:cNvSpPr>
            <a:spLocks xmlns:a="http://schemas.openxmlformats.org/drawingml/2006/main" noGrp="1"/>
          </p:cNvSpPr>
          <p:nvPr/>
        </p:nvSpPr>
        <p:spPr>
          <a:xfrm xmlns:a="http://schemas.openxmlformats.org/drawingml/2006/main">
            <a:off x="8496300" y="3543300"/>
            <a:ext cx="304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+3.125 pp</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95% interval +1.56 to +5.08</a:t>
            </a:r>
          </a:p>
        </p:txBody>
      </p:sp>
      <p:sp>
        <p:nvSpPr>
          <p:cNvPr id="8" name="Three-hop difference: 1/64.&#10;Its interval includes zero.">
            <a:extLst xmlns:a="http://schemas.openxmlformats.org/drawingml/2006/main">
              <a:ext uri="{FF2B5EF4-FFF2-40B4-BE49-F238E27FC236}">
                <a16:creationId xmlns:a16="http://schemas.microsoft.com/office/drawing/2014/main" id="{4A6CCFD5-8A99-49D9-A854-7DDB00117365}"/>
              </a:ext>
            </a:extLst>
          </p:cNvPr>
          <p:cNvSpPr>
            <a:spLocks xmlns:a="http://schemas.openxmlformats.org/drawingml/2006/main" noGrp="1"/>
          </p:cNvSpPr>
          <p:nvPr/>
        </p:nvSpPr>
        <p:spPr>
          <a:xfrm xmlns:a="http://schemas.openxmlformats.org/drawingml/2006/main">
            <a:off x="8496300" y="5029200"/>
            <a:ext cx="304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26464"/>
                </a:solidFill>
                <a:latin typeface="Calibri"/>
                <a:ea typeface="Calibri"/>
                <a:cs typeface="Calibri"/>
              </a:defRPr>
            </a:defPPr>
            <a:lvl1pPr algn="l">
              <a:defRPr sz="1875" b="0">
                <a:solidFill>
                  <a:srgbClr val="526464"/>
                </a:solidFill>
                <a:latin typeface="Calibri"/>
                <a:ea typeface="Calibri"/>
                <a:cs typeface="Calibri"/>
              </a:defRPr>
            </a:lvl1pPr>
            <a:lvl2pPr algn="l">
              <a:defRPr sz="1875" b="0">
                <a:solidFill>
                  <a:srgbClr val="526464"/>
                </a:solidFill>
                <a:latin typeface="Calibri"/>
                <a:ea typeface="Calibri"/>
                <a:cs typeface="Calibri"/>
              </a:defRPr>
            </a:lvl2pPr>
            <a:lvl3pPr algn="l">
              <a:defRPr sz="1875" b="0">
                <a:solidFill>
                  <a:srgbClr val="526464"/>
                </a:solidFill>
                <a:latin typeface="Calibri"/>
                <a:ea typeface="Calibri"/>
                <a:cs typeface="Calibri"/>
              </a:defRPr>
            </a:lvl3pPr>
            <a:lvl4pPr algn="l">
              <a:defRPr sz="1875" b="0">
                <a:solidFill>
                  <a:srgbClr val="526464"/>
                </a:solidFill>
                <a:latin typeface="Calibri"/>
                <a:ea typeface="Calibri"/>
                <a:cs typeface="Calibri"/>
              </a:defRPr>
            </a:lvl4pPr>
            <a:lvl5pPr algn="l">
              <a:defRPr sz="1875" b="0">
                <a:solidFill>
                  <a:srgbClr val="526464"/>
                </a:solidFill>
                <a:latin typeface="Calibri"/>
                <a:ea typeface="Calibri"/>
                <a:cs typeface="Calibri"/>
              </a:defRPr>
            </a:lvl5pPr>
            <a:lvl6pPr algn="l">
              <a:defRPr sz="1875" b="0">
                <a:solidFill>
                  <a:srgbClr val="526464"/>
                </a:solidFill>
                <a:latin typeface="Calibri"/>
                <a:ea typeface="Calibri"/>
                <a:cs typeface="Calibri"/>
              </a:defRPr>
            </a:lvl6pPr>
            <a:lvl7pPr algn="l">
              <a:defRPr sz="1875" b="0">
                <a:solidFill>
                  <a:srgbClr val="526464"/>
                </a:solidFill>
                <a:latin typeface="Calibri"/>
                <a:ea typeface="Calibri"/>
                <a:cs typeface="Calibri"/>
              </a:defRPr>
            </a:lvl7pPr>
            <a:lvl8pPr algn="l">
              <a:defRPr sz="1875" b="0">
                <a:solidFill>
                  <a:srgbClr val="526464"/>
                </a:solidFill>
                <a:latin typeface="Calibri"/>
                <a:ea typeface="Calibri"/>
                <a:cs typeface="Calibri"/>
              </a:defRPr>
            </a:lvl8pPr>
            <a:lvl9pPr algn="l">
              <a:defRPr sz="1875" b="0">
                <a:solidFill>
                  <a:srgbClr val="526464"/>
                </a:solidFill>
                <a:latin typeface="Calibri"/>
                <a:ea typeface="Calibri"/>
                <a:cs typeface="Calibri"/>
              </a:defRPr>
            </a:lvl9pPr>
          </a:lstStyle>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Three-hop difference: 1/64.</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Its interval includes zero.</a:t>
            </a:r>
          </a:p>
        </p:txBody>
      </p:sp>
      <p:sp>
        <p:nvSpPr>
          <p:cNvPr id="9" name="All eight Qwen nonsuccesses are UNKNOWN. Separate preselected oracle d">
            <a:extLst xmlns:a="http://schemas.openxmlformats.org/drawingml/2006/main">
              <a:ext uri="{FF2B5EF4-FFF2-40B4-BE49-F238E27FC236}">
                <a16:creationId xmlns:a16="http://schemas.microsoft.com/office/drawing/2014/main" id="{92125282-8630-4AD7-99B4-881D237930A3}"/>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All eight Qwen nonsuccesses are UNKNOWN. Separate preselected oracle diagnostics: 16/16 per model.</a:t>
            </a:r>
          </a:p>
        </p:txBody>
      </p:sp>
    </p:spTree>
    <p:extLst>
      <p:ext uri="{BB962C8B-B14F-4D97-AF65-F5344CB8AC3E}">
        <p14:creationId xmlns:p14="http://schemas.microsoft.com/office/powerpoint/2010/main" val="492410928"/>
      </p:ext>
    </p:extLst>
  </p:cSld>
</p:sld>
</file>

<file path=ppt/slides/slide2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0" name="Reason-KE++ full-memory failure diagnosis">
            <a:extLst xmlns:a="http://schemas.openxmlformats.org/drawingml/2006/main">
              <a:ext uri="{FF2B5EF4-FFF2-40B4-BE49-F238E27FC236}">
                <a16:creationId xmlns:a16="http://schemas.microsoft.com/office/drawing/2014/main" id="{F6E5FEB3-9460-45CD-B68F-893760E8D8BB}"/>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Reason-KE++ full-memory failure diagnosis</a:t>
            </a:r>
          </a:p>
        </p:txBody>
      </p:sp>
      <p:sp>
        <p:nvSpPr>
          <p:cNvPr id="2" name="All 25 strict wrong answers had required support and matched another s">
            <a:extLst xmlns:a="http://schemas.openxmlformats.org/drawingml/2006/main">
              <a:ext uri="{FF2B5EF4-FFF2-40B4-BE49-F238E27FC236}">
                <a16:creationId xmlns:a16="http://schemas.microsoft.com/office/drawing/2014/main" id="{B67B1896-3796-4F02-A7A7-48767C686A75}"/>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All 25 strict wrong answers had required support and matched another supplied fact’s value.</a:t>
            </a:r>
          </a:p>
        </p:txBody>
      </p:sp>
      <p:sp>
        <p:nvSpPr>
          <p:cNvPr id="3" name="20">
            <a:extLst xmlns:a="http://schemas.openxmlformats.org/drawingml/2006/main">
              <a:ext uri="{FF2B5EF4-FFF2-40B4-BE49-F238E27FC236}">
                <a16:creationId xmlns:a16="http://schemas.microsoft.com/office/drawing/2014/main" id="{0997D905-699F-4E72-AA26-FEBD9225B516}"/>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F3C7C34B-5571-445D-9157-9EF3A206E2EC}"/>
              </a:ext>
            </a:extLst>
          </p:cNvPr>
          <p:cNvGraphicFramePr/>
          <p:nvPr/>
        </p:nvGraphicFramePr>
        <p:xfrm>
          <a:off xmlns:a="http://schemas.openxmlformats.org/drawingml/2006/main" x="628650" y="1828800"/>
          <a:ext xmlns:a="http://schemas.openxmlformats.org/drawingml/2006/main" cx="5000625" cy="3952875"/>
        </p:xfrm>
        <a:graphic xmlns:a="http://schemas.openxmlformats.org/drawingml/2006/main">
          <a:graphicData uri="http://schemas.openxmlformats.org/drawingml/2006/table">
            <a:tbl>
              <a:tblPr/>
              <a:tblGrid>
                <a:gridCol w="3905250"/>
                <a:gridCol w="1095375"/>
              </a:tblGrid>
              <a:tr h="564696">
                <a:tc>
                  <a:txBody>
                    <a:bodyPr lIns="95250" tIns="95250" rIns="95250" bIns="95250"/>
                    <a:lstStyle/>
                    <a:p>
                      <a:r>
                        <a:rPr sz="1800" b="1">
                          <a:solidFill>
                            <a:srgbClr val="152B2B"/>
                          </a:solidFill>
                          <a:latin typeface="Calibri"/>
                          <a:ea typeface="Calibri"/>
                          <a:cs typeface="Calibri"/>
                        </a:rPr>
                        <a:t>Endorsed off-target fact</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Cases</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64696">
                <a:tc>
                  <a:txBody>
                    <a:bodyPr lIns="95250" tIns="95250" rIns="95250" bIns="95250"/>
                    <a:lstStyle/>
                    <a:p>
                      <a:r>
                        <a:rPr sz="1800" b="0">
                          <a:solidFill>
                            <a:srgbClr val="152B2B"/>
                          </a:solidFill>
                          <a:latin typeface="Calibri"/>
                          <a:ea typeface="Calibri"/>
                          <a:cs typeface="Calibri"/>
                        </a:rPr>
                        <a:t>Pro-service owner</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15</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Release-2 owner</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Unrelated office city</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Previous owner contact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Hosting region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Contact instead of owner</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Garnet Relay, release 2">
            <a:extLst xmlns:a="http://schemas.openxmlformats.org/drawingml/2006/main">
              <a:ext uri="{FF2B5EF4-FFF2-40B4-BE49-F238E27FC236}">
                <a16:creationId xmlns:a16="http://schemas.microsoft.com/office/drawing/2014/main" id="{FF6C2136-58E9-4461-8B7A-5618E1C3DFEC}"/>
              </a:ext>
            </a:extLst>
          </p:cNvPr>
          <p:cNvSpPr>
            <a:spLocks xmlns:a="http://schemas.openxmlformats.org/drawingml/2006/main" noGrp="1"/>
          </p:cNvSpPr>
          <p:nvPr/>
        </p:nvSpPr>
        <p:spPr>
          <a:xfrm xmlns:a="http://schemas.openxmlformats.org/drawingml/2006/main">
            <a:off x="6572250" y="18288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Garnet Relay, release 2</a:t>
            </a:r>
          </a:p>
        </p:txBody>
      </p:sp>
      <p:sp>
        <p:nvSpPr>
          <p:cNvPr id="6" name="Requested fact f1&#10;Silver unit 77">
            <a:extLst xmlns:a="http://schemas.openxmlformats.org/drawingml/2006/main">
              <a:ext uri="{FF2B5EF4-FFF2-40B4-BE49-F238E27FC236}">
                <a16:creationId xmlns:a16="http://schemas.microsoft.com/office/drawing/2014/main" id="{7D4FD133-E303-4AC6-81C7-8600D15E9458}"/>
              </a:ext>
            </a:extLst>
          </p:cNvPr>
          <p:cNvSpPr>
            <a:spLocks xmlns:a="http://schemas.openxmlformats.org/drawingml/2006/main" noGrp="1"/>
          </p:cNvSpPr>
          <p:nvPr/>
        </p:nvSpPr>
        <p:spPr>
          <a:xfrm xmlns:a="http://schemas.openxmlformats.org/drawingml/2006/main">
            <a:off x="6572250" y="24098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Requested fact f1</a:t>
            </a:r>
          </a:p>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Silver unit 77</a:t>
            </a:r>
          </a:p>
        </p:txBody>
      </p:sp>
      <p:sp>
        <p:nvSpPr>
          <p:cNvPr id="7" name="Pro-service fact f5&#10;Saffron unit 137">
            <a:extLst xmlns:a="http://schemas.openxmlformats.org/drawingml/2006/main">
              <a:ext uri="{FF2B5EF4-FFF2-40B4-BE49-F238E27FC236}">
                <a16:creationId xmlns:a16="http://schemas.microsoft.com/office/drawing/2014/main" id="{D926B31C-C8DE-49EE-ADB8-0EAAD74D9709}"/>
              </a:ext>
            </a:extLst>
          </p:cNvPr>
          <p:cNvSpPr>
            <a:spLocks xmlns:a="http://schemas.openxmlformats.org/drawingml/2006/main" noGrp="1"/>
          </p:cNvSpPr>
          <p:nvPr/>
        </p:nvSpPr>
        <p:spPr>
          <a:xfrm xmlns:a="http://schemas.openxmlformats.org/drawingml/2006/main">
            <a:off x="6572250" y="36290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B8675C"/>
                </a:solidFill>
                <a:latin typeface="Calibri"/>
                <a:ea typeface="Calibri"/>
                <a:cs typeface="Calibri"/>
              </a:defRPr>
            </a:defPPr>
            <a:lvl1pPr algn="l">
              <a:defRPr sz="2175" b="1">
                <a:solidFill>
                  <a:srgbClr val="B8675C"/>
                </a:solidFill>
                <a:latin typeface="Calibri"/>
                <a:ea typeface="Calibri"/>
                <a:cs typeface="Calibri"/>
              </a:defRPr>
            </a:lvl1pPr>
            <a:lvl2pPr algn="l">
              <a:defRPr sz="2175" b="1">
                <a:solidFill>
                  <a:srgbClr val="B8675C"/>
                </a:solidFill>
                <a:latin typeface="Calibri"/>
                <a:ea typeface="Calibri"/>
                <a:cs typeface="Calibri"/>
              </a:defRPr>
            </a:lvl2pPr>
            <a:lvl3pPr algn="l">
              <a:defRPr sz="2175" b="1">
                <a:solidFill>
                  <a:srgbClr val="B8675C"/>
                </a:solidFill>
                <a:latin typeface="Calibri"/>
                <a:ea typeface="Calibri"/>
                <a:cs typeface="Calibri"/>
              </a:defRPr>
            </a:lvl3pPr>
            <a:lvl4pPr algn="l">
              <a:defRPr sz="2175" b="1">
                <a:solidFill>
                  <a:srgbClr val="B8675C"/>
                </a:solidFill>
                <a:latin typeface="Calibri"/>
                <a:ea typeface="Calibri"/>
                <a:cs typeface="Calibri"/>
              </a:defRPr>
            </a:lvl4pPr>
            <a:lvl5pPr algn="l">
              <a:defRPr sz="2175" b="1">
                <a:solidFill>
                  <a:srgbClr val="B8675C"/>
                </a:solidFill>
                <a:latin typeface="Calibri"/>
                <a:ea typeface="Calibri"/>
                <a:cs typeface="Calibri"/>
              </a:defRPr>
            </a:lvl5pPr>
            <a:lvl6pPr algn="l">
              <a:defRPr sz="2175" b="1">
                <a:solidFill>
                  <a:srgbClr val="B8675C"/>
                </a:solidFill>
                <a:latin typeface="Calibri"/>
                <a:ea typeface="Calibri"/>
                <a:cs typeface="Calibri"/>
              </a:defRPr>
            </a:lvl6pPr>
            <a:lvl7pPr algn="l">
              <a:defRPr sz="2175" b="1">
                <a:solidFill>
                  <a:srgbClr val="B8675C"/>
                </a:solidFill>
                <a:latin typeface="Calibri"/>
                <a:ea typeface="Calibri"/>
                <a:cs typeface="Calibri"/>
              </a:defRPr>
            </a:lvl7pPr>
            <a:lvl8pPr algn="l">
              <a:defRPr sz="2175" b="1">
                <a:solidFill>
                  <a:srgbClr val="B8675C"/>
                </a:solidFill>
                <a:latin typeface="Calibri"/>
                <a:ea typeface="Calibri"/>
                <a:cs typeface="Calibri"/>
              </a:defRPr>
            </a:lvl8pPr>
            <a:lvl9pPr algn="l">
              <a:defRPr sz="2175" b="1">
                <a:solidFill>
                  <a:srgbClr val="B8675C"/>
                </a:solidFill>
                <a:latin typeface="Calibri"/>
                <a:ea typeface="Calibri"/>
                <a:cs typeface="Calibri"/>
              </a:defRPr>
            </a:lvl9pPr>
          </a:lstStyle>
          <a:p xmlns:a="http://schemas.openxmlformats.org/drawingml/2006/main">
            <a:pPr algn="l">
              <a:defRPr sz="2175" b="1">
                <a:solidFill>
                  <a:srgbClr val="B8675C"/>
                </a:solidFill>
                <a:latin typeface="Calibri"/>
                <a:ea typeface="Calibri"/>
                <a:cs typeface="Calibri"/>
              </a:defRPr>
            </a:pPr>
            <a:r>
              <a:rPr sz="2175" b="1">
                <a:solidFill>
                  <a:srgbClr val="B8675C"/>
                </a:solidFill>
                <a:latin typeface="Calibri"/>
                <a:ea typeface="Calibri"/>
                <a:cs typeface="Calibri"/>
              </a:rPr>
              <a:t>Pro-service fact f5</a:t>
            </a:r>
          </a:p>
          <a:p xmlns:a="http://schemas.openxmlformats.org/drawingml/2006/main">
            <a:pPr algn="l">
              <a:defRPr sz="2175" b="1">
                <a:solidFill>
                  <a:srgbClr val="B8675C"/>
                </a:solidFill>
                <a:latin typeface="Calibri"/>
                <a:ea typeface="Calibri"/>
                <a:cs typeface="Calibri"/>
              </a:defRPr>
            </a:pPr>
            <a:r>
              <a:rPr sz="2175" b="1">
                <a:solidFill>
                  <a:srgbClr val="B8675C"/>
                </a:solidFill>
                <a:latin typeface="Calibri"/>
                <a:ea typeface="Calibri"/>
                <a:cs typeface="Calibri"/>
              </a:rPr>
              <a:t>Saffron unit 137</a:t>
            </a:r>
          </a:p>
        </p:txBody>
      </p:sp>
      <p:sp>
        <p:nvSpPr>
          <p:cNvPr id="8" name="The explanation names f5 as if it&#10;answered the requested service.">
            <a:extLst xmlns:a="http://schemas.openxmlformats.org/drawingml/2006/main">
              <a:ext uri="{FF2B5EF4-FFF2-40B4-BE49-F238E27FC236}">
                <a16:creationId xmlns:a16="http://schemas.microsoft.com/office/drawing/2014/main" id="{D2559F83-3C91-42E1-8410-C5BBB6445276}"/>
              </a:ext>
            </a:extLst>
          </p:cNvPr>
          <p:cNvSpPr>
            <a:spLocks xmlns:a="http://schemas.openxmlformats.org/drawingml/2006/main" noGrp="1"/>
          </p:cNvSpPr>
          <p:nvPr/>
        </p:nvSpPr>
        <p:spPr>
          <a:xfrm xmlns:a="http://schemas.openxmlformats.org/drawingml/2006/main">
            <a:off x="6572250" y="4972050"/>
            <a:ext cx="4953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The explanation names f5 as if it</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answered the requested service.</a:t>
            </a:r>
          </a:p>
        </p:txBody>
      </p:sp>
      <p:sp>
        <p:nvSpPr>
          <p:cNvPr id="9" name="Post-hoc output association diagnosis, not proof of an internal attent">
            <a:extLst xmlns:a="http://schemas.openxmlformats.org/drawingml/2006/main">
              <a:ext uri="{FF2B5EF4-FFF2-40B4-BE49-F238E27FC236}">
                <a16:creationId xmlns:a16="http://schemas.microsoft.com/office/drawing/2014/main" id="{509DA468-C2A2-4F9C-869B-4A71DECC06A5}"/>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Post-hoc output association diagnosis, not proof of an internal attention mechanism. No inference or scoring changes.</a:t>
            </a:r>
          </a:p>
        </p:txBody>
      </p:sp>
    </p:spTree>
    <p:extLst>
      <p:ext uri="{BB962C8B-B14F-4D97-AF65-F5344CB8AC3E}">
        <p14:creationId xmlns:p14="http://schemas.microsoft.com/office/powerpoint/2010/main" val="1118866376"/>
      </p:ext>
    </p:extLst>
  </p:cSld>
</p:sld>
</file>

<file path=ppt/slides/slide2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Qwen failures and strict-format mismatches">
            <a:extLst xmlns:a="http://schemas.openxmlformats.org/drawingml/2006/main">
              <a:ext uri="{FF2B5EF4-FFF2-40B4-BE49-F238E27FC236}">
                <a16:creationId xmlns:a16="http://schemas.microsoft.com/office/drawing/2014/main" id="{7AA1225D-B259-4C97-BA18-D9587AA8BF9B}"/>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Qwen failures and strict-format mismatches</a:t>
            </a:r>
          </a:p>
        </p:txBody>
      </p:sp>
      <p:sp>
        <p:nvSpPr>
          <p:cNvPr id="2" name="Failures can occur after complete supporting facts reach the prompt.">
            <a:extLst xmlns:a="http://schemas.openxmlformats.org/drawingml/2006/main">
              <a:ext uri="{FF2B5EF4-FFF2-40B4-BE49-F238E27FC236}">
                <a16:creationId xmlns:a16="http://schemas.microsoft.com/office/drawing/2014/main" id="{C6156787-3918-4464-B445-BAA57CA2CFD6}"/>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Failures can occur after complete supporting facts reach the prompt.</a:t>
            </a:r>
          </a:p>
        </p:txBody>
      </p:sp>
      <p:sp>
        <p:nvSpPr>
          <p:cNvPr id="3" name="21">
            <a:extLst xmlns:a="http://schemas.openxmlformats.org/drawingml/2006/main">
              <a:ext uri="{FF2B5EF4-FFF2-40B4-BE49-F238E27FC236}">
                <a16:creationId xmlns:a16="http://schemas.microsoft.com/office/drawing/2014/main" id="{FC54C97E-F54E-4AA9-8572-A15DDABAA7A0}"/>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ECEF9C33-A999-420F-A16B-55FB9F6ED25C}"/>
              </a:ext>
            </a:extLst>
          </p:cNvPr>
          <p:cNvGraphicFramePr/>
          <p:nvPr/>
        </p:nvGraphicFramePr>
        <p:xfrm>
          <a:off xmlns:a="http://schemas.openxmlformats.org/drawingml/2006/main" x="628650" y="1819275"/>
          <a:ext xmlns:a="http://schemas.openxmlformats.org/drawingml/2006/main" cx="10906125" cy="3067050"/>
        </p:xfrm>
        <a:graphic xmlns:a="http://schemas.openxmlformats.org/drawingml/2006/main">
          <a:graphicData uri="http://schemas.openxmlformats.org/drawingml/2006/table">
            <a:tbl>
              <a:tblPr/>
              <a:tblGrid>
                <a:gridCol w="5667375"/>
                <a:gridCol w="1666875"/>
                <a:gridCol w="1809750"/>
                <a:gridCol w="1762125"/>
              </a:tblGrid>
              <a:tr h="613410">
                <a:tc>
                  <a:txBody>
                    <a:bodyPr lIns="95250" tIns="95250" rIns="95250" bIns="95250"/>
                    <a:lstStyle/>
                    <a:p>
                      <a:r>
                        <a:rPr sz="1800" b="1">
                          <a:solidFill>
                            <a:srgbClr val="152B2B"/>
                          </a:solidFill>
                          <a:latin typeface="Calibri"/>
                          <a:ea typeface="Calibri"/>
                          <a:cs typeface="Calibri"/>
                        </a:rPr>
                        <a:t>Observed cohort</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Correct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UNKNOWN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Population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613410">
                <a:tc>
                  <a:txBody>
                    <a:bodyPr lIns="95250" tIns="95250" rIns="95250" bIns="95250"/>
                    <a:lstStyle/>
                    <a:p>
                      <a:r>
                        <a:rPr sz="1800" b="0">
                          <a:solidFill>
                            <a:srgbClr val="152B2B"/>
                          </a:solidFill>
                          <a:latin typeface="Calibri"/>
                          <a:ea typeface="Calibri"/>
                          <a:cs typeface="Calibri"/>
                        </a:rPr>
                        <a:t>Original two-hop paraphrases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17</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15</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3410">
                <a:tc>
                  <a:txBody>
                    <a:bodyPr lIns="95250" tIns="95250" rIns="95250" bIns="95250"/>
                    <a:lstStyle/>
                    <a:p>
                      <a:r>
                        <a:rPr sz="1800" b="0">
                          <a:solidFill>
                            <a:srgbClr val="152B2B"/>
                          </a:solidFill>
                          <a:latin typeface="Calibri"/>
                          <a:ea typeface="Calibri"/>
                          <a:cs typeface="Calibri"/>
                        </a:rPr>
                        <a:t>Depth direct two-hop template 1</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7</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9</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3410">
                <a:tc>
                  <a:txBody>
                    <a:bodyPr lIns="95250" tIns="95250" rIns="95250" bIns="95250"/>
                    <a:lstStyle/>
                    <a:p>
                      <a:r>
                        <a:rPr sz="1800" b="0">
                          <a:solidFill>
                            <a:srgbClr val="152B2B"/>
                          </a:solidFill>
                          <a:latin typeface="Calibri"/>
                          <a:ea typeface="Calibri"/>
                          <a:cs typeface="Calibri"/>
                        </a:rPr>
                        <a:t>Other depth direct two-hop templates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23</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0</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23</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13410">
                <a:tc>
                  <a:txBody>
                    <a:bodyPr lIns="95250" tIns="95250" rIns="95250" bIns="95250"/>
                    <a:lstStyle/>
                    <a:p>
                      <a:r>
                        <a:rPr sz="1800" b="0">
                          <a:solidFill>
                            <a:srgbClr val="152B2B"/>
                          </a:solidFill>
                          <a:latin typeface="Calibri"/>
                          <a:ea typeface="Calibri"/>
                          <a:cs typeface="Calibri"/>
                        </a:rPr>
                        <a:t>Depth three-hop paraphrases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31</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Full-memory Qwen has a different error profile">
            <a:extLst xmlns:a="http://schemas.openxmlformats.org/drawingml/2006/main">
              <a:ext uri="{FF2B5EF4-FFF2-40B4-BE49-F238E27FC236}">
                <a16:creationId xmlns:a16="http://schemas.microsoft.com/office/drawing/2014/main" id="{90D6981E-3206-43E5-8780-A3783A65E40C}"/>
              </a:ext>
            </a:extLst>
          </p:cNvPr>
          <p:cNvSpPr>
            <a:spLocks xmlns:a="http://schemas.openxmlformats.org/drawingml/2006/main" noGrp="1"/>
          </p:cNvSpPr>
          <p:nvPr/>
        </p:nvSpPr>
        <p:spPr>
          <a:xfrm xmlns:a="http://schemas.openxmlformats.org/drawingml/2006/main">
            <a:off x="647700" y="5000625"/>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Full-memory Qwen has a different error profile</a:t>
            </a:r>
          </a:p>
        </p:txBody>
      </p:sp>
      <p:sp>
        <p:nvSpPr>
          <p:cNvPr id="6" name="10 off-target values + 2 correct chains with extra text + 1 contaminat">
            <a:extLst xmlns:a="http://schemas.openxmlformats.org/drawingml/2006/main">
              <a:ext uri="{FF2B5EF4-FFF2-40B4-BE49-F238E27FC236}">
                <a16:creationId xmlns:a16="http://schemas.microsoft.com/office/drawing/2014/main" id="{6C3AA9A8-BF7C-4AB6-A575-D3C004E15076}"/>
              </a:ext>
            </a:extLst>
          </p:cNvPr>
          <p:cNvSpPr>
            <a:spLocks xmlns:a="http://schemas.openxmlformats.org/drawingml/2006/main" noGrp="1"/>
          </p:cNvSpPr>
          <p:nvPr/>
        </p:nvSpPr>
        <p:spPr>
          <a:xfrm xmlns:a="http://schemas.openxmlformats.org/drawingml/2006/main">
            <a:off x="647700" y="5505450"/>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B2B"/>
                </a:solidFill>
                <a:latin typeface="Calibri"/>
                <a:ea typeface="Calibri"/>
                <a:cs typeface="Calibri"/>
              </a:defRPr>
            </a:defPPr>
            <a:lvl1pPr algn="l">
              <a:defRPr sz="1875" b="0">
                <a:solidFill>
                  <a:srgbClr val="152B2B"/>
                </a:solidFill>
                <a:latin typeface="Calibri"/>
                <a:ea typeface="Calibri"/>
                <a:cs typeface="Calibri"/>
              </a:defRPr>
            </a:lvl1pPr>
            <a:lvl2pPr algn="l">
              <a:defRPr sz="1875" b="0">
                <a:solidFill>
                  <a:srgbClr val="152B2B"/>
                </a:solidFill>
                <a:latin typeface="Calibri"/>
                <a:ea typeface="Calibri"/>
                <a:cs typeface="Calibri"/>
              </a:defRPr>
            </a:lvl2pPr>
            <a:lvl3pPr algn="l">
              <a:defRPr sz="1875" b="0">
                <a:solidFill>
                  <a:srgbClr val="152B2B"/>
                </a:solidFill>
                <a:latin typeface="Calibri"/>
                <a:ea typeface="Calibri"/>
                <a:cs typeface="Calibri"/>
              </a:defRPr>
            </a:lvl3pPr>
            <a:lvl4pPr algn="l">
              <a:defRPr sz="1875" b="0">
                <a:solidFill>
                  <a:srgbClr val="152B2B"/>
                </a:solidFill>
                <a:latin typeface="Calibri"/>
                <a:ea typeface="Calibri"/>
                <a:cs typeface="Calibri"/>
              </a:defRPr>
            </a:lvl4pPr>
            <a:lvl5pPr algn="l">
              <a:defRPr sz="1875" b="0">
                <a:solidFill>
                  <a:srgbClr val="152B2B"/>
                </a:solidFill>
                <a:latin typeface="Calibri"/>
                <a:ea typeface="Calibri"/>
                <a:cs typeface="Calibri"/>
              </a:defRPr>
            </a:lvl5pPr>
            <a:lvl6pPr algn="l">
              <a:defRPr sz="1875" b="0">
                <a:solidFill>
                  <a:srgbClr val="152B2B"/>
                </a:solidFill>
                <a:latin typeface="Calibri"/>
                <a:ea typeface="Calibri"/>
                <a:cs typeface="Calibri"/>
              </a:defRPr>
            </a:lvl6pPr>
            <a:lvl7pPr algn="l">
              <a:defRPr sz="1875" b="0">
                <a:solidFill>
                  <a:srgbClr val="152B2B"/>
                </a:solidFill>
                <a:latin typeface="Calibri"/>
                <a:ea typeface="Calibri"/>
                <a:cs typeface="Calibri"/>
              </a:defRPr>
            </a:lvl7pPr>
            <a:lvl8pPr algn="l">
              <a:defRPr sz="1875" b="0">
                <a:solidFill>
                  <a:srgbClr val="152B2B"/>
                </a:solidFill>
                <a:latin typeface="Calibri"/>
                <a:ea typeface="Calibri"/>
                <a:cs typeface="Calibri"/>
              </a:defRPr>
            </a:lvl8pPr>
            <a:lvl9pPr algn="l">
              <a:defRPr sz="1875" b="0">
                <a:solidFill>
                  <a:srgbClr val="152B2B"/>
                </a:solidFill>
                <a:latin typeface="Calibri"/>
                <a:ea typeface="Calibri"/>
                <a:cs typeface="Calibri"/>
              </a:defRPr>
            </a:lvl9pPr>
          </a:lstStyle>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10 off-target values + 2 correct chains with extra text + 1 contaminated chain.</a:t>
            </a:r>
          </a:p>
          <a:p xmlns:a="http://schemas.openxmlformats.org/drawingml/2006/main">
            <a:pPr algn="l">
              <a:defRPr sz="1875" b="0">
                <a:solidFill>
                  <a:srgbClr val="152B2B"/>
                </a:solidFill>
                <a:latin typeface="Calibri"/>
                <a:ea typeface="Calibri"/>
                <a:cs typeface="Calibri"/>
              </a:defRPr>
            </a:pPr>
            <a:r>
              <a:rPr sz="1875" b="0">
                <a:solidFill>
                  <a:srgbClr val="152B2B"/>
                </a:solidFill>
                <a:latin typeface="Calibri"/>
                <a:ea typeface="Calibri"/>
                <a:cs typeface="Calibri"/>
              </a:rPr>
              <a:t>All 13 remain strict mismatches. Two additional UNKNOWN responses.</a:t>
            </a:r>
          </a:p>
        </p:txBody>
      </p:sp>
      <p:sp>
        <p:nvSpPr>
          <p:cNvPr id="7" name="Frozen, nonrandomized wording groups. All 63 updated-method nonsuccess">
            <a:extLst xmlns:a="http://schemas.openxmlformats.org/drawingml/2006/main">
              <a:ext uri="{FF2B5EF4-FFF2-40B4-BE49-F238E27FC236}">
                <a16:creationId xmlns:a16="http://schemas.microsoft.com/office/drawing/2014/main" id="{0F27A77A-C3E3-48A6-B595-AB815369411A}"/>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Frozen, nonrandomized wording groups. All 63 updated-method nonsuccesses received their required supporting facts.</a:t>
            </a:r>
          </a:p>
        </p:txBody>
      </p:sp>
    </p:spTree>
    <p:extLst>
      <p:ext uri="{BB962C8B-B14F-4D97-AF65-F5344CB8AC3E}">
        <p14:creationId xmlns:p14="http://schemas.microsoft.com/office/powerpoint/2010/main" val="1480251918"/>
      </p:ext>
    </p:extLst>
  </p:cSld>
</p:sld>
</file>

<file path=ppt/slides/slide2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Retrieval support and preserved locality">
            <a:extLst xmlns:a="http://schemas.openxmlformats.org/drawingml/2006/main">
              <a:ext uri="{FF2B5EF4-FFF2-40B4-BE49-F238E27FC236}">
                <a16:creationId xmlns:a16="http://schemas.microsoft.com/office/drawing/2014/main" id="{1359E336-0AB6-48C6-9E84-7730420AB9AF}"/>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Retrieval support and preserved locality</a:t>
            </a:r>
          </a:p>
        </p:txBody>
      </p:sp>
      <p:sp>
        <p:nvSpPr>
          <p:cNvPr id="2" name="Reason-KE++ original-study locality: preservation and factual accuracy">
            <a:extLst xmlns:a="http://schemas.openxmlformats.org/drawingml/2006/main">
              <a:ext uri="{FF2B5EF4-FFF2-40B4-BE49-F238E27FC236}">
                <a16:creationId xmlns:a16="http://schemas.microsoft.com/office/drawing/2014/main" id="{CFD9F370-2DAF-42D5-9C15-98B04A8A978A}"/>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Reason-KE++ original-study locality: preservation and factual accuracy use different denominators.</a:t>
            </a:r>
          </a:p>
        </p:txBody>
      </p:sp>
      <p:sp>
        <p:nvSpPr>
          <p:cNvPr id="3" name="22">
            <a:extLst xmlns:a="http://schemas.openxmlformats.org/drawingml/2006/main">
              <a:ext uri="{FF2B5EF4-FFF2-40B4-BE49-F238E27FC236}">
                <a16:creationId xmlns:a16="http://schemas.microsoft.com/office/drawing/2014/main" id="{920466E9-A9A8-4BA9-8D2A-8A691B5D1199}"/>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22</a:t>
            </a:r>
          </a:p>
        </p:txBody>
      </p:sp>
      <p:graphicFrame>
        <p:nvGraphicFramePr>
          <p:cNvPr id="4" name="Chart">
            <a:extLst xmlns:a="http://schemas.openxmlformats.org/drawingml/2006/main">
              <a:ext uri="{FF2B5EF4-FFF2-40B4-BE49-F238E27FC236}">
                <a16:creationId xmlns:a16="http://schemas.microsoft.com/office/drawing/2014/main" id="{270ABFD9-A81C-404C-80B7-52BF0DADAA29}"/>
              </a:ext>
            </a:extLst>
          </p:cNvPr>
          <p:cNvGraphicFramePr/>
          <p:nvPr/>
        </p:nvGraphicFramePr>
        <p:xfrm>
          <a:off xmlns:a="http://schemas.openxmlformats.org/drawingml/2006/main" x="590550" y="180975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752db89d01ea4556"/>
          </a:graphicData>
        </a:graphic>
      </p:graphicFrame>
      <p:sp>
        <p:nvSpPr>
          <p:cNvPr id="5" name="Supplied required support">
            <a:extLst xmlns:a="http://schemas.openxmlformats.org/drawingml/2006/main">
              <a:ext uri="{FF2B5EF4-FFF2-40B4-BE49-F238E27FC236}">
                <a16:creationId xmlns:a16="http://schemas.microsoft.com/office/drawing/2014/main" id="{1A3E5813-B68A-46C0-A6C9-022D895F9822}"/>
              </a:ext>
            </a:extLst>
          </p:cNvPr>
          <p:cNvSpPr>
            <a:spLocks xmlns:a="http://schemas.openxmlformats.org/drawingml/2006/main" noGrp="1"/>
          </p:cNvSpPr>
          <p:nvPr/>
        </p:nvSpPr>
        <p:spPr>
          <a:xfrm xmlns:a="http://schemas.openxmlformats.org/drawingml/2006/main">
            <a:off x="8210550"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Supplied required support</a:t>
            </a:r>
          </a:p>
        </p:txBody>
      </p:sp>
      <p:sp>
        <p:nvSpPr>
          <p:cNvPr id="6" name="Original: 320/320 facts&#10;64/64 complete two-hop paths&#10;&#10;Depth: 448/448 f">
            <a:extLst xmlns:a="http://schemas.openxmlformats.org/drawingml/2006/main">
              <a:ext uri="{FF2B5EF4-FFF2-40B4-BE49-F238E27FC236}">
                <a16:creationId xmlns:a16="http://schemas.microsoft.com/office/drawing/2014/main" id="{C1A93E95-1839-410B-9CCF-8D800BBF8BF7}"/>
              </a:ext>
            </a:extLst>
          </p:cNvPr>
          <p:cNvSpPr>
            <a:spLocks xmlns:a="http://schemas.openxmlformats.org/drawingml/2006/main" noGrp="1"/>
          </p:cNvSpPr>
          <p:nvPr/>
        </p:nvSpPr>
        <p:spPr>
          <a:xfrm xmlns:a="http://schemas.openxmlformats.org/drawingml/2006/main">
            <a:off x="8210550" y="2476500"/>
            <a:ext cx="333375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Original: 320/320 facts</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64/64 complete two-hop paths</a:t>
            </a:r>
          </a:p>
          <a:p xmlns:a="http://schemas.openxmlformats.org/drawingml/2006/main">
            <a:r>
              <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Depth: 448/448 facts</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256/256 complete main paths</a:t>
            </a:r>
          </a:p>
        </p:txBody>
      </p:sp>
      <p:sp>
        <p:nvSpPr>
          <p:cNvPr id="7" name="Shared selector per study.&#10;No independent duplicate&#10;retrieval sample p">
            <a:extLst xmlns:a="http://schemas.openxmlformats.org/drawingml/2006/main">
              <a:ext uri="{FF2B5EF4-FFF2-40B4-BE49-F238E27FC236}">
                <a16:creationId xmlns:a16="http://schemas.microsoft.com/office/drawing/2014/main" id="{F9B14AA9-865C-4B53-8211-1150EA449810}"/>
              </a:ext>
            </a:extLst>
          </p:cNvPr>
          <p:cNvSpPr>
            <a:spLocks xmlns:a="http://schemas.openxmlformats.org/drawingml/2006/main" noGrp="1"/>
          </p:cNvSpPr>
          <p:nvPr/>
        </p:nvSpPr>
        <p:spPr>
          <a:xfrm xmlns:a="http://schemas.openxmlformats.org/drawingml/2006/main">
            <a:off x="8210550" y="52006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26464"/>
                </a:solidFill>
                <a:latin typeface="Calibri"/>
                <a:ea typeface="Calibri"/>
                <a:cs typeface="Calibri"/>
              </a:defRPr>
            </a:defPPr>
            <a:lvl1pPr algn="l">
              <a:defRPr sz="1725" b="0">
                <a:solidFill>
                  <a:srgbClr val="526464"/>
                </a:solidFill>
                <a:latin typeface="Calibri"/>
                <a:ea typeface="Calibri"/>
                <a:cs typeface="Calibri"/>
              </a:defRPr>
            </a:lvl1pPr>
            <a:lvl2pPr algn="l">
              <a:defRPr sz="1725" b="0">
                <a:solidFill>
                  <a:srgbClr val="526464"/>
                </a:solidFill>
                <a:latin typeface="Calibri"/>
                <a:ea typeface="Calibri"/>
                <a:cs typeface="Calibri"/>
              </a:defRPr>
            </a:lvl2pPr>
            <a:lvl3pPr algn="l">
              <a:defRPr sz="1725" b="0">
                <a:solidFill>
                  <a:srgbClr val="526464"/>
                </a:solidFill>
                <a:latin typeface="Calibri"/>
                <a:ea typeface="Calibri"/>
                <a:cs typeface="Calibri"/>
              </a:defRPr>
            </a:lvl3pPr>
            <a:lvl4pPr algn="l">
              <a:defRPr sz="1725" b="0">
                <a:solidFill>
                  <a:srgbClr val="526464"/>
                </a:solidFill>
                <a:latin typeface="Calibri"/>
                <a:ea typeface="Calibri"/>
                <a:cs typeface="Calibri"/>
              </a:defRPr>
            </a:lvl4pPr>
            <a:lvl5pPr algn="l">
              <a:defRPr sz="1725" b="0">
                <a:solidFill>
                  <a:srgbClr val="526464"/>
                </a:solidFill>
                <a:latin typeface="Calibri"/>
                <a:ea typeface="Calibri"/>
                <a:cs typeface="Calibri"/>
              </a:defRPr>
            </a:lvl5pPr>
            <a:lvl6pPr algn="l">
              <a:defRPr sz="1725" b="0">
                <a:solidFill>
                  <a:srgbClr val="526464"/>
                </a:solidFill>
                <a:latin typeface="Calibri"/>
                <a:ea typeface="Calibri"/>
                <a:cs typeface="Calibri"/>
              </a:defRPr>
            </a:lvl6pPr>
            <a:lvl7pPr algn="l">
              <a:defRPr sz="1725" b="0">
                <a:solidFill>
                  <a:srgbClr val="526464"/>
                </a:solidFill>
                <a:latin typeface="Calibri"/>
                <a:ea typeface="Calibri"/>
                <a:cs typeface="Calibri"/>
              </a:defRPr>
            </a:lvl7pPr>
            <a:lvl8pPr algn="l">
              <a:defRPr sz="1725" b="0">
                <a:solidFill>
                  <a:srgbClr val="526464"/>
                </a:solidFill>
                <a:latin typeface="Calibri"/>
                <a:ea typeface="Calibri"/>
                <a:cs typeface="Calibri"/>
              </a:defRPr>
            </a:lvl8pPr>
            <a:lvl9pPr algn="l">
              <a:defRPr sz="1725" b="0">
                <a:solidFill>
                  <a:srgbClr val="526464"/>
                </a:solidFill>
                <a:latin typeface="Calibri"/>
                <a:ea typeface="Calibri"/>
                <a:cs typeface="Calibri"/>
              </a:defRPr>
            </a:lvl9pPr>
          </a:lstStyle>
          <a:p xmlns:a="http://schemas.openxmlformats.org/drawingml/2006/main">
            <a:pPr algn="l">
              <a:defRPr sz="1725" b="0">
                <a:solidFill>
                  <a:srgbClr val="526464"/>
                </a:solidFill>
                <a:latin typeface="Calibri"/>
                <a:ea typeface="Calibri"/>
                <a:cs typeface="Calibri"/>
              </a:defRPr>
            </a:pPr>
            <a:r>
              <a:rPr sz="1725" b="0">
                <a:solidFill>
                  <a:srgbClr val="526464"/>
                </a:solidFill>
                <a:latin typeface="Calibri"/>
                <a:ea typeface="Calibri"/>
                <a:cs typeface="Calibri"/>
              </a:rPr>
              <a:t>Shared selector per study.</a:t>
            </a:r>
          </a:p>
          <a:p xmlns:a="http://schemas.openxmlformats.org/drawingml/2006/main">
            <a:pPr algn="l">
              <a:defRPr sz="1725" b="0">
                <a:solidFill>
                  <a:srgbClr val="526464"/>
                </a:solidFill>
                <a:latin typeface="Calibri"/>
                <a:ea typeface="Calibri"/>
                <a:cs typeface="Calibri"/>
              </a:defRPr>
            </a:pPr>
            <a:r>
              <a:rPr sz="1725" b="0">
                <a:solidFill>
                  <a:srgbClr val="526464"/>
                </a:solidFill>
                <a:latin typeface="Calibri"/>
                <a:ea typeface="Calibri"/>
                <a:cs typeface="Calibri"/>
              </a:rPr>
              <a:t>No independent duplicate</a:t>
            </a:r>
          </a:p>
          <a:p xmlns:a="http://schemas.openxmlformats.org/drawingml/2006/main">
            <a:pPr algn="l">
              <a:defRPr sz="1725" b="0">
                <a:solidFill>
                  <a:srgbClr val="526464"/>
                </a:solidFill>
                <a:latin typeface="Calibri"/>
                <a:ea typeface="Calibri"/>
                <a:cs typeface="Calibri"/>
              </a:defRPr>
            </a:pPr>
            <a:r>
              <a:rPr sz="1725" b="0">
                <a:solidFill>
                  <a:srgbClr val="526464"/>
                </a:solidFill>
                <a:latin typeface="Calibri"/>
                <a:ea typeface="Calibri"/>
                <a:cs typeface="Calibri"/>
              </a:rPr>
              <a:t>retrieval sample per model.</a:t>
            </a:r>
          </a:p>
        </p:txBody>
      </p:sp>
      <p:sp>
        <p:nvSpPr>
          <p:cNvPr id="8" name="Depth locality: 64/64 correct per model. It has no initial-base condit">
            <a:extLst xmlns:a="http://schemas.openxmlformats.org/drawingml/2006/main">
              <a:ext uri="{FF2B5EF4-FFF2-40B4-BE49-F238E27FC236}">
                <a16:creationId xmlns:a16="http://schemas.microsoft.com/office/drawing/2014/main" id="{2EB8EECC-0AF3-42AC-B77B-41866FE5E02E}"/>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Depth locality: 64/64 correct per model. It has no initial-base condition for an independent preservation estimate.</a:t>
            </a:r>
          </a:p>
        </p:txBody>
      </p:sp>
    </p:spTree>
    <p:extLst>
      <p:ext uri="{BB962C8B-B14F-4D97-AF65-F5344CB8AC3E}">
        <p14:creationId xmlns:p14="http://schemas.microsoft.com/office/powerpoint/2010/main" val="1233349541"/>
      </p:ext>
    </p:extLst>
  </p:cSld>
</p:sld>
</file>

<file path=ppt/slides/slide2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The measured accuracy–latency tradeoff">
            <a:extLst xmlns:a="http://schemas.openxmlformats.org/drawingml/2006/main">
              <a:ext uri="{FF2B5EF4-FFF2-40B4-BE49-F238E27FC236}">
                <a16:creationId xmlns:a16="http://schemas.microsoft.com/office/drawing/2014/main" id="{CFB2DFDF-275C-42BA-8BC4-EBED07E66334}"/>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The measured accuracy–latency tradeoff</a:t>
            </a:r>
          </a:p>
        </p:txBody>
      </p:sp>
      <p:sp>
        <p:nvSpPr>
          <p:cNvPr id="2" name="Warm pipeline timing, n=256 generated requests per condition, includin">
            <a:extLst xmlns:a="http://schemas.openxmlformats.org/drawingml/2006/main">
              <a:ext uri="{FF2B5EF4-FFF2-40B4-BE49-F238E27FC236}">
                <a16:creationId xmlns:a16="http://schemas.microsoft.com/office/drawing/2014/main" id="{2F3CDE1C-BDD8-4D7B-8CBE-76FDA535491D}"/>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Warm pipeline timing, n=256 generated requests per condition, including abstentions.</a:t>
            </a:r>
          </a:p>
        </p:txBody>
      </p:sp>
      <p:sp>
        <p:nvSpPr>
          <p:cNvPr id="3" name="23">
            <a:extLst xmlns:a="http://schemas.openxmlformats.org/drawingml/2006/main">
              <a:ext uri="{FF2B5EF4-FFF2-40B4-BE49-F238E27FC236}">
                <a16:creationId xmlns:a16="http://schemas.microsoft.com/office/drawing/2014/main" id="{2AF9F899-CCF2-443B-B2F6-84967664F06C}"/>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23</a:t>
            </a:r>
          </a:p>
        </p:txBody>
      </p:sp>
      <p:graphicFrame>
        <p:nvGraphicFramePr>
          <p:cNvPr id="4" name="Chart">
            <a:extLst xmlns:a="http://schemas.openxmlformats.org/drawingml/2006/main">
              <a:ext uri="{FF2B5EF4-FFF2-40B4-BE49-F238E27FC236}">
                <a16:creationId xmlns:a16="http://schemas.microsoft.com/office/drawing/2014/main" id="{61DA01A0-462C-4F9F-85DC-03768148BF95}"/>
              </a:ext>
            </a:extLst>
          </p:cNvPr>
          <p:cNvGraphicFramePr/>
          <p:nvPr/>
        </p:nvGraphicFramePr>
        <p:xfrm>
          <a:off xmlns:a="http://schemas.openxmlformats.org/drawingml/2006/main" x="590550" y="1819275"/>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2424fc56490e4699"/>
          </a:graphicData>
        </a:graphic>
      </p:graphicFrame>
      <p:sp>
        <p:nvSpPr>
          <p:cNvPr id="5" name="Retrieved answer coverage">
            <a:extLst xmlns:a="http://schemas.openxmlformats.org/drawingml/2006/main">
              <a:ext uri="{FF2B5EF4-FFF2-40B4-BE49-F238E27FC236}">
                <a16:creationId xmlns:a16="http://schemas.microsoft.com/office/drawing/2014/main" id="{D99A4B48-3BC8-4D3A-A072-AD3B90AA9DD5}"/>
              </a:ext>
            </a:extLst>
          </p:cNvPr>
          <p:cNvSpPr>
            <a:spLocks xmlns:a="http://schemas.openxmlformats.org/drawingml/2006/main" noGrp="1"/>
          </p:cNvSpPr>
          <p:nvPr/>
        </p:nvSpPr>
        <p:spPr>
          <a:xfrm xmlns:a="http://schemas.openxmlformats.org/drawingml/2006/main">
            <a:off x="8496300" y="1857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Retrieved answer coverage</a:t>
            </a:r>
          </a:p>
        </p:txBody>
      </p:sp>
      <p:sp>
        <p:nvSpPr>
          <p:cNvPr id="6" name="Original&#10;100% vs 94.14%&#10;&#10;Depth&#10;100% vs 96.88%">
            <a:extLst xmlns:a="http://schemas.openxmlformats.org/drawingml/2006/main">
              <a:ext uri="{FF2B5EF4-FFF2-40B4-BE49-F238E27FC236}">
                <a16:creationId xmlns:a16="http://schemas.microsoft.com/office/drawing/2014/main" id="{4FD87A69-59FD-43C7-A707-205340A1468E}"/>
              </a:ext>
            </a:extLst>
          </p:cNvPr>
          <p:cNvSpPr>
            <a:spLocks xmlns:a="http://schemas.openxmlformats.org/drawingml/2006/main" noGrp="1"/>
          </p:cNvSpPr>
          <p:nvPr/>
        </p:nvSpPr>
        <p:spPr>
          <a:xfrm xmlns:a="http://schemas.openxmlformats.org/drawingml/2006/main">
            <a:off x="8496300" y="2428875"/>
            <a:ext cx="304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52B2B"/>
                </a:solidFill>
                <a:latin typeface="Calibri"/>
                <a:ea typeface="Calibri"/>
                <a:cs typeface="Calibri"/>
              </a:defRPr>
            </a:defPPr>
            <a:lvl1pPr algn="l">
              <a:defRPr sz="2175" b="0">
                <a:solidFill>
                  <a:srgbClr val="152B2B"/>
                </a:solidFill>
                <a:latin typeface="Calibri"/>
                <a:ea typeface="Calibri"/>
                <a:cs typeface="Calibri"/>
              </a:defRPr>
            </a:lvl1pPr>
            <a:lvl2pPr algn="l">
              <a:defRPr sz="2175" b="0">
                <a:solidFill>
                  <a:srgbClr val="152B2B"/>
                </a:solidFill>
                <a:latin typeface="Calibri"/>
                <a:ea typeface="Calibri"/>
                <a:cs typeface="Calibri"/>
              </a:defRPr>
            </a:lvl2pPr>
            <a:lvl3pPr algn="l">
              <a:defRPr sz="2175" b="0">
                <a:solidFill>
                  <a:srgbClr val="152B2B"/>
                </a:solidFill>
                <a:latin typeface="Calibri"/>
                <a:ea typeface="Calibri"/>
                <a:cs typeface="Calibri"/>
              </a:defRPr>
            </a:lvl3pPr>
            <a:lvl4pPr algn="l">
              <a:defRPr sz="2175" b="0">
                <a:solidFill>
                  <a:srgbClr val="152B2B"/>
                </a:solidFill>
                <a:latin typeface="Calibri"/>
                <a:ea typeface="Calibri"/>
                <a:cs typeface="Calibri"/>
              </a:defRPr>
            </a:lvl4pPr>
            <a:lvl5pPr algn="l">
              <a:defRPr sz="2175" b="0">
                <a:solidFill>
                  <a:srgbClr val="152B2B"/>
                </a:solidFill>
                <a:latin typeface="Calibri"/>
                <a:ea typeface="Calibri"/>
                <a:cs typeface="Calibri"/>
              </a:defRPr>
            </a:lvl5pPr>
            <a:lvl6pPr algn="l">
              <a:defRPr sz="2175" b="0">
                <a:solidFill>
                  <a:srgbClr val="152B2B"/>
                </a:solidFill>
                <a:latin typeface="Calibri"/>
                <a:ea typeface="Calibri"/>
                <a:cs typeface="Calibri"/>
              </a:defRPr>
            </a:lvl6pPr>
            <a:lvl7pPr algn="l">
              <a:defRPr sz="2175" b="0">
                <a:solidFill>
                  <a:srgbClr val="152B2B"/>
                </a:solidFill>
                <a:latin typeface="Calibri"/>
                <a:ea typeface="Calibri"/>
                <a:cs typeface="Calibri"/>
              </a:defRPr>
            </a:lvl7pPr>
            <a:lvl8pPr algn="l">
              <a:defRPr sz="2175" b="0">
                <a:solidFill>
                  <a:srgbClr val="152B2B"/>
                </a:solidFill>
                <a:latin typeface="Calibri"/>
                <a:ea typeface="Calibri"/>
                <a:cs typeface="Calibri"/>
              </a:defRPr>
            </a:lvl8pPr>
            <a:lvl9pPr algn="l">
              <a:defRPr sz="2175" b="0">
                <a:solidFill>
                  <a:srgbClr val="152B2B"/>
                </a:solidFill>
                <a:latin typeface="Calibri"/>
                <a:ea typeface="Calibri"/>
                <a:cs typeface="Calibri"/>
              </a:defRPr>
            </a:lvl9pPr>
          </a:lstStyle>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Original</a:t>
            </a:r>
          </a:p>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100% vs 94.14%</a:t>
            </a:r>
          </a:p>
          <a:p xmlns:a="http://schemas.openxmlformats.org/drawingml/2006/main">
            <a:r>
              <a:t/>
            </a:r>
          </a:p>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Depth</a:t>
            </a:r>
          </a:p>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100% vs 96.88%</a:t>
            </a:r>
          </a:p>
        </p:txBody>
      </p:sp>
      <p:sp>
        <p:nvSpPr>
          <p:cNvPr id="7" name="Median output tokens&#10;Ops: 204 vs 5.5&#10;Depth: 212 vs 6">
            <a:extLst xmlns:a="http://schemas.openxmlformats.org/drawingml/2006/main">
              <a:ext uri="{FF2B5EF4-FFF2-40B4-BE49-F238E27FC236}">
                <a16:creationId xmlns:a16="http://schemas.microsoft.com/office/drawing/2014/main" id="{F9AEEEC0-D13F-4647-A007-033A781EB99E}"/>
              </a:ext>
            </a:extLst>
          </p:cNvPr>
          <p:cNvSpPr>
            <a:spLocks xmlns:a="http://schemas.openxmlformats.org/drawingml/2006/main" noGrp="1"/>
          </p:cNvSpPr>
          <p:nvPr/>
        </p:nvSpPr>
        <p:spPr>
          <a:xfrm xmlns:a="http://schemas.openxmlformats.org/drawingml/2006/main">
            <a:off x="8496300" y="5124450"/>
            <a:ext cx="304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Median output tokens</a:t>
            </a:r>
          </a:p>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Ops: 204 vs 5.5</a:t>
            </a:r>
          </a:p>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Depth: 212 vs 6</a:t>
            </a:r>
          </a:p>
        </p:txBody>
      </p:sp>
      <p:sp>
        <p:nvSpPr>
          <p:cNvPr id="8" name="Includes selection, local IPC and generation. Excludes cold load and b">
            <a:extLst xmlns:a="http://schemas.openxmlformats.org/drawingml/2006/main">
              <a:ext uri="{FF2B5EF4-FFF2-40B4-BE49-F238E27FC236}">
                <a16:creationId xmlns:a16="http://schemas.microsoft.com/office/drawing/2014/main" id="{439B4C12-15E9-4FA6-B86A-79B0613356D5}"/>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Includes selection, local IPC and generation. Excludes cold load and browser/network. R = Reason-KE++. Q = Qwen.</a:t>
            </a:r>
          </a:p>
        </p:txBody>
      </p:sp>
    </p:spTree>
    <p:extLst>
      <p:ext uri="{BB962C8B-B14F-4D97-AF65-F5344CB8AC3E}">
        <p14:creationId xmlns:p14="http://schemas.microsoft.com/office/powerpoint/2010/main" val="1769905392"/>
      </p:ext>
    </p:extLst>
  </p:cSld>
</p:sld>
</file>

<file path=ppt/slides/slide2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Correction editor and explicit authority">
            <a:extLst xmlns:a="http://schemas.openxmlformats.org/drawingml/2006/main">
              <a:ext uri="{FF2B5EF4-FFF2-40B4-BE49-F238E27FC236}">
                <a16:creationId xmlns:a16="http://schemas.microsoft.com/office/drawing/2014/main" id="{C294DD43-4B6E-40EA-88B6-203AEC83FA0D}"/>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Correction editor and explicit authority</a:t>
            </a:r>
          </a:p>
        </p:txBody>
      </p:sp>
      <p:sp>
        <p:nvSpPr>
          <p:cNvPr id="2" name="A draft changes nothing until explicit approval.">
            <a:extLst xmlns:a="http://schemas.openxmlformats.org/drawingml/2006/main">
              <a:ext uri="{FF2B5EF4-FFF2-40B4-BE49-F238E27FC236}">
                <a16:creationId xmlns:a16="http://schemas.microsoft.com/office/drawing/2014/main" id="{D4F93F24-ADC5-4000-935D-EDF0A53E7AC0}"/>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 draft changes nothing until explicit approval.</a:t>
            </a:r>
          </a:p>
        </p:txBody>
      </p:sp>
      <p:sp>
        <p:nvSpPr>
          <p:cNvPr id="3" name="24">
            <a:extLst xmlns:a="http://schemas.openxmlformats.org/drawingml/2006/main">
              <a:ext uri="{FF2B5EF4-FFF2-40B4-BE49-F238E27FC236}">
                <a16:creationId xmlns:a16="http://schemas.microsoft.com/office/drawing/2014/main" id="{F616223A-FAB0-429D-9F61-0E12476E3DD1}"/>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24</a:t>
            </a:r>
          </a:p>
        </p:txBody>
      </p:sp>
      <p:sp>
        <p:nvSpPr>
          <p:cNvPr id="4" name="Authority is visible">
            <a:extLst xmlns:a="http://schemas.openxmlformats.org/drawingml/2006/main">
              <a:ext uri="{FF2B5EF4-FFF2-40B4-BE49-F238E27FC236}">
                <a16:creationId xmlns:a16="http://schemas.microsoft.com/office/drawing/2014/main" id="{47193CB2-ECED-417A-AFCE-2E138C71AEEB}"/>
              </a:ext>
            </a:extLst>
          </p:cNvPr>
          <p:cNvSpPr>
            <a:spLocks xmlns:a="http://schemas.openxmlformats.org/drawingml/2006/main" noGrp="1"/>
          </p:cNvSpPr>
          <p:nvPr/>
        </p:nvSpPr>
        <p:spPr>
          <a:xfrm xmlns:a="http://schemas.openxmlformats.org/drawingml/2006/main">
            <a:off x="647700" y="18764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Authority is visible</a:t>
            </a:r>
          </a:p>
        </p:txBody>
      </p:sp>
      <p:sp>
        <p:nvSpPr>
          <p:cNvPr id="5" name="Active predecessor&#10;&#10;Replacement answer&#10;&#10;Explicit scope&#10;&#10;Recorded sourc">
            <a:extLst xmlns:a="http://schemas.openxmlformats.org/drawingml/2006/main">
              <a:ext uri="{FF2B5EF4-FFF2-40B4-BE49-F238E27FC236}">
                <a16:creationId xmlns:a16="http://schemas.microsoft.com/office/drawing/2014/main" id="{E6DD160E-82D8-4A36-8C96-42BEC6C17786}"/>
              </a:ext>
            </a:extLst>
          </p:cNvPr>
          <p:cNvSpPr>
            <a:spLocks xmlns:a="http://schemas.openxmlformats.org/drawingml/2006/main" noGrp="1"/>
          </p:cNvSpPr>
          <p:nvPr/>
        </p:nvSpPr>
        <p:spPr>
          <a:xfrm xmlns:a="http://schemas.openxmlformats.org/drawingml/2006/main">
            <a:off x="647700" y="2562225"/>
            <a:ext cx="300037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52B2B"/>
                </a:solidFill>
                <a:latin typeface="Calibri"/>
                <a:ea typeface="Calibri"/>
                <a:cs typeface="Calibri"/>
              </a:defRPr>
            </a:defPPr>
            <a:lvl1pPr algn="l">
              <a:defRPr sz="2100" b="0">
                <a:solidFill>
                  <a:srgbClr val="152B2B"/>
                </a:solidFill>
                <a:latin typeface="Calibri"/>
                <a:ea typeface="Calibri"/>
                <a:cs typeface="Calibri"/>
              </a:defRPr>
            </a:lvl1pPr>
            <a:lvl2pPr algn="l">
              <a:defRPr sz="2100" b="0">
                <a:solidFill>
                  <a:srgbClr val="152B2B"/>
                </a:solidFill>
                <a:latin typeface="Calibri"/>
                <a:ea typeface="Calibri"/>
                <a:cs typeface="Calibri"/>
              </a:defRPr>
            </a:lvl2pPr>
            <a:lvl3pPr algn="l">
              <a:defRPr sz="2100" b="0">
                <a:solidFill>
                  <a:srgbClr val="152B2B"/>
                </a:solidFill>
                <a:latin typeface="Calibri"/>
                <a:ea typeface="Calibri"/>
                <a:cs typeface="Calibri"/>
              </a:defRPr>
            </a:lvl3pPr>
            <a:lvl4pPr algn="l">
              <a:defRPr sz="2100" b="0">
                <a:solidFill>
                  <a:srgbClr val="152B2B"/>
                </a:solidFill>
                <a:latin typeface="Calibri"/>
                <a:ea typeface="Calibri"/>
                <a:cs typeface="Calibri"/>
              </a:defRPr>
            </a:lvl4pPr>
            <a:lvl5pPr algn="l">
              <a:defRPr sz="2100" b="0">
                <a:solidFill>
                  <a:srgbClr val="152B2B"/>
                </a:solidFill>
                <a:latin typeface="Calibri"/>
                <a:ea typeface="Calibri"/>
                <a:cs typeface="Calibri"/>
              </a:defRPr>
            </a:lvl5pPr>
            <a:lvl6pPr algn="l">
              <a:defRPr sz="2100" b="0">
                <a:solidFill>
                  <a:srgbClr val="152B2B"/>
                </a:solidFill>
                <a:latin typeface="Calibri"/>
                <a:ea typeface="Calibri"/>
                <a:cs typeface="Calibri"/>
              </a:defRPr>
            </a:lvl6pPr>
            <a:lvl7pPr algn="l">
              <a:defRPr sz="2100" b="0">
                <a:solidFill>
                  <a:srgbClr val="152B2B"/>
                </a:solidFill>
                <a:latin typeface="Calibri"/>
                <a:ea typeface="Calibri"/>
                <a:cs typeface="Calibri"/>
              </a:defRPr>
            </a:lvl7pPr>
            <a:lvl8pPr algn="l">
              <a:defRPr sz="2100" b="0">
                <a:solidFill>
                  <a:srgbClr val="152B2B"/>
                </a:solidFill>
                <a:latin typeface="Calibri"/>
                <a:ea typeface="Calibri"/>
                <a:cs typeface="Calibri"/>
              </a:defRPr>
            </a:lvl8pPr>
            <a:lvl9pPr algn="l">
              <a:defRPr sz="2100" b="0">
                <a:solidFill>
                  <a:srgbClr val="152B2B"/>
                </a:solidFill>
                <a:latin typeface="Calibri"/>
                <a:ea typeface="Calibri"/>
                <a:cs typeface="Calibri"/>
              </a:defRPr>
            </a:lvl9pPr>
          </a:lstStyle>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Active predecessor</a:t>
            </a:r>
          </a:p>
          <a:p xmlns:a="http://schemas.openxmlformats.org/drawingml/2006/main">
            <a:r>
              <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Replacement answer</a:t>
            </a:r>
          </a:p>
          <a:p xmlns:a="http://schemas.openxmlformats.org/drawingml/2006/main">
            <a:r>
              <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Explicit scope</a:t>
            </a:r>
          </a:p>
          <a:p xmlns:a="http://schemas.openxmlformats.org/drawingml/2006/main">
            <a:r>
              <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Recorded source</a:t>
            </a:r>
          </a:p>
        </p:txBody>
      </p:sp>
      <p:pic>
        <p:nvPicPr>
          <p:cNvPr id="6" name="">
            <a:extLst xmlns:a="http://schemas.openxmlformats.org/drawingml/2006/main">
              <a:ext uri="{FF2B5EF4-FFF2-40B4-BE49-F238E27FC236}">
                <a16:creationId xmlns:a16="http://schemas.microsoft.com/office/drawing/2014/main" id="{D01B737D-4472-4129-925D-B23E8C19EFC5}"/>
              </a:ext>
            </a:extLst>
          </p:cNvPr>
          <p:cNvPicPr>
            <a:picLocks xmlns:a="http://schemas.openxmlformats.org/drawingml/2006/main" noChangeAspect="1"/>
          </p:cNvPicPr>
          <p:nvPr/>
        </p:nvPicPr>
        <p:blipFill>
          <a:blip xmlns:r="http://schemas.openxmlformats.org/officeDocument/2006/relationships" xmlns:a="http://schemas.openxmlformats.org/drawingml/2006/main" r:embed="Rabccb23f94b84932"/>
          <a:stretch xmlns:a="http://schemas.openxmlformats.org/drawingml/2006/main"/>
        </p:blipFill>
        <p:spPr>
          <a:xfrm xmlns:a="http://schemas.openxmlformats.org/drawingml/2006/main">
            <a:off x="3916608" y="1666875"/>
            <a:ext cx="7683009" cy="4324350"/>
          </a:xfrm>
          <a:prstGeom xmlns:a="http://schemas.openxmlformats.org/drawingml/2006/main" prst="rect">
            <a:avLst/>
          </a:prstGeom>
        </p:spPr>
      </p:pic>
      <p:sp>
        <p:nvSpPr>
          <p:cNvPr id="7" name="Verity correction editor. Browser-local replacement draft over the res">
            <a:extLst xmlns:a="http://schemas.openxmlformats.org/drawingml/2006/main">
              <a:ext uri="{FF2B5EF4-FFF2-40B4-BE49-F238E27FC236}">
                <a16:creationId xmlns:a16="http://schemas.microsoft.com/office/drawing/2014/main" id="{7EDF4DD4-208A-4F28-86A6-19B0AEECEADE}"/>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Verity correction editor. Browser-local replacement draft over the restored r11 workspace.</a:t>
            </a:r>
          </a:p>
        </p:txBody>
      </p:sp>
    </p:spTree>
    <p:extLst>
      <p:ext uri="{BB962C8B-B14F-4D97-AF65-F5344CB8AC3E}">
        <p14:creationId xmlns:p14="http://schemas.microsoft.com/office/powerpoint/2010/main" val="1110469317"/>
      </p:ext>
    </p:extLst>
  </p:cSld>
</p:sld>
</file>

<file path=ppt/slides/slide2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History, rollback and application acceptance">
            <a:extLst xmlns:a="http://schemas.openxmlformats.org/drawingml/2006/main">
              <a:ext uri="{FF2B5EF4-FFF2-40B4-BE49-F238E27FC236}">
                <a16:creationId xmlns:a16="http://schemas.microsoft.com/office/drawing/2014/main" id="{1E2A70B9-B906-4B30-BAA6-30CB8742F4F9}"/>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History, rollback and application acceptance</a:t>
            </a:r>
          </a:p>
        </p:txBody>
      </p:sp>
      <p:sp>
        <p:nvSpPr>
          <p:cNvPr id="2" name="The audit timeline preserves what changed at each revision.">
            <a:extLst xmlns:a="http://schemas.openxmlformats.org/drawingml/2006/main">
              <a:ext uri="{FF2B5EF4-FFF2-40B4-BE49-F238E27FC236}">
                <a16:creationId xmlns:a16="http://schemas.microsoft.com/office/drawing/2014/main" id="{F274D6EA-342B-4659-AF5A-7C9A5073D3A3}"/>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audit timeline preserves what changed at each revision.</a:t>
            </a:r>
          </a:p>
        </p:txBody>
      </p:sp>
      <p:sp>
        <p:nvSpPr>
          <p:cNvPr id="3" name="25">
            <a:extLst xmlns:a="http://schemas.openxmlformats.org/drawingml/2006/main">
              <a:ext uri="{FF2B5EF4-FFF2-40B4-BE49-F238E27FC236}">
                <a16:creationId xmlns:a16="http://schemas.microsoft.com/office/drawing/2014/main" id="{C7F70F5A-A028-488C-A922-0BA48DBED06E}"/>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25</a:t>
            </a:r>
          </a:p>
        </p:txBody>
      </p:sp>
      <p:sp>
        <p:nvSpPr>
          <p:cNvPr id="4" name="r9  Initial handbook&#10;r10  Replace ownership&#10;r11  Atomic rollback">
            <a:extLst xmlns:a="http://schemas.openxmlformats.org/drawingml/2006/main">
              <a:ext uri="{FF2B5EF4-FFF2-40B4-BE49-F238E27FC236}">
                <a16:creationId xmlns:a16="http://schemas.microsoft.com/office/drawing/2014/main" id="{ED3273CF-3122-4B68-B61F-FEE85FD6C0AC}"/>
              </a:ext>
            </a:extLst>
          </p:cNvPr>
          <p:cNvSpPr>
            <a:spLocks xmlns:a="http://schemas.openxmlformats.org/drawingml/2006/main" noGrp="1"/>
          </p:cNvSpPr>
          <p:nvPr/>
        </p:nvSpPr>
        <p:spPr>
          <a:xfrm xmlns:a="http://schemas.openxmlformats.org/drawingml/2006/main">
            <a:off x="647700" y="1933575"/>
            <a:ext cx="3000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r9  Initial handbook</a:t>
            </a:r>
          </a:p>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r10  Replace ownership</a:t>
            </a:r>
          </a:p>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r11  Atomic rollback</a:t>
            </a:r>
          </a:p>
        </p:txBody>
      </p:sp>
      <p:sp>
        <p:nvSpPr>
          <p:cNvPr id="5" name="14/14 neural answers&#10;12 consistency checks&#10;&#10;One fictional display line">
            <a:extLst xmlns:a="http://schemas.openxmlformats.org/drawingml/2006/main">
              <a:ext uri="{FF2B5EF4-FFF2-40B4-BE49-F238E27FC236}">
                <a16:creationId xmlns:a16="http://schemas.microsoft.com/office/drawing/2014/main" id="{DE4E0533-147B-4C40-8109-7B27316E2472}"/>
              </a:ext>
            </a:extLst>
          </p:cNvPr>
          <p:cNvSpPr>
            <a:spLocks xmlns:a="http://schemas.openxmlformats.org/drawingml/2006/main" noGrp="1"/>
          </p:cNvSpPr>
          <p:nvPr/>
        </p:nvSpPr>
        <p:spPr>
          <a:xfrm xmlns:a="http://schemas.openxmlformats.org/drawingml/2006/main">
            <a:off x="647700" y="3943350"/>
            <a:ext cx="300037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B2B"/>
                </a:solidFill>
                <a:latin typeface="Calibri"/>
                <a:ea typeface="Calibri"/>
                <a:cs typeface="Calibri"/>
              </a:defRPr>
            </a:defPPr>
            <a:lvl1pPr algn="l">
              <a:defRPr sz="2025" b="0">
                <a:solidFill>
                  <a:srgbClr val="152B2B"/>
                </a:solidFill>
                <a:latin typeface="Calibri"/>
                <a:ea typeface="Calibri"/>
                <a:cs typeface="Calibri"/>
              </a:defRPr>
            </a:lvl1pPr>
            <a:lvl2pPr algn="l">
              <a:defRPr sz="2025" b="0">
                <a:solidFill>
                  <a:srgbClr val="152B2B"/>
                </a:solidFill>
                <a:latin typeface="Calibri"/>
                <a:ea typeface="Calibri"/>
                <a:cs typeface="Calibri"/>
              </a:defRPr>
            </a:lvl2pPr>
            <a:lvl3pPr algn="l">
              <a:defRPr sz="2025" b="0">
                <a:solidFill>
                  <a:srgbClr val="152B2B"/>
                </a:solidFill>
                <a:latin typeface="Calibri"/>
                <a:ea typeface="Calibri"/>
                <a:cs typeface="Calibri"/>
              </a:defRPr>
            </a:lvl3pPr>
            <a:lvl4pPr algn="l">
              <a:defRPr sz="2025" b="0">
                <a:solidFill>
                  <a:srgbClr val="152B2B"/>
                </a:solidFill>
                <a:latin typeface="Calibri"/>
                <a:ea typeface="Calibri"/>
                <a:cs typeface="Calibri"/>
              </a:defRPr>
            </a:lvl4pPr>
            <a:lvl5pPr algn="l">
              <a:defRPr sz="2025" b="0">
                <a:solidFill>
                  <a:srgbClr val="152B2B"/>
                </a:solidFill>
                <a:latin typeface="Calibri"/>
                <a:ea typeface="Calibri"/>
                <a:cs typeface="Calibri"/>
              </a:defRPr>
            </a:lvl5pPr>
            <a:lvl6pPr algn="l">
              <a:defRPr sz="2025" b="0">
                <a:solidFill>
                  <a:srgbClr val="152B2B"/>
                </a:solidFill>
                <a:latin typeface="Calibri"/>
                <a:ea typeface="Calibri"/>
                <a:cs typeface="Calibri"/>
              </a:defRPr>
            </a:lvl6pPr>
            <a:lvl7pPr algn="l">
              <a:defRPr sz="2025" b="0">
                <a:solidFill>
                  <a:srgbClr val="152B2B"/>
                </a:solidFill>
                <a:latin typeface="Calibri"/>
                <a:ea typeface="Calibri"/>
                <a:cs typeface="Calibri"/>
              </a:defRPr>
            </a:lvl7pPr>
            <a:lvl8pPr algn="l">
              <a:defRPr sz="2025" b="0">
                <a:solidFill>
                  <a:srgbClr val="152B2B"/>
                </a:solidFill>
                <a:latin typeface="Calibri"/>
                <a:ea typeface="Calibri"/>
                <a:cs typeface="Calibri"/>
              </a:defRPr>
            </a:lvl8pPr>
            <a:lvl9pPr algn="l">
              <a:defRPr sz="2025" b="0">
                <a:solidFill>
                  <a:srgbClr val="152B2B"/>
                </a:solidFill>
                <a:latin typeface="Calibri"/>
                <a:ea typeface="Calibri"/>
                <a:cs typeface="Calibri"/>
              </a:defRPr>
            </a:lvl9pPr>
          </a:lstStyle>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14/14 neural answers</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12 consistency checks</a:t>
            </a:r>
          </a:p>
          <a:p xmlns:a="http://schemas.openxmlformats.org/drawingml/2006/main">
            <a:r>
              <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One fictional display lineage,</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separate from held-out tests.</a:t>
            </a:r>
          </a:p>
        </p:txBody>
      </p:sp>
      <p:pic>
        <p:nvPicPr>
          <p:cNvPr id="6" name="">
            <a:extLst xmlns:a="http://schemas.openxmlformats.org/drawingml/2006/main">
              <a:ext uri="{FF2B5EF4-FFF2-40B4-BE49-F238E27FC236}">
                <a16:creationId xmlns:a16="http://schemas.microsoft.com/office/drawing/2014/main" id="{ADAABC94-FF00-4AE8-8710-84843501A559}"/>
              </a:ext>
            </a:extLst>
          </p:cNvPr>
          <p:cNvPicPr>
            <a:picLocks xmlns:a="http://schemas.openxmlformats.org/drawingml/2006/main" noChangeAspect="1"/>
          </p:cNvPicPr>
          <p:nvPr/>
        </p:nvPicPr>
        <p:blipFill>
          <a:blip xmlns:r="http://schemas.openxmlformats.org/officeDocument/2006/relationships" xmlns:a="http://schemas.openxmlformats.org/drawingml/2006/main" r:embed="R01ca30003b6947f0"/>
          <a:stretch xmlns:a="http://schemas.openxmlformats.org/drawingml/2006/main"/>
        </p:blipFill>
        <p:spPr>
          <a:xfrm xmlns:a="http://schemas.openxmlformats.org/drawingml/2006/main">
            <a:off x="3916608" y="1666875"/>
            <a:ext cx="7683009" cy="4324350"/>
          </a:xfrm>
          <a:prstGeom xmlns:a="http://schemas.openxmlformats.org/drawingml/2006/main" prst="rect">
            <a:avLst/>
          </a:prstGeom>
        </p:spPr>
      </p:pic>
      <p:sp>
        <p:nvSpPr>
          <p:cNvPr id="7" name="Recorded application acceptance, one fictional display lineage. Displa">
            <a:extLst xmlns:a="http://schemas.openxmlformats.org/drawingml/2006/main">
              <a:ext uri="{FF2B5EF4-FFF2-40B4-BE49-F238E27FC236}">
                <a16:creationId xmlns:a16="http://schemas.microsoft.com/office/drawing/2014/main" id="{588A21AD-B0BD-4669-BD28-47CD6D3A3ABC}"/>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Recorded application acceptance, one fictional display lineage. Displayed history comes from the audited receipt.</a:t>
            </a:r>
          </a:p>
        </p:txBody>
      </p:sp>
    </p:spTree>
    <p:extLst>
      <p:ext uri="{BB962C8B-B14F-4D97-AF65-F5344CB8AC3E}">
        <p14:creationId xmlns:p14="http://schemas.microsoft.com/office/powerpoint/2010/main" val="199501377"/>
      </p:ext>
    </p:extLst>
  </p:cSld>
</p:sld>
</file>

<file path=ppt/slides/slide2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Chat evidence and stored-response semantics">
            <a:extLst xmlns:a="http://schemas.openxmlformats.org/drawingml/2006/main">
              <a:ext uri="{FF2B5EF4-FFF2-40B4-BE49-F238E27FC236}">
                <a16:creationId xmlns:a16="http://schemas.microsoft.com/office/drawing/2014/main" id="{4A57E317-2104-471A-B62E-F11E0448552F}"/>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Chat evidence and stored-response semantics</a:t>
            </a:r>
          </a:p>
        </p:txBody>
      </p:sp>
      <p:sp>
        <p:nvSpPr>
          <p:cNvPr id="2" name="The answer’s revision and the current memory revision can correctly di">
            <a:extLst xmlns:a="http://schemas.openxmlformats.org/drawingml/2006/main">
              <a:ext uri="{FF2B5EF4-FFF2-40B4-BE49-F238E27FC236}">
                <a16:creationId xmlns:a16="http://schemas.microsoft.com/office/drawing/2014/main" id="{75FD8C43-4FEE-4534-ABA7-729AC124D8DC}"/>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answer’s revision and the current memory revision can correctly differ.</a:t>
            </a:r>
          </a:p>
        </p:txBody>
      </p:sp>
      <p:sp>
        <p:nvSpPr>
          <p:cNvPr id="3" name="26">
            <a:extLst xmlns:a="http://schemas.openxmlformats.org/drawingml/2006/main">
              <a:ext uri="{FF2B5EF4-FFF2-40B4-BE49-F238E27FC236}">
                <a16:creationId xmlns:a16="http://schemas.microsoft.com/office/drawing/2014/main" id="{E721A3E1-6BB1-4EA8-B5E6-90C46BD36258}"/>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26</a:t>
            </a:r>
          </a:p>
        </p:txBody>
      </p:sp>
      <p:sp>
        <p:nvSpPr>
          <p:cNvPr id="4" name="Stored response">
            <a:extLst xmlns:a="http://schemas.openxmlformats.org/drawingml/2006/main">
              <a:ext uri="{FF2B5EF4-FFF2-40B4-BE49-F238E27FC236}">
                <a16:creationId xmlns:a16="http://schemas.microsoft.com/office/drawing/2014/main" id="{FF8A10FB-A2D4-4319-BA80-81CDE8988A1B}"/>
              </a:ext>
            </a:extLst>
          </p:cNvPr>
          <p:cNvSpPr>
            <a:spLocks xmlns:a="http://schemas.openxmlformats.org/drawingml/2006/main" noGrp="1"/>
          </p:cNvSpPr>
          <p:nvPr/>
        </p:nvSpPr>
        <p:spPr>
          <a:xfrm xmlns:a="http://schemas.openxmlformats.org/drawingml/2006/main">
            <a:off x="647700" y="18859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Stored response</a:t>
            </a:r>
          </a:p>
        </p:txBody>
      </p:sp>
      <p:sp>
        <p:nvSpPr>
          <p:cNvPr id="5" name="Generated at r10&#10;Hyderabad&#10;&#10;Current memory: r11&#10;Restored Chennai path">
            <a:extLst xmlns:a="http://schemas.openxmlformats.org/drawingml/2006/main">
              <a:ext uri="{FF2B5EF4-FFF2-40B4-BE49-F238E27FC236}">
                <a16:creationId xmlns:a16="http://schemas.microsoft.com/office/drawing/2014/main" id="{A4BB333F-72B0-4AEE-8771-F17D0B3C2B93}"/>
              </a:ext>
            </a:extLst>
          </p:cNvPr>
          <p:cNvSpPr>
            <a:spLocks xmlns:a="http://schemas.openxmlformats.org/drawingml/2006/main" noGrp="1"/>
          </p:cNvSpPr>
          <p:nvPr/>
        </p:nvSpPr>
        <p:spPr>
          <a:xfrm xmlns:a="http://schemas.openxmlformats.org/drawingml/2006/main">
            <a:off x="647700" y="2514600"/>
            <a:ext cx="300037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52B2B"/>
                </a:solidFill>
                <a:latin typeface="Calibri"/>
                <a:ea typeface="Calibri"/>
                <a:cs typeface="Calibri"/>
              </a:defRPr>
            </a:defPPr>
            <a:lvl1pPr algn="l">
              <a:defRPr sz="2100" b="0">
                <a:solidFill>
                  <a:srgbClr val="152B2B"/>
                </a:solidFill>
                <a:latin typeface="Calibri"/>
                <a:ea typeface="Calibri"/>
                <a:cs typeface="Calibri"/>
              </a:defRPr>
            </a:lvl1pPr>
            <a:lvl2pPr algn="l">
              <a:defRPr sz="2100" b="0">
                <a:solidFill>
                  <a:srgbClr val="152B2B"/>
                </a:solidFill>
                <a:latin typeface="Calibri"/>
                <a:ea typeface="Calibri"/>
                <a:cs typeface="Calibri"/>
              </a:defRPr>
            </a:lvl2pPr>
            <a:lvl3pPr algn="l">
              <a:defRPr sz="2100" b="0">
                <a:solidFill>
                  <a:srgbClr val="152B2B"/>
                </a:solidFill>
                <a:latin typeface="Calibri"/>
                <a:ea typeface="Calibri"/>
                <a:cs typeface="Calibri"/>
              </a:defRPr>
            </a:lvl3pPr>
            <a:lvl4pPr algn="l">
              <a:defRPr sz="2100" b="0">
                <a:solidFill>
                  <a:srgbClr val="152B2B"/>
                </a:solidFill>
                <a:latin typeface="Calibri"/>
                <a:ea typeface="Calibri"/>
                <a:cs typeface="Calibri"/>
              </a:defRPr>
            </a:lvl4pPr>
            <a:lvl5pPr algn="l">
              <a:defRPr sz="2100" b="0">
                <a:solidFill>
                  <a:srgbClr val="152B2B"/>
                </a:solidFill>
                <a:latin typeface="Calibri"/>
                <a:ea typeface="Calibri"/>
                <a:cs typeface="Calibri"/>
              </a:defRPr>
            </a:lvl5pPr>
            <a:lvl6pPr algn="l">
              <a:defRPr sz="2100" b="0">
                <a:solidFill>
                  <a:srgbClr val="152B2B"/>
                </a:solidFill>
                <a:latin typeface="Calibri"/>
                <a:ea typeface="Calibri"/>
                <a:cs typeface="Calibri"/>
              </a:defRPr>
            </a:lvl6pPr>
            <a:lvl7pPr algn="l">
              <a:defRPr sz="2100" b="0">
                <a:solidFill>
                  <a:srgbClr val="152B2B"/>
                </a:solidFill>
                <a:latin typeface="Calibri"/>
                <a:ea typeface="Calibri"/>
                <a:cs typeface="Calibri"/>
              </a:defRPr>
            </a:lvl7pPr>
            <a:lvl8pPr algn="l">
              <a:defRPr sz="2100" b="0">
                <a:solidFill>
                  <a:srgbClr val="152B2B"/>
                </a:solidFill>
                <a:latin typeface="Calibri"/>
                <a:ea typeface="Calibri"/>
                <a:cs typeface="Calibri"/>
              </a:defRPr>
            </a:lvl8pPr>
            <a:lvl9pPr algn="l">
              <a:defRPr sz="2100" b="0">
                <a:solidFill>
                  <a:srgbClr val="152B2B"/>
                </a:solidFill>
                <a:latin typeface="Calibri"/>
                <a:ea typeface="Calibri"/>
                <a:cs typeface="Calibri"/>
              </a:defRPr>
            </a:lvl9pPr>
          </a:lstStyle>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Generated at r10</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Hyderabad</a:t>
            </a:r>
          </a:p>
          <a:p xmlns:a="http://schemas.openxmlformats.org/drawingml/2006/main">
            <a:r>
              <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Current memory: r11</a:t>
            </a:r>
          </a:p>
          <a:p xmlns:a="http://schemas.openxmlformats.org/drawingml/2006/main">
            <a:pPr algn="l">
              <a:defRPr sz="2100" b="0">
                <a:solidFill>
                  <a:srgbClr val="152B2B"/>
                </a:solidFill>
                <a:latin typeface="Calibri"/>
                <a:ea typeface="Calibri"/>
                <a:cs typeface="Calibri"/>
              </a:defRPr>
            </a:pPr>
            <a:r>
              <a:rPr sz="2100" b="0">
                <a:solidFill>
                  <a:srgbClr val="152B2B"/>
                </a:solidFill>
                <a:latin typeface="Calibri"/>
                <a:ea typeface="Calibri"/>
                <a:cs typeface="Calibri"/>
              </a:rPr>
              <a:t>Restored Chennai path</a:t>
            </a:r>
          </a:p>
        </p:txBody>
      </p:sp>
      <p:sp>
        <p:nvSpPr>
          <p:cNvPr id="6" name="New questions use the&#10;current snapshot.&#10;Stored messages retain&#10;their o">
            <a:extLst xmlns:a="http://schemas.openxmlformats.org/drawingml/2006/main">
              <a:ext uri="{FF2B5EF4-FFF2-40B4-BE49-F238E27FC236}">
                <a16:creationId xmlns:a16="http://schemas.microsoft.com/office/drawing/2014/main" id="{FD90E74D-9D2F-4207-990F-00BD3230F26E}"/>
              </a:ext>
            </a:extLst>
          </p:cNvPr>
          <p:cNvSpPr>
            <a:spLocks xmlns:a="http://schemas.openxmlformats.org/drawingml/2006/main" noGrp="1"/>
          </p:cNvSpPr>
          <p:nvPr/>
        </p:nvSpPr>
        <p:spPr>
          <a:xfrm xmlns:a="http://schemas.openxmlformats.org/drawingml/2006/main">
            <a:off x="647700" y="4905375"/>
            <a:ext cx="3000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26464"/>
                </a:solidFill>
                <a:latin typeface="Calibri"/>
                <a:ea typeface="Calibri"/>
                <a:cs typeface="Calibri"/>
              </a:defRPr>
            </a:defPPr>
            <a:lvl1pPr algn="l">
              <a:defRPr sz="1875" b="0">
                <a:solidFill>
                  <a:srgbClr val="526464"/>
                </a:solidFill>
                <a:latin typeface="Calibri"/>
                <a:ea typeface="Calibri"/>
                <a:cs typeface="Calibri"/>
              </a:defRPr>
            </a:lvl1pPr>
            <a:lvl2pPr algn="l">
              <a:defRPr sz="1875" b="0">
                <a:solidFill>
                  <a:srgbClr val="526464"/>
                </a:solidFill>
                <a:latin typeface="Calibri"/>
                <a:ea typeface="Calibri"/>
                <a:cs typeface="Calibri"/>
              </a:defRPr>
            </a:lvl2pPr>
            <a:lvl3pPr algn="l">
              <a:defRPr sz="1875" b="0">
                <a:solidFill>
                  <a:srgbClr val="526464"/>
                </a:solidFill>
                <a:latin typeface="Calibri"/>
                <a:ea typeface="Calibri"/>
                <a:cs typeface="Calibri"/>
              </a:defRPr>
            </a:lvl3pPr>
            <a:lvl4pPr algn="l">
              <a:defRPr sz="1875" b="0">
                <a:solidFill>
                  <a:srgbClr val="526464"/>
                </a:solidFill>
                <a:latin typeface="Calibri"/>
                <a:ea typeface="Calibri"/>
                <a:cs typeface="Calibri"/>
              </a:defRPr>
            </a:lvl4pPr>
            <a:lvl5pPr algn="l">
              <a:defRPr sz="1875" b="0">
                <a:solidFill>
                  <a:srgbClr val="526464"/>
                </a:solidFill>
                <a:latin typeface="Calibri"/>
                <a:ea typeface="Calibri"/>
                <a:cs typeface="Calibri"/>
              </a:defRPr>
            </a:lvl5pPr>
            <a:lvl6pPr algn="l">
              <a:defRPr sz="1875" b="0">
                <a:solidFill>
                  <a:srgbClr val="526464"/>
                </a:solidFill>
                <a:latin typeface="Calibri"/>
                <a:ea typeface="Calibri"/>
                <a:cs typeface="Calibri"/>
              </a:defRPr>
            </a:lvl6pPr>
            <a:lvl7pPr algn="l">
              <a:defRPr sz="1875" b="0">
                <a:solidFill>
                  <a:srgbClr val="526464"/>
                </a:solidFill>
                <a:latin typeface="Calibri"/>
                <a:ea typeface="Calibri"/>
                <a:cs typeface="Calibri"/>
              </a:defRPr>
            </a:lvl7pPr>
            <a:lvl8pPr algn="l">
              <a:defRPr sz="1875" b="0">
                <a:solidFill>
                  <a:srgbClr val="526464"/>
                </a:solidFill>
                <a:latin typeface="Calibri"/>
                <a:ea typeface="Calibri"/>
                <a:cs typeface="Calibri"/>
              </a:defRPr>
            </a:lvl8pPr>
            <a:lvl9pPr algn="l">
              <a:defRPr sz="1875" b="0">
                <a:solidFill>
                  <a:srgbClr val="526464"/>
                </a:solidFill>
                <a:latin typeface="Calibri"/>
                <a:ea typeface="Calibri"/>
                <a:cs typeface="Calibri"/>
              </a:defRPr>
            </a:lvl9pPr>
          </a:lstStyle>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New questions use the</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current snapshot.</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Stored messages retain</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their original evidence.</a:t>
            </a:r>
          </a:p>
        </p:txBody>
      </p:sp>
      <p:pic>
        <p:nvPicPr>
          <p:cNvPr id="7" name="">
            <a:extLst xmlns:a="http://schemas.openxmlformats.org/drawingml/2006/main">
              <a:ext uri="{FF2B5EF4-FFF2-40B4-BE49-F238E27FC236}">
                <a16:creationId xmlns:a16="http://schemas.microsoft.com/office/drawing/2014/main" id="{5E5DC5B2-D67B-4D19-A48C-1A4F2C4DEB5A}"/>
              </a:ext>
            </a:extLst>
          </p:cNvPr>
          <p:cNvPicPr>
            <a:picLocks xmlns:a="http://schemas.openxmlformats.org/drawingml/2006/main" noChangeAspect="1"/>
          </p:cNvPicPr>
          <p:nvPr/>
        </p:nvPicPr>
        <p:blipFill>
          <a:blip xmlns:r="http://schemas.openxmlformats.org/officeDocument/2006/relationships" xmlns:a="http://schemas.openxmlformats.org/drawingml/2006/main" r:embed="R0f4a3141c16f4a82"/>
          <a:stretch xmlns:a="http://schemas.openxmlformats.org/drawingml/2006/main"/>
        </p:blipFill>
        <p:spPr>
          <a:xfrm xmlns:a="http://schemas.openxmlformats.org/drawingml/2006/main">
            <a:off x="3914775" y="1667173"/>
            <a:ext cx="7686675" cy="4323755"/>
          </a:xfrm>
          <a:prstGeom xmlns:a="http://schemas.openxmlformats.org/drawingml/2006/main" prst="rect">
            <a:avLst/>
          </a:prstGeom>
        </p:spPr>
      </p:pic>
      <p:sp>
        <p:nvSpPr>
          <p:cNvPr id="8" name="Recorded r10 model response displayed against restored r11 memory. Fre">
            <a:extLst xmlns:a="http://schemas.openxmlformats.org/drawingml/2006/main">
              <a:ext uri="{FF2B5EF4-FFF2-40B4-BE49-F238E27FC236}">
                <a16:creationId xmlns:a16="http://schemas.microsoft.com/office/drawing/2014/main" id="{034AE2AA-3241-4FD3-A57D-D2EE2AA8FF0A}"/>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Recorded r10 model response displayed against restored r11 memory. Fresh generation requires the model worker.</a:t>
            </a:r>
          </a:p>
        </p:txBody>
      </p:sp>
    </p:spTree>
    <p:extLst>
      <p:ext uri="{BB962C8B-B14F-4D97-AF65-F5344CB8AC3E}">
        <p14:creationId xmlns:p14="http://schemas.microsoft.com/office/powerpoint/2010/main" val="29237136"/>
      </p:ext>
    </p:extLst>
  </p:cSld>
</p:sld>
</file>

<file path=ppt/slides/slide2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9" name="Results explorer and failure inspection">
            <a:extLst xmlns:a="http://schemas.openxmlformats.org/drawingml/2006/main">
              <a:ext uri="{FF2B5EF4-FFF2-40B4-BE49-F238E27FC236}">
                <a16:creationId xmlns:a16="http://schemas.microsoft.com/office/drawing/2014/main" id="{C8375870-2983-46D8-81E2-15403984252E}"/>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Results explorer and failure inspection</a:t>
            </a:r>
          </a:p>
        </p:txBody>
      </p:sp>
      <p:sp>
        <p:nvSpPr>
          <p:cNvPr id="2" name="Aggregate findings remain connected to individual outputs and supplied">
            <a:extLst xmlns:a="http://schemas.openxmlformats.org/drawingml/2006/main">
              <a:ext uri="{FF2B5EF4-FFF2-40B4-BE49-F238E27FC236}">
                <a16:creationId xmlns:a16="http://schemas.microsoft.com/office/drawing/2014/main" id="{7F54BB84-18FD-470C-87E5-D9864E10620F}"/>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Aggregate findings remain connected to individual outputs and supplied facts.</a:t>
            </a:r>
          </a:p>
        </p:txBody>
      </p:sp>
      <p:sp>
        <p:nvSpPr>
          <p:cNvPr id="3" name="27">
            <a:extLst xmlns:a="http://schemas.openxmlformats.org/drawingml/2006/main">
              <a:ext uri="{FF2B5EF4-FFF2-40B4-BE49-F238E27FC236}">
                <a16:creationId xmlns:a16="http://schemas.microsoft.com/office/drawing/2014/main" id="{FBA177EB-04DA-4202-A86A-015EA9BE8967}"/>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27</a:t>
            </a:r>
          </a:p>
        </p:txBody>
      </p:sp>
      <p:sp>
        <p:nvSpPr>
          <p:cNvPr id="4" name="Inspectable failure">
            <a:extLst xmlns:a="http://schemas.openxmlformats.org/drawingml/2006/main">
              <a:ext uri="{FF2B5EF4-FFF2-40B4-BE49-F238E27FC236}">
                <a16:creationId xmlns:a16="http://schemas.microsoft.com/office/drawing/2014/main" id="{B3B2C457-D69E-4A00-AB2C-DC5467249C91}"/>
              </a:ext>
            </a:extLst>
          </p:cNvPr>
          <p:cNvSpPr>
            <a:spLocks xmlns:a="http://schemas.openxmlformats.org/drawingml/2006/main" noGrp="1"/>
          </p:cNvSpPr>
          <p:nvPr/>
        </p:nvSpPr>
        <p:spPr>
          <a:xfrm xmlns:a="http://schemas.openxmlformats.org/drawingml/2006/main">
            <a:off x="647700" y="18859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6766D"/>
                </a:solidFill>
                <a:latin typeface="Calibri"/>
                <a:ea typeface="Calibri"/>
                <a:cs typeface="Calibri"/>
              </a:defRPr>
            </a:defPPr>
            <a:lvl1pPr algn="l">
              <a:defRPr sz="2175" b="1">
                <a:solidFill>
                  <a:srgbClr val="26766D"/>
                </a:solidFill>
                <a:latin typeface="Calibri"/>
                <a:ea typeface="Calibri"/>
                <a:cs typeface="Calibri"/>
              </a:defRPr>
            </a:lvl1pPr>
            <a:lvl2pPr algn="l">
              <a:defRPr sz="2175" b="1">
                <a:solidFill>
                  <a:srgbClr val="26766D"/>
                </a:solidFill>
                <a:latin typeface="Calibri"/>
                <a:ea typeface="Calibri"/>
                <a:cs typeface="Calibri"/>
              </a:defRPr>
            </a:lvl2pPr>
            <a:lvl3pPr algn="l">
              <a:defRPr sz="2175" b="1">
                <a:solidFill>
                  <a:srgbClr val="26766D"/>
                </a:solidFill>
                <a:latin typeface="Calibri"/>
                <a:ea typeface="Calibri"/>
                <a:cs typeface="Calibri"/>
              </a:defRPr>
            </a:lvl3pPr>
            <a:lvl4pPr algn="l">
              <a:defRPr sz="2175" b="1">
                <a:solidFill>
                  <a:srgbClr val="26766D"/>
                </a:solidFill>
                <a:latin typeface="Calibri"/>
                <a:ea typeface="Calibri"/>
                <a:cs typeface="Calibri"/>
              </a:defRPr>
            </a:lvl4pPr>
            <a:lvl5pPr algn="l">
              <a:defRPr sz="2175" b="1">
                <a:solidFill>
                  <a:srgbClr val="26766D"/>
                </a:solidFill>
                <a:latin typeface="Calibri"/>
                <a:ea typeface="Calibri"/>
                <a:cs typeface="Calibri"/>
              </a:defRPr>
            </a:lvl5pPr>
            <a:lvl6pPr algn="l">
              <a:defRPr sz="2175" b="1">
                <a:solidFill>
                  <a:srgbClr val="26766D"/>
                </a:solidFill>
                <a:latin typeface="Calibri"/>
                <a:ea typeface="Calibri"/>
                <a:cs typeface="Calibri"/>
              </a:defRPr>
            </a:lvl6pPr>
            <a:lvl7pPr algn="l">
              <a:defRPr sz="2175" b="1">
                <a:solidFill>
                  <a:srgbClr val="26766D"/>
                </a:solidFill>
                <a:latin typeface="Calibri"/>
                <a:ea typeface="Calibri"/>
                <a:cs typeface="Calibri"/>
              </a:defRPr>
            </a:lvl7pPr>
            <a:lvl8pPr algn="l">
              <a:defRPr sz="2175" b="1">
                <a:solidFill>
                  <a:srgbClr val="26766D"/>
                </a:solidFill>
                <a:latin typeface="Calibri"/>
                <a:ea typeface="Calibri"/>
                <a:cs typeface="Calibri"/>
              </a:defRPr>
            </a:lvl8pPr>
            <a:lvl9pPr algn="l">
              <a:defRPr sz="2175" b="1">
                <a:solidFill>
                  <a:srgbClr val="26766D"/>
                </a:solidFill>
                <a:latin typeface="Calibri"/>
                <a:ea typeface="Calibri"/>
                <a:cs typeface="Calibri"/>
              </a:defRPr>
            </a:lvl9pPr>
          </a:lstStyle>
          <a:p xmlns:a="http://schemas.openxmlformats.org/drawingml/2006/main">
            <a:pPr algn="l">
              <a:defRPr sz="2175" b="1">
                <a:solidFill>
                  <a:srgbClr val="26766D"/>
                </a:solidFill>
                <a:latin typeface="Calibri"/>
                <a:ea typeface="Calibri"/>
                <a:cs typeface="Calibri"/>
              </a:defRPr>
            </a:pPr>
            <a:r>
              <a:rPr sz="2175" b="1">
                <a:solidFill>
                  <a:srgbClr val="26766D"/>
                </a:solidFill>
                <a:latin typeface="Calibri"/>
                <a:ea typeface="Calibri"/>
                <a:cs typeface="Calibri"/>
              </a:rPr>
              <a:t>Inspectable failure</a:t>
            </a:r>
          </a:p>
        </p:txBody>
      </p:sp>
      <p:sp>
        <p:nvSpPr>
          <p:cNvPr id="5" name="Requested release 1&#10;Expected Willow unit 192&#10;&#10;Returned Amber unit 72&#10;T">
            <a:extLst xmlns:a="http://schemas.openxmlformats.org/drawingml/2006/main">
              <a:ext uri="{FF2B5EF4-FFF2-40B4-BE49-F238E27FC236}">
                <a16:creationId xmlns:a16="http://schemas.microsoft.com/office/drawing/2014/main" id="{33880AD1-2019-4D53-BF9B-F1507E08253B}"/>
              </a:ext>
            </a:extLst>
          </p:cNvPr>
          <p:cNvSpPr>
            <a:spLocks xmlns:a="http://schemas.openxmlformats.org/drawingml/2006/main" noGrp="1"/>
          </p:cNvSpPr>
          <p:nvPr/>
        </p:nvSpPr>
        <p:spPr>
          <a:xfrm xmlns:a="http://schemas.openxmlformats.org/drawingml/2006/main">
            <a:off x="647700" y="2514600"/>
            <a:ext cx="3000375"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B2B"/>
                </a:solidFill>
                <a:latin typeface="Calibri"/>
                <a:ea typeface="Calibri"/>
                <a:cs typeface="Calibri"/>
              </a:defRPr>
            </a:defPPr>
            <a:lvl1pPr algn="l">
              <a:defRPr sz="2025" b="0">
                <a:solidFill>
                  <a:srgbClr val="152B2B"/>
                </a:solidFill>
                <a:latin typeface="Calibri"/>
                <a:ea typeface="Calibri"/>
                <a:cs typeface="Calibri"/>
              </a:defRPr>
            </a:lvl1pPr>
            <a:lvl2pPr algn="l">
              <a:defRPr sz="2025" b="0">
                <a:solidFill>
                  <a:srgbClr val="152B2B"/>
                </a:solidFill>
                <a:latin typeface="Calibri"/>
                <a:ea typeface="Calibri"/>
                <a:cs typeface="Calibri"/>
              </a:defRPr>
            </a:lvl2pPr>
            <a:lvl3pPr algn="l">
              <a:defRPr sz="2025" b="0">
                <a:solidFill>
                  <a:srgbClr val="152B2B"/>
                </a:solidFill>
                <a:latin typeface="Calibri"/>
                <a:ea typeface="Calibri"/>
                <a:cs typeface="Calibri"/>
              </a:defRPr>
            </a:lvl3pPr>
            <a:lvl4pPr algn="l">
              <a:defRPr sz="2025" b="0">
                <a:solidFill>
                  <a:srgbClr val="152B2B"/>
                </a:solidFill>
                <a:latin typeface="Calibri"/>
                <a:ea typeface="Calibri"/>
                <a:cs typeface="Calibri"/>
              </a:defRPr>
            </a:lvl4pPr>
            <a:lvl5pPr algn="l">
              <a:defRPr sz="2025" b="0">
                <a:solidFill>
                  <a:srgbClr val="152B2B"/>
                </a:solidFill>
                <a:latin typeface="Calibri"/>
                <a:ea typeface="Calibri"/>
                <a:cs typeface="Calibri"/>
              </a:defRPr>
            </a:lvl5pPr>
            <a:lvl6pPr algn="l">
              <a:defRPr sz="2025" b="0">
                <a:solidFill>
                  <a:srgbClr val="152B2B"/>
                </a:solidFill>
                <a:latin typeface="Calibri"/>
                <a:ea typeface="Calibri"/>
                <a:cs typeface="Calibri"/>
              </a:defRPr>
            </a:lvl6pPr>
            <a:lvl7pPr algn="l">
              <a:defRPr sz="2025" b="0">
                <a:solidFill>
                  <a:srgbClr val="152B2B"/>
                </a:solidFill>
                <a:latin typeface="Calibri"/>
                <a:ea typeface="Calibri"/>
                <a:cs typeface="Calibri"/>
              </a:defRPr>
            </a:lvl7pPr>
            <a:lvl8pPr algn="l">
              <a:defRPr sz="2025" b="0">
                <a:solidFill>
                  <a:srgbClr val="152B2B"/>
                </a:solidFill>
                <a:latin typeface="Calibri"/>
                <a:ea typeface="Calibri"/>
                <a:cs typeface="Calibri"/>
              </a:defRPr>
            </a:lvl8pPr>
            <a:lvl9pPr algn="l">
              <a:defRPr sz="2025" b="0">
                <a:solidFill>
                  <a:srgbClr val="152B2B"/>
                </a:solidFill>
                <a:latin typeface="Calibri"/>
                <a:ea typeface="Calibri"/>
                <a:cs typeface="Calibri"/>
              </a:defRPr>
            </a:lvl9pPr>
          </a:lstStyle>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Requested release 1</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Expected Willow unit 192</a:t>
            </a:r>
          </a:p>
          <a:p xmlns:a="http://schemas.openxmlformats.org/drawingml/2006/main">
            <a:r>
              <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Returned Amber unit 72</a:t>
            </a:r>
          </a:p>
          <a:p xmlns:a="http://schemas.openxmlformats.org/drawingml/2006/main">
            <a:pPr algn="l">
              <a:defRPr sz="2025" b="0">
                <a:solidFill>
                  <a:srgbClr val="152B2B"/>
                </a:solidFill>
                <a:latin typeface="Calibri"/>
                <a:ea typeface="Calibri"/>
                <a:cs typeface="Calibri"/>
              </a:defRPr>
            </a:pPr>
            <a:r>
              <a:rPr sz="2025" b="0">
                <a:solidFill>
                  <a:srgbClr val="152B2B"/>
                </a:solidFill>
                <a:latin typeface="Calibri"/>
                <a:ea typeface="Calibri"/>
                <a:cs typeface="Calibri"/>
              </a:rPr>
              <a:t>The release-2 owner</a:t>
            </a:r>
          </a:p>
        </p:txBody>
      </p:sp>
      <p:sp>
        <p:nvSpPr>
          <p:cNvPr id="6" name="Filters change the view.&#10;Every assigned outcome&#10;keeps its denominator.">
            <a:extLst xmlns:a="http://schemas.openxmlformats.org/drawingml/2006/main">
              <a:ext uri="{FF2B5EF4-FFF2-40B4-BE49-F238E27FC236}">
                <a16:creationId xmlns:a16="http://schemas.microsoft.com/office/drawing/2014/main" id="{06DDDD0C-6DF0-4BBC-BA97-F378D5168130}"/>
              </a:ext>
            </a:extLst>
          </p:cNvPr>
          <p:cNvSpPr>
            <a:spLocks xmlns:a="http://schemas.openxmlformats.org/drawingml/2006/main" noGrp="1"/>
          </p:cNvSpPr>
          <p:nvPr/>
        </p:nvSpPr>
        <p:spPr>
          <a:xfrm xmlns:a="http://schemas.openxmlformats.org/drawingml/2006/main">
            <a:off x="647700" y="50673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26464"/>
                </a:solidFill>
                <a:latin typeface="Calibri"/>
                <a:ea typeface="Calibri"/>
                <a:cs typeface="Calibri"/>
              </a:defRPr>
            </a:defPPr>
            <a:lvl1pPr algn="l">
              <a:defRPr sz="1875" b="0">
                <a:solidFill>
                  <a:srgbClr val="526464"/>
                </a:solidFill>
                <a:latin typeface="Calibri"/>
                <a:ea typeface="Calibri"/>
                <a:cs typeface="Calibri"/>
              </a:defRPr>
            </a:lvl1pPr>
            <a:lvl2pPr algn="l">
              <a:defRPr sz="1875" b="0">
                <a:solidFill>
                  <a:srgbClr val="526464"/>
                </a:solidFill>
                <a:latin typeface="Calibri"/>
                <a:ea typeface="Calibri"/>
                <a:cs typeface="Calibri"/>
              </a:defRPr>
            </a:lvl2pPr>
            <a:lvl3pPr algn="l">
              <a:defRPr sz="1875" b="0">
                <a:solidFill>
                  <a:srgbClr val="526464"/>
                </a:solidFill>
                <a:latin typeface="Calibri"/>
                <a:ea typeface="Calibri"/>
                <a:cs typeface="Calibri"/>
              </a:defRPr>
            </a:lvl3pPr>
            <a:lvl4pPr algn="l">
              <a:defRPr sz="1875" b="0">
                <a:solidFill>
                  <a:srgbClr val="526464"/>
                </a:solidFill>
                <a:latin typeface="Calibri"/>
                <a:ea typeface="Calibri"/>
                <a:cs typeface="Calibri"/>
              </a:defRPr>
            </a:lvl4pPr>
            <a:lvl5pPr algn="l">
              <a:defRPr sz="1875" b="0">
                <a:solidFill>
                  <a:srgbClr val="526464"/>
                </a:solidFill>
                <a:latin typeface="Calibri"/>
                <a:ea typeface="Calibri"/>
                <a:cs typeface="Calibri"/>
              </a:defRPr>
            </a:lvl5pPr>
            <a:lvl6pPr algn="l">
              <a:defRPr sz="1875" b="0">
                <a:solidFill>
                  <a:srgbClr val="526464"/>
                </a:solidFill>
                <a:latin typeface="Calibri"/>
                <a:ea typeface="Calibri"/>
                <a:cs typeface="Calibri"/>
              </a:defRPr>
            </a:lvl6pPr>
            <a:lvl7pPr algn="l">
              <a:defRPr sz="1875" b="0">
                <a:solidFill>
                  <a:srgbClr val="526464"/>
                </a:solidFill>
                <a:latin typeface="Calibri"/>
                <a:ea typeface="Calibri"/>
                <a:cs typeface="Calibri"/>
              </a:defRPr>
            </a:lvl7pPr>
            <a:lvl8pPr algn="l">
              <a:defRPr sz="1875" b="0">
                <a:solidFill>
                  <a:srgbClr val="526464"/>
                </a:solidFill>
                <a:latin typeface="Calibri"/>
                <a:ea typeface="Calibri"/>
                <a:cs typeface="Calibri"/>
              </a:defRPr>
            </a:lvl8pPr>
            <a:lvl9pPr algn="l">
              <a:defRPr sz="1875" b="0">
                <a:solidFill>
                  <a:srgbClr val="526464"/>
                </a:solidFill>
                <a:latin typeface="Calibri"/>
                <a:ea typeface="Calibri"/>
                <a:cs typeface="Calibri"/>
              </a:defRPr>
            </a:lvl9pPr>
          </a:lstStyle>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Filters change the view.</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Every assigned outcome</a:t>
            </a:r>
          </a:p>
          <a:p xmlns:a="http://schemas.openxmlformats.org/drawingml/2006/main">
            <a:pPr algn="l">
              <a:defRPr sz="1875" b="0">
                <a:solidFill>
                  <a:srgbClr val="526464"/>
                </a:solidFill>
                <a:latin typeface="Calibri"/>
                <a:ea typeface="Calibri"/>
                <a:cs typeface="Calibri"/>
              </a:defRPr>
            </a:pPr>
            <a:r>
              <a:rPr sz="1875" b="0">
                <a:solidFill>
                  <a:srgbClr val="526464"/>
                </a:solidFill>
                <a:latin typeface="Calibri"/>
                <a:ea typeface="Calibri"/>
                <a:cs typeface="Calibri"/>
              </a:rPr>
              <a:t>keeps its denominator.</a:t>
            </a:r>
          </a:p>
        </p:txBody>
      </p:sp>
      <p:pic>
        <p:nvPicPr>
          <p:cNvPr id="7" name="">
            <a:extLst xmlns:a="http://schemas.openxmlformats.org/drawingml/2006/main">
              <a:ext uri="{FF2B5EF4-FFF2-40B4-BE49-F238E27FC236}">
                <a16:creationId xmlns:a16="http://schemas.microsoft.com/office/drawing/2014/main" id="{C69DB16F-9743-4874-A26D-8442B154D1DB}"/>
              </a:ext>
            </a:extLst>
          </p:cNvPr>
          <p:cNvPicPr>
            <a:picLocks xmlns:a="http://schemas.openxmlformats.org/drawingml/2006/main" noChangeAspect="1"/>
          </p:cNvPicPr>
          <p:nvPr/>
        </p:nvPicPr>
        <p:blipFill>
          <a:blip xmlns:r="http://schemas.openxmlformats.org/officeDocument/2006/relationships" xmlns:a="http://schemas.openxmlformats.org/drawingml/2006/main" r:embed="Rf4352ab18e9f4a43"/>
          <a:stretch xmlns:a="http://schemas.openxmlformats.org/drawingml/2006/main"/>
        </p:blipFill>
        <p:spPr>
          <a:xfrm xmlns:a="http://schemas.openxmlformats.org/drawingml/2006/main">
            <a:off x="3916608" y="1666875"/>
            <a:ext cx="7683009" cy="4324350"/>
          </a:xfrm>
          <a:prstGeom xmlns:a="http://schemas.openxmlformats.org/drawingml/2006/main" prst="rect">
            <a:avLst/>
          </a:prstGeom>
        </p:spPr>
      </p:pic>
      <p:sp>
        <p:nvSpPr>
          <p:cNvPr id="8" name="Saved experiment records. The explorer supports raw-output inspection ">
            <a:extLst xmlns:a="http://schemas.openxmlformats.org/drawingml/2006/main">
              <a:ext uri="{FF2B5EF4-FFF2-40B4-BE49-F238E27FC236}">
                <a16:creationId xmlns:a16="http://schemas.microsoft.com/office/drawing/2014/main" id="{41556D00-5882-447D-AFF7-EEA3BA054BAC}"/>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Saved experiment records. The explorer supports raw-output inspection and JSON, CSV and scientific-figure exports.</a:t>
            </a:r>
          </a:p>
        </p:txBody>
      </p:sp>
    </p:spTree>
    <p:extLst>
      <p:ext uri="{BB962C8B-B14F-4D97-AF65-F5344CB8AC3E}">
        <p14:creationId xmlns:p14="http://schemas.microsoft.com/office/powerpoint/2010/main" val="201961996"/>
      </p:ext>
    </p:extLst>
  </p:cSld>
</p:sld>
</file>

<file path=ppt/slides/slide2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6" name="Engineering contribution and reproducibility">
            <a:extLst xmlns:a="http://schemas.openxmlformats.org/drawingml/2006/main">
              <a:ext uri="{FF2B5EF4-FFF2-40B4-BE49-F238E27FC236}">
                <a16:creationId xmlns:a16="http://schemas.microsoft.com/office/drawing/2014/main" id="{BA44F7DD-032B-4275-977C-530E801B470E}"/>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Engineering contribution and reproducibility</a:t>
            </a:r>
          </a:p>
        </p:txBody>
      </p:sp>
      <p:sp>
        <p:nvSpPr>
          <p:cNvPr id="2" name="Concrete software and analysis artifacts connect the product to defens">
            <a:extLst xmlns:a="http://schemas.openxmlformats.org/drawingml/2006/main">
              <a:ext uri="{FF2B5EF4-FFF2-40B4-BE49-F238E27FC236}">
                <a16:creationId xmlns:a16="http://schemas.microsoft.com/office/drawing/2014/main" id="{480A51F5-6BB9-4CA2-8F93-98F995ABD9EF}"/>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Concrete software and analysis artifacts connect the product to defensible measurements.</a:t>
            </a:r>
          </a:p>
        </p:txBody>
      </p:sp>
      <p:sp>
        <p:nvSpPr>
          <p:cNvPr id="3" name="28">
            <a:extLst xmlns:a="http://schemas.openxmlformats.org/drawingml/2006/main">
              <a:ext uri="{FF2B5EF4-FFF2-40B4-BE49-F238E27FC236}">
                <a16:creationId xmlns:a16="http://schemas.microsoft.com/office/drawing/2014/main" id="{B4049782-59B3-4335-B8D7-11B25EE39878}"/>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4EA7BF6A-91A9-4DE8-9A79-2B7BC01F41E7}"/>
              </a:ext>
            </a:extLst>
          </p:cNvPr>
          <p:cNvGraphicFramePr/>
          <p:nvPr/>
        </p:nvGraphicFramePr>
        <p:xfrm>
          <a:off xmlns:a="http://schemas.openxmlformats.org/drawingml/2006/main" x="628650" y="1809750"/>
          <a:ext xmlns:a="http://schemas.openxmlformats.org/drawingml/2006/main" cx="10906125" cy="3800475"/>
        </p:xfrm>
        <a:graphic xmlns:a="http://schemas.openxmlformats.org/drawingml/2006/main">
          <a:graphicData uri="http://schemas.openxmlformats.org/drawingml/2006/table">
            <a:tbl>
              <a:tblPr/>
              <a:tblGrid>
                <a:gridCol w="2714625"/>
                <a:gridCol w="4619625"/>
                <a:gridCol w="3571875"/>
              </a:tblGrid>
              <a:tr h="633413">
                <a:tc>
                  <a:txBody>
                    <a:bodyPr lIns="95250" tIns="95250" rIns="95250" bIns="95250"/>
                    <a:lstStyle/>
                    <a:p>
                      <a:r>
                        <a:rPr sz="1725" b="1">
                          <a:solidFill>
                            <a:srgbClr val="152B2B"/>
                          </a:solidFill>
                          <a:latin typeface="Calibri"/>
                          <a:ea typeface="Calibri"/>
                          <a:cs typeface="Calibri"/>
                        </a:rPr>
                        <a:t>Contribution</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725" b="1">
                          <a:solidFill>
                            <a:srgbClr val="152B2B"/>
                          </a:solidFill>
                          <a:latin typeface="Calibri"/>
                          <a:ea typeface="Calibri"/>
                          <a:cs typeface="Calibri"/>
                        </a:rPr>
                        <a:t>Implemented mechanism</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725" b="1">
                          <a:solidFill>
                            <a:srgbClr val="152B2B"/>
                          </a:solidFill>
                          <a:latin typeface="Calibri"/>
                          <a:ea typeface="Calibri"/>
                          <a:cs typeface="Calibri"/>
                        </a:rPr>
                        <a:t>Reviewable artifact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633413">
                <a:tc>
                  <a:txBody>
                    <a:bodyPr lIns="95250" tIns="95250" rIns="95250" bIns="95250"/>
                    <a:lstStyle/>
                    <a:p>
                      <a:r>
                        <a:rPr sz="1725" b="0">
                          <a:solidFill>
                            <a:srgbClr val="152B2B"/>
                          </a:solidFill>
                          <a:latin typeface="Calibri"/>
                          <a:ea typeface="Calibri"/>
                          <a:cs typeface="Calibri"/>
                        </a:rPr>
                        <a:t>Governed memory</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Identity, approval, events, rollback</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store.py + workspace.py</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33413">
                <a:tc>
                  <a:txBody>
                    <a:bodyPr lIns="95250" tIns="95250" rIns="95250" bIns="95250"/>
                    <a:lstStyle/>
                    <a:p>
                      <a:r>
                        <a:rPr sz="1725" b="0">
                          <a:solidFill>
                            <a:srgbClr val="152B2B"/>
                          </a:solidFill>
                          <a:latin typeface="Calibri"/>
                          <a:ea typeface="Calibri"/>
                          <a:cs typeface="Calibri"/>
                        </a:rPr>
                        <a:t>Context adaptation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Bounded frontier + history rules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retrieval.py + server.py</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33413">
                <a:tc>
                  <a:txBody>
                    <a:bodyPr lIns="95250" tIns="95250" rIns="95250" bIns="95250"/>
                    <a:lstStyle/>
                    <a:p>
                      <a:r>
                        <a:rPr sz="1725" b="0">
                          <a:solidFill>
                            <a:srgbClr val="152B2B"/>
                          </a:solidFill>
                          <a:latin typeface="Calibri"/>
                          <a:ea typeface="Calibri"/>
                          <a:cs typeface="Calibri"/>
                        </a:rPr>
                        <a:t>Independent evaluation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Worlds, splits, fixed scoring</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datasets + protocols + metrics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33413">
                <a:tc>
                  <a:txBody>
                    <a:bodyPr lIns="95250" tIns="95250" rIns="95250" bIns="95250"/>
                    <a:lstStyle/>
                    <a:p>
                      <a:r>
                        <a:rPr sz="1725" b="0">
                          <a:solidFill>
                            <a:srgbClr val="152B2B"/>
                          </a:solidFill>
                          <a:latin typeface="Calibri"/>
                          <a:ea typeface="Calibri"/>
                          <a:cs typeface="Calibri"/>
                        </a:rPr>
                        <a:t>Evidence and diagnosis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Raw ledgers, replay, 63-case audit</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receipts + audit scripts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33413">
                <a:tc>
                  <a:txBody>
                    <a:bodyPr lIns="95250" tIns="95250" rIns="95250" bIns="95250"/>
                    <a:lstStyle/>
                    <a:p>
                      <a:r>
                        <a:rPr sz="1725" b="0">
                          <a:solidFill>
                            <a:srgbClr val="152B2B"/>
                          </a:solidFill>
                          <a:latin typeface="Calibri"/>
                          <a:ea typeface="Calibri"/>
                          <a:cs typeface="Calibri"/>
                        </a:rPr>
                        <a:t>Usable deployment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Chat, editor, explorer, container</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static/ + notebooks + CI</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Reproducibility uses pinned model/data/config identities, atomic per-r">
            <a:extLst xmlns:a="http://schemas.openxmlformats.org/drawingml/2006/main">
              <a:ext uri="{FF2B5EF4-FFF2-40B4-BE49-F238E27FC236}">
                <a16:creationId xmlns:a16="http://schemas.microsoft.com/office/drawing/2014/main" id="{6228E4F8-011A-434E-ABFE-C20847615099}"/>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Reproducibility uses pinned model/data/config identities, atomic per-request records and resume of unexecuted requests only.</a:t>
            </a:r>
          </a:p>
        </p:txBody>
      </p:sp>
    </p:spTree>
    <p:extLst>
      <p:ext uri="{BB962C8B-B14F-4D97-AF65-F5344CB8AC3E}">
        <p14:creationId xmlns:p14="http://schemas.microsoft.com/office/powerpoint/2010/main" val="501757216"/>
      </p:ext>
    </p:extLst>
  </p:cSld>
</p:sld>
</file>

<file path=ppt/slides/slide29.xml><?xml version="1.0" encoding="utf-8"?>
<p:sld xmlns:p="http://schemas.openxmlformats.org/presentationml/2006/main">
  <p:cSld>
    <p:bg>
      <p:bgPr>
        <a:solidFill xmlns:a="http://schemas.openxmlformats.org/drawingml/2006/main">
          <a:srgbClr val="152B2B"/>
        </a:solidFill>
      </p:bgPr>
    </p:bg>
    <p:spTree>
      <p:nvGrpSpPr>
        <p:cNvPr id="1" name=""/>
        <p:cNvGrpSpPr/>
        <p:nvPr/>
      </p:nvGrpSpPr>
      <p:grpSpPr>
        <a:xfrm xmlns:a="http://schemas.openxmlformats.org/drawingml/2006/main"/>
      </p:grpSpPr>
      <p:sp>
        <p:nvSpPr>
          <p:cNvPr id="6" name="A reversible editing platform, evaluated">
            <a:extLst xmlns:a="http://schemas.openxmlformats.org/drawingml/2006/main">
              <a:ext uri="{FF2B5EF4-FFF2-40B4-BE49-F238E27FC236}">
                <a16:creationId xmlns:a16="http://schemas.microsoft.com/office/drawing/2014/main" id="{168ED570-0DDC-48DD-A1F8-1FBBE9714462}"/>
              </a:ext>
            </a:extLst>
          </p:cNvPr>
          <p:cNvSpPr>
            <a:spLocks xmlns:a="http://schemas.openxmlformats.org/drawingml/2006/main" noGrp="1"/>
          </p:cNvSpPr>
          <p:nvPr/>
        </p:nvSpPr>
        <p:spPr>
          <a:xfrm xmlns:a="http://schemas.openxmlformats.org/drawingml/2006/main">
            <a:off x="628650" y="4381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Calibri"/>
                <a:ea typeface="Calibri"/>
                <a:cs typeface="Calibri"/>
              </a:defRPr>
            </a:defPPr>
            <a:lvl1pPr algn="l">
              <a:defRPr sz="3300" b="1">
                <a:solidFill>
                  <a:srgbClr val="FFFFFF"/>
                </a:solidFill>
                <a:latin typeface="Calibri"/>
                <a:ea typeface="Calibri"/>
                <a:cs typeface="Calibri"/>
              </a:defRPr>
            </a:lvl1pPr>
            <a:lvl2pPr algn="l">
              <a:defRPr sz="3300" b="1">
                <a:solidFill>
                  <a:srgbClr val="FFFFFF"/>
                </a:solidFill>
                <a:latin typeface="Calibri"/>
                <a:ea typeface="Calibri"/>
                <a:cs typeface="Calibri"/>
              </a:defRPr>
            </a:lvl2pPr>
            <a:lvl3pPr algn="l">
              <a:defRPr sz="3300" b="1">
                <a:solidFill>
                  <a:srgbClr val="FFFFFF"/>
                </a:solidFill>
                <a:latin typeface="Calibri"/>
                <a:ea typeface="Calibri"/>
                <a:cs typeface="Calibri"/>
              </a:defRPr>
            </a:lvl3pPr>
            <a:lvl4pPr algn="l">
              <a:defRPr sz="3300" b="1">
                <a:solidFill>
                  <a:srgbClr val="FFFFFF"/>
                </a:solidFill>
                <a:latin typeface="Calibri"/>
                <a:ea typeface="Calibri"/>
                <a:cs typeface="Calibri"/>
              </a:defRPr>
            </a:lvl4pPr>
            <a:lvl5pPr algn="l">
              <a:defRPr sz="3300" b="1">
                <a:solidFill>
                  <a:srgbClr val="FFFFFF"/>
                </a:solidFill>
                <a:latin typeface="Calibri"/>
                <a:ea typeface="Calibri"/>
                <a:cs typeface="Calibri"/>
              </a:defRPr>
            </a:lvl5pPr>
            <a:lvl6pPr algn="l">
              <a:defRPr sz="3300" b="1">
                <a:solidFill>
                  <a:srgbClr val="FFFFFF"/>
                </a:solidFill>
                <a:latin typeface="Calibri"/>
                <a:ea typeface="Calibri"/>
                <a:cs typeface="Calibri"/>
              </a:defRPr>
            </a:lvl6pPr>
            <a:lvl7pPr algn="l">
              <a:defRPr sz="3300" b="1">
                <a:solidFill>
                  <a:srgbClr val="FFFFFF"/>
                </a:solidFill>
                <a:latin typeface="Calibri"/>
                <a:ea typeface="Calibri"/>
                <a:cs typeface="Calibri"/>
              </a:defRPr>
            </a:lvl7pPr>
            <a:lvl8pPr algn="l">
              <a:defRPr sz="3300" b="1">
                <a:solidFill>
                  <a:srgbClr val="FFFFFF"/>
                </a:solidFill>
                <a:latin typeface="Calibri"/>
                <a:ea typeface="Calibri"/>
                <a:cs typeface="Calibri"/>
              </a:defRPr>
            </a:lvl8pPr>
            <a:lvl9pPr algn="l">
              <a:defRPr sz="3300" b="1">
                <a:solidFill>
                  <a:srgbClr val="FFFFFF"/>
                </a:solidFill>
                <a:latin typeface="Calibri"/>
                <a:ea typeface="Calibri"/>
                <a:cs typeface="Calibri"/>
              </a:defRPr>
            </a:lvl9pPr>
          </a:lstStyle>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 reversible editing platform, evaluated</a:t>
            </a:r>
          </a:p>
        </p:txBody>
      </p:sp>
      <p:sp>
        <p:nvSpPr>
          <p:cNvPr id="2" name="Approved corrections transfer across connected facts&#10;and retain an ins">
            <a:extLst xmlns:a="http://schemas.openxmlformats.org/drawingml/2006/main">
              <a:ext uri="{FF2B5EF4-FFF2-40B4-BE49-F238E27FC236}">
                <a16:creationId xmlns:a16="http://schemas.microsoft.com/office/drawing/2014/main" id="{EBE1CB2B-1D91-4608-A595-91DCCEF45170}"/>
              </a:ext>
            </a:extLst>
          </p:cNvPr>
          <p:cNvSpPr>
            <a:spLocks xmlns:a="http://schemas.openxmlformats.org/drawingml/2006/main" noGrp="1"/>
          </p:cNvSpPr>
          <p:nvPr/>
        </p:nvSpPr>
        <p:spPr>
          <a:xfrm xmlns:a="http://schemas.openxmlformats.org/drawingml/2006/main">
            <a:off x="647700" y="16954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0">
                <a:solidFill>
                  <a:srgbClr val="FFFFFF"/>
                </a:solidFill>
                <a:latin typeface="Calibri"/>
                <a:ea typeface="Calibri"/>
                <a:cs typeface="Calibri"/>
              </a:defRPr>
            </a:defPPr>
            <a:lvl1pPr algn="l">
              <a:defRPr sz="2775" b="0">
                <a:solidFill>
                  <a:srgbClr val="FFFFFF"/>
                </a:solidFill>
                <a:latin typeface="Calibri"/>
                <a:ea typeface="Calibri"/>
                <a:cs typeface="Calibri"/>
              </a:defRPr>
            </a:lvl1pPr>
            <a:lvl2pPr algn="l">
              <a:defRPr sz="2775" b="0">
                <a:solidFill>
                  <a:srgbClr val="FFFFFF"/>
                </a:solidFill>
                <a:latin typeface="Calibri"/>
                <a:ea typeface="Calibri"/>
                <a:cs typeface="Calibri"/>
              </a:defRPr>
            </a:lvl2pPr>
            <a:lvl3pPr algn="l">
              <a:defRPr sz="2775" b="0">
                <a:solidFill>
                  <a:srgbClr val="FFFFFF"/>
                </a:solidFill>
                <a:latin typeface="Calibri"/>
                <a:ea typeface="Calibri"/>
                <a:cs typeface="Calibri"/>
              </a:defRPr>
            </a:lvl3pPr>
            <a:lvl4pPr algn="l">
              <a:defRPr sz="2775" b="0">
                <a:solidFill>
                  <a:srgbClr val="FFFFFF"/>
                </a:solidFill>
                <a:latin typeface="Calibri"/>
                <a:ea typeface="Calibri"/>
                <a:cs typeface="Calibri"/>
              </a:defRPr>
            </a:lvl4pPr>
            <a:lvl5pPr algn="l">
              <a:defRPr sz="2775" b="0">
                <a:solidFill>
                  <a:srgbClr val="FFFFFF"/>
                </a:solidFill>
                <a:latin typeface="Calibri"/>
                <a:ea typeface="Calibri"/>
                <a:cs typeface="Calibri"/>
              </a:defRPr>
            </a:lvl5pPr>
            <a:lvl6pPr algn="l">
              <a:defRPr sz="2775" b="0">
                <a:solidFill>
                  <a:srgbClr val="FFFFFF"/>
                </a:solidFill>
                <a:latin typeface="Calibri"/>
                <a:ea typeface="Calibri"/>
                <a:cs typeface="Calibri"/>
              </a:defRPr>
            </a:lvl6pPr>
            <a:lvl7pPr algn="l">
              <a:defRPr sz="2775" b="0">
                <a:solidFill>
                  <a:srgbClr val="FFFFFF"/>
                </a:solidFill>
                <a:latin typeface="Calibri"/>
                <a:ea typeface="Calibri"/>
                <a:cs typeface="Calibri"/>
              </a:defRPr>
            </a:lvl7pPr>
            <a:lvl8pPr algn="l">
              <a:defRPr sz="2775" b="0">
                <a:solidFill>
                  <a:srgbClr val="FFFFFF"/>
                </a:solidFill>
                <a:latin typeface="Calibri"/>
                <a:ea typeface="Calibri"/>
                <a:cs typeface="Calibri"/>
              </a:defRPr>
            </a:lvl8pPr>
            <a:lvl9pPr algn="l">
              <a:defRPr sz="2775" b="0">
                <a:solidFill>
                  <a:srgbClr val="FFFFFF"/>
                </a:solidFill>
                <a:latin typeface="Calibri"/>
                <a:ea typeface="Calibri"/>
                <a:cs typeface="Calibri"/>
              </a:defRPr>
            </a:lvl9pPr>
          </a:lstStyle>
          <a:p xmlns:a="http://schemas.openxmlformats.org/drawingml/2006/main">
            <a:pPr algn="l">
              <a:defRPr sz="2775" b="0">
                <a:solidFill>
                  <a:srgbClr val="FFFFFF"/>
                </a:solidFill>
                <a:latin typeface="Calibri"/>
                <a:ea typeface="Calibri"/>
                <a:cs typeface="Calibri"/>
              </a:defRPr>
            </a:pPr>
            <a:r>
              <a:rPr sz="2775" b="0">
                <a:solidFill>
                  <a:srgbClr val="FFFFFF"/>
                </a:solidFill>
                <a:latin typeface="Calibri"/>
                <a:ea typeface="Calibri"/>
                <a:cs typeface="Calibri"/>
              </a:rPr>
              <a:t>Approved corrections transfer across connected facts</a:t>
            </a:r>
          </a:p>
          <a:p xmlns:a="http://schemas.openxmlformats.org/drawingml/2006/main">
            <a:pPr algn="l">
              <a:defRPr sz="2775" b="0">
                <a:solidFill>
                  <a:srgbClr val="FFFFFF"/>
                </a:solidFill>
                <a:latin typeface="Calibri"/>
                <a:ea typeface="Calibri"/>
                <a:cs typeface="Calibri"/>
              </a:defRPr>
            </a:pPr>
            <a:r>
              <a:rPr sz="2775" b="0">
                <a:solidFill>
                  <a:srgbClr val="FFFFFF"/>
                </a:solidFill>
                <a:latin typeface="Calibri"/>
                <a:ea typeface="Calibri"/>
                <a:cs typeface="Calibri"/>
              </a:rPr>
              <a:t>and retain an inspectable, reversible history.</a:t>
            </a:r>
          </a:p>
        </p:txBody>
      </p:sp>
      <p:sp>
        <p:nvSpPr>
          <p:cNvPr id="3" name="Original retrieved: 256/256 vs 241/256&#10;Separate depth: 256/256 vs 248/">
            <a:extLst xmlns:a="http://schemas.openxmlformats.org/drawingml/2006/main">
              <a:ext uri="{FF2B5EF4-FFF2-40B4-BE49-F238E27FC236}">
                <a16:creationId xmlns:a16="http://schemas.microsoft.com/office/drawing/2014/main" id="{1184C650-85A5-47A8-87B2-F25B6DE30A34}"/>
              </a:ext>
            </a:extLst>
          </p:cNvPr>
          <p:cNvSpPr>
            <a:spLocks xmlns:a="http://schemas.openxmlformats.org/drawingml/2006/main" noGrp="1"/>
          </p:cNvSpPr>
          <p:nvPr/>
        </p:nvSpPr>
        <p:spPr>
          <a:xfrm xmlns:a="http://schemas.openxmlformats.org/drawingml/2006/main">
            <a:off x="647700" y="32099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C8DED7"/>
                </a:solidFill>
                <a:latin typeface="Calibri"/>
                <a:ea typeface="Calibri"/>
                <a:cs typeface="Calibri"/>
              </a:defRPr>
            </a:defPPr>
            <a:lvl1pPr algn="l">
              <a:defRPr sz="2475" b="0">
                <a:solidFill>
                  <a:srgbClr val="C8DED7"/>
                </a:solidFill>
                <a:latin typeface="Calibri"/>
                <a:ea typeface="Calibri"/>
                <a:cs typeface="Calibri"/>
              </a:defRPr>
            </a:lvl1pPr>
            <a:lvl2pPr algn="l">
              <a:defRPr sz="2475" b="0">
                <a:solidFill>
                  <a:srgbClr val="C8DED7"/>
                </a:solidFill>
                <a:latin typeface="Calibri"/>
                <a:ea typeface="Calibri"/>
                <a:cs typeface="Calibri"/>
              </a:defRPr>
            </a:lvl2pPr>
            <a:lvl3pPr algn="l">
              <a:defRPr sz="2475" b="0">
                <a:solidFill>
                  <a:srgbClr val="C8DED7"/>
                </a:solidFill>
                <a:latin typeface="Calibri"/>
                <a:ea typeface="Calibri"/>
                <a:cs typeface="Calibri"/>
              </a:defRPr>
            </a:lvl3pPr>
            <a:lvl4pPr algn="l">
              <a:defRPr sz="2475" b="0">
                <a:solidFill>
                  <a:srgbClr val="C8DED7"/>
                </a:solidFill>
                <a:latin typeface="Calibri"/>
                <a:ea typeface="Calibri"/>
                <a:cs typeface="Calibri"/>
              </a:defRPr>
            </a:lvl4pPr>
            <a:lvl5pPr algn="l">
              <a:defRPr sz="2475" b="0">
                <a:solidFill>
                  <a:srgbClr val="C8DED7"/>
                </a:solidFill>
                <a:latin typeface="Calibri"/>
                <a:ea typeface="Calibri"/>
                <a:cs typeface="Calibri"/>
              </a:defRPr>
            </a:lvl5pPr>
            <a:lvl6pPr algn="l">
              <a:defRPr sz="2475" b="0">
                <a:solidFill>
                  <a:srgbClr val="C8DED7"/>
                </a:solidFill>
                <a:latin typeface="Calibri"/>
                <a:ea typeface="Calibri"/>
                <a:cs typeface="Calibri"/>
              </a:defRPr>
            </a:lvl6pPr>
            <a:lvl7pPr algn="l">
              <a:defRPr sz="2475" b="0">
                <a:solidFill>
                  <a:srgbClr val="C8DED7"/>
                </a:solidFill>
                <a:latin typeface="Calibri"/>
                <a:ea typeface="Calibri"/>
                <a:cs typeface="Calibri"/>
              </a:defRPr>
            </a:lvl7pPr>
            <a:lvl8pPr algn="l">
              <a:defRPr sz="2475" b="0">
                <a:solidFill>
                  <a:srgbClr val="C8DED7"/>
                </a:solidFill>
                <a:latin typeface="Calibri"/>
                <a:ea typeface="Calibri"/>
                <a:cs typeface="Calibri"/>
              </a:defRPr>
            </a:lvl8pPr>
            <a:lvl9pPr algn="l">
              <a:defRPr sz="2475" b="0">
                <a:solidFill>
                  <a:srgbClr val="C8DED7"/>
                </a:solidFill>
                <a:latin typeface="Calibri"/>
                <a:ea typeface="Calibri"/>
                <a:cs typeface="Calibri"/>
              </a:defRPr>
            </a:lvl9pPr>
          </a:lstStyle>
          <a:p xmlns:a="http://schemas.openxmlformats.org/drawingml/2006/main">
            <a:pPr algn="l">
              <a:defRPr sz="2475" b="0">
                <a:solidFill>
                  <a:srgbClr val="C8DED7"/>
                </a:solidFill>
                <a:latin typeface="Calibri"/>
                <a:ea typeface="Calibri"/>
                <a:cs typeface="Calibri"/>
              </a:defRPr>
            </a:pPr>
            <a:r>
              <a:rPr sz="2475" b="0">
                <a:solidFill>
                  <a:srgbClr val="C8DED7"/>
                </a:solidFill>
                <a:latin typeface="Calibri"/>
                <a:ea typeface="Calibri"/>
                <a:cs typeface="Calibri"/>
              </a:rPr>
              <a:t>Original retrieved: 256/256 vs 241/256</a:t>
            </a:r>
          </a:p>
          <a:p xmlns:a="http://schemas.openxmlformats.org/drawingml/2006/main">
            <a:pPr algn="l">
              <a:defRPr sz="2475" b="0">
                <a:solidFill>
                  <a:srgbClr val="C8DED7"/>
                </a:solidFill>
                <a:latin typeface="Calibri"/>
                <a:ea typeface="Calibri"/>
                <a:cs typeface="Calibri"/>
              </a:defRPr>
            </a:pPr>
            <a:r>
              <a:rPr sz="2475" b="0">
                <a:solidFill>
                  <a:srgbClr val="C8DED7"/>
                </a:solidFill>
                <a:latin typeface="Calibri"/>
                <a:ea typeface="Calibri"/>
                <a:cs typeface="Calibri"/>
              </a:rPr>
              <a:t>Separate depth: 256/256 vs 248/256</a:t>
            </a:r>
          </a:p>
        </p:txBody>
      </p:sp>
      <p:sp>
        <p:nvSpPr>
          <p:cNvPr id="4" name="Depth median latency: 15.94 s vs 1.12 s.&#10;Stronger observed coverage ha">
            <a:extLst xmlns:a="http://schemas.openxmlformats.org/drawingml/2006/main">
              <a:ext uri="{FF2B5EF4-FFF2-40B4-BE49-F238E27FC236}">
                <a16:creationId xmlns:a16="http://schemas.microsoft.com/office/drawing/2014/main" id="{774DC653-921A-4A4D-B152-C796A7507353}"/>
              </a:ext>
            </a:extLst>
          </p:cNvPr>
          <p:cNvSpPr>
            <a:spLocks xmlns:a="http://schemas.openxmlformats.org/drawingml/2006/main" noGrp="1"/>
          </p:cNvSpPr>
          <p:nvPr/>
        </p:nvSpPr>
        <p:spPr>
          <a:xfrm xmlns:a="http://schemas.openxmlformats.org/drawingml/2006/main">
            <a:off x="647700" y="47053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FFFFFF"/>
                </a:solidFill>
                <a:latin typeface="Calibri"/>
                <a:ea typeface="Calibri"/>
                <a:cs typeface="Calibri"/>
              </a:defRPr>
            </a:defPPr>
            <a:lvl1pPr algn="l">
              <a:defRPr sz="2175" b="0">
                <a:solidFill>
                  <a:srgbClr val="FFFFFF"/>
                </a:solidFill>
                <a:latin typeface="Calibri"/>
                <a:ea typeface="Calibri"/>
                <a:cs typeface="Calibri"/>
              </a:defRPr>
            </a:lvl1pPr>
            <a:lvl2pPr algn="l">
              <a:defRPr sz="2175" b="0">
                <a:solidFill>
                  <a:srgbClr val="FFFFFF"/>
                </a:solidFill>
                <a:latin typeface="Calibri"/>
                <a:ea typeface="Calibri"/>
                <a:cs typeface="Calibri"/>
              </a:defRPr>
            </a:lvl2pPr>
            <a:lvl3pPr algn="l">
              <a:defRPr sz="2175" b="0">
                <a:solidFill>
                  <a:srgbClr val="FFFFFF"/>
                </a:solidFill>
                <a:latin typeface="Calibri"/>
                <a:ea typeface="Calibri"/>
                <a:cs typeface="Calibri"/>
              </a:defRPr>
            </a:lvl3pPr>
            <a:lvl4pPr algn="l">
              <a:defRPr sz="2175" b="0">
                <a:solidFill>
                  <a:srgbClr val="FFFFFF"/>
                </a:solidFill>
                <a:latin typeface="Calibri"/>
                <a:ea typeface="Calibri"/>
                <a:cs typeface="Calibri"/>
              </a:defRPr>
            </a:lvl4pPr>
            <a:lvl5pPr algn="l">
              <a:defRPr sz="2175" b="0">
                <a:solidFill>
                  <a:srgbClr val="FFFFFF"/>
                </a:solidFill>
                <a:latin typeface="Calibri"/>
                <a:ea typeface="Calibri"/>
                <a:cs typeface="Calibri"/>
              </a:defRPr>
            </a:lvl5pPr>
            <a:lvl6pPr algn="l">
              <a:defRPr sz="2175" b="0">
                <a:solidFill>
                  <a:srgbClr val="FFFFFF"/>
                </a:solidFill>
                <a:latin typeface="Calibri"/>
                <a:ea typeface="Calibri"/>
                <a:cs typeface="Calibri"/>
              </a:defRPr>
            </a:lvl6pPr>
            <a:lvl7pPr algn="l">
              <a:defRPr sz="2175" b="0">
                <a:solidFill>
                  <a:srgbClr val="FFFFFF"/>
                </a:solidFill>
                <a:latin typeface="Calibri"/>
                <a:ea typeface="Calibri"/>
                <a:cs typeface="Calibri"/>
              </a:defRPr>
            </a:lvl7pPr>
            <a:lvl8pPr algn="l">
              <a:defRPr sz="2175" b="0">
                <a:solidFill>
                  <a:srgbClr val="FFFFFF"/>
                </a:solidFill>
                <a:latin typeface="Calibri"/>
                <a:ea typeface="Calibri"/>
                <a:cs typeface="Calibri"/>
              </a:defRPr>
            </a:lvl8pPr>
            <a:lvl9pPr algn="l">
              <a:defRPr sz="2175" b="0">
                <a:solidFill>
                  <a:srgbClr val="FFFFFF"/>
                </a:solidFill>
                <a:latin typeface="Calibri"/>
                <a:ea typeface="Calibri"/>
                <a:cs typeface="Calibri"/>
              </a:defRPr>
            </a:lvl9pPr>
          </a:lstStyle>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Depth median latency: 15.94 s vs 1.12 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Stronger observed coverage has a substantial generation cost.</a:t>
            </a:r>
          </a:p>
        </p:txBody>
      </p:sp>
      <p:sp>
        <p:nvSpPr>
          <p:cNvPr id="5" name="Evidence is bounded by small fact worlds, repeated templates and autom">
            <a:extLst xmlns:a="http://schemas.openxmlformats.org/drawingml/2006/main">
              <a:ext uri="{FF2B5EF4-FFF2-40B4-BE49-F238E27FC236}">
                <a16:creationId xmlns:a16="http://schemas.microsoft.com/office/drawing/2014/main" id="{E989596B-5520-40E9-BEAA-DE4EAA92F21D}"/>
              </a:ext>
            </a:extLst>
          </p:cNvPr>
          <p:cNvSpPr>
            <a:spLocks xmlns:a="http://schemas.openxmlformats.org/drawingml/2006/main" noGrp="1"/>
          </p:cNvSpPr>
          <p:nvPr/>
        </p:nvSpPr>
        <p:spPr>
          <a:xfrm xmlns:a="http://schemas.openxmlformats.org/drawingml/2006/main">
            <a:off x="6477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C8DED7"/>
                </a:solidFill>
                <a:latin typeface="Calibri"/>
                <a:ea typeface="Calibri"/>
                <a:cs typeface="Calibri"/>
              </a:defRPr>
            </a:defPPr>
            <a:lvl1pPr algn="l">
              <a:defRPr sz="1725" b="0">
                <a:solidFill>
                  <a:srgbClr val="C8DED7"/>
                </a:solidFill>
                <a:latin typeface="Calibri"/>
                <a:ea typeface="Calibri"/>
                <a:cs typeface="Calibri"/>
              </a:defRPr>
            </a:lvl1pPr>
            <a:lvl2pPr algn="l">
              <a:defRPr sz="1725" b="0">
                <a:solidFill>
                  <a:srgbClr val="C8DED7"/>
                </a:solidFill>
                <a:latin typeface="Calibri"/>
                <a:ea typeface="Calibri"/>
                <a:cs typeface="Calibri"/>
              </a:defRPr>
            </a:lvl2pPr>
            <a:lvl3pPr algn="l">
              <a:defRPr sz="1725" b="0">
                <a:solidFill>
                  <a:srgbClr val="C8DED7"/>
                </a:solidFill>
                <a:latin typeface="Calibri"/>
                <a:ea typeface="Calibri"/>
                <a:cs typeface="Calibri"/>
              </a:defRPr>
            </a:lvl3pPr>
            <a:lvl4pPr algn="l">
              <a:defRPr sz="1725" b="0">
                <a:solidFill>
                  <a:srgbClr val="C8DED7"/>
                </a:solidFill>
                <a:latin typeface="Calibri"/>
                <a:ea typeface="Calibri"/>
                <a:cs typeface="Calibri"/>
              </a:defRPr>
            </a:lvl4pPr>
            <a:lvl5pPr algn="l">
              <a:defRPr sz="1725" b="0">
                <a:solidFill>
                  <a:srgbClr val="C8DED7"/>
                </a:solidFill>
                <a:latin typeface="Calibri"/>
                <a:ea typeface="Calibri"/>
                <a:cs typeface="Calibri"/>
              </a:defRPr>
            </a:lvl5pPr>
            <a:lvl6pPr algn="l">
              <a:defRPr sz="1725" b="0">
                <a:solidFill>
                  <a:srgbClr val="C8DED7"/>
                </a:solidFill>
                <a:latin typeface="Calibri"/>
                <a:ea typeface="Calibri"/>
                <a:cs typeface="Calibri"/>
              </a:defRPr>
            </a:lvl6pPr>
            <a:lvl7pPr algn="l">
              <a:defRPr sz="1725" b="0">
                <a:solidFill>
                  <a:srgbClr val="C8DED7"/>
                </a:solidFill>
                <a:latin typeface="Calibri"/>
                <a:ea typeface="Calibri"/>
                <a:cs typeface="Calibri"/>
              </a:defRPr>
            </a:lvl7pPr>
            <a:lvl8pPr algn="l">
              <a:defRPr sz="1725" b="0">
                <a:solidFill>
                  <a:srgbClr val="C8DED7"/>
                </a:solidFill>
                <a:latin typeface="Calibri"/>
                <a:ea typeface="Calibri"/>
                <a:cs typeface="Calibri"/>
              </a:defRPr>
            </a:lvl8pPr>
            <a:lvl9pPr algn="l">
              <a:defRPr sz="1725" b="0">
                <a:solidFill>
                  <a:srgbClr val="C8DED7"/>
                </a:solidFill>
                <a:latin typeface="Calibri"/>
                <a:ea typeface="Calibri"/>
                <a:cs typeface="Calibri"/>
              </a:defRPr>
            </a:lvl9pPr>
          </a:lstStyle>
          <a:p xmlns:a="http://schemas.openxmlformats.org/drawingml/2006/main">
            <a:pPr algn="l">
              <a:defRPr sz="1725" b="0">
                <a:solidFill>
                  <a:srgbClr val="C8DED7"/>
                </a:solidFill>
                <a:latin typeface="Calibri"/>
                <a:ea typeface="Calibri"/>
                <a:cs typeface="Calibri"/>
              </a:defRPr>
            </a:pPr>
            <a:r>
              <a:rPr sz="1725" b="0">
                <a:solidFill>
                  <a:srgbClr val="C8DED7"/>
                </a:solidFill>
                <a:latin typeface="Calibri"/>
                <a:ea typeface="Calibri"/>
                <a:cs typeface="Calibri"/>
              </a:rPr>
              <a:t>Evidence is bounded by small fact worlds, repeated templates and automated review.</a:t>
            </a:r>
          </a:p>
          <a:p xmlns:a="http://schemas.openxmlformats.org/drawingml/2006/main">
            <a:pPr algn="l">
              <a:defRPr sz="1725" b="0">
                <a:solidFill>
                  <a:srgbClr val="C8DED7"/>
                </a:solidFill>
                <a:latin typeface="Calibri"/>
                <a:ea typeface="Calibri"/>
                <a:cs typeface="Calibri"/>
              </a:defRPr>
            </a:pPr>
            <a:r>
              <a:rPr sz="1725" b="0">
                <a:solidFill>
                  <a:srgbClr val="C8DED7"/>
                </a:solidFill>
                <a:latin typeface="Calibri"/>
                <a:ea typeface="Calibri"/>
                <a:cs typeface="Calibri"/>
              </a:rPr>
              <a:t>Larger memory, ambiguous scope and fully faithful explanations remain unestablished.</a:t>
            </a:r>
          </a:p>
        </p:txBody>
      </p:sp>
    </p:spTree>
    <p:extLst>
      <p:ext uri="{BB962C8B-B14F-4D97-AF65-F5344CB8AC3E}">
        <p14:creationId xmlns:p14="http://schemas.microsoft.com/office/powerpoint/2010/main" val="279375618"/>
      </p:ext>
    </p:extLst>
  </p:cSld>
</p:sld>
</file>

<file path=ppt/slides/slide3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7" name="PPO objective and reward implementation">
            <a:extLst xmlns:a="http://schemas.openxmlformats.org/drawingml/2006/main">
              <a:ext uri="{FF2B5EF4-FFF2-40B4-BE49-F238E27FC236}">
                <a16:creationId xmlns:a16="http://schemas.microsoft.com/office/drawing/2014/main" id="{4D10D3BF-6AD7-490A-92BD-D3B1173EE100}"/>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PPO objective and reward implementation</a:t>
            </a:r>
          </a:p>
        </p:txBody>
      </p:sp>
      <p:sp>
        <p:nvSpPr>
          <p:cNvPr id="2" name="The clipped surrogate constrains policy updates. Training reference se">
            <a:extLst xmlns:a="http://schemas.openxmlformats.org/drawingml/2006/main">
              <a:ext uri="{FF2B5EF4-FFF2-40B4-BE49-F238E27FC236}">
                <a16:creationId xmlns:a16="http://schemas.microsoft.com/office/drawing/2014/main" id="{2BB0D3FA-16BF-4E0D-B2C4-F870410BD94E}"/>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The clipped surrogate constrains policy updates. Training reference settings follow below.</a:t>
            </a:r>
          </a:p>
        </p:txBody>
      </p:sp>
      <p:sp>
        <p:nvSpPr>
          <p:cNvPr id="3" name="30">
            <a:extLst xmlns:a="http://schemas.openxmlformats.org/drawingml/2006/main">
              <a:ext uri="{FF2B5EF4-FFF2-40B4-BE49-F238E27FC236}">
                <a16:creationId xmlns:a16="http://schemas.microsoft.com/office/drawing/2014/main" id="{5A826CAF-558A-4232-B336-2002BFE5E060}"/>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30</a:t>
            </a:r>
          </a:p>
        </p:txBody>
      </p:sp>
      <p:sp>
        <p:nvSpPr>
          <p:cNvPr id="4" name="rₜ(θ) = πθ(oₜ | q, o&lt;ₜ) / πold(oₜ | q, o&lt;ₜ)&#10;&#10;Jclip = E[min(rₜ Aₜ, clip">
            <a:extLst xmlns:a="http://schemas.openxmlformats.org/drawingml/2006/main">
              <a:ext uri="{FF2B5EF4-FFF2-40B4-BE49-F238E27FC236}">
                <a16:creationId xmlns:a16="http://schemas.microsoft.com/office/drawing/2014/main" id="{BED96F96-73E0-431C-A002-8BDC6B60F13B}"/>
              </a:ext>
            </a:extLst>
          </p:cNvPr>
          <p:cNvSpPr>
            <a:spLocks xmlns:a="http://schemas.openxmlformats.org/drawingml/2006/main" noGrp="1"/>
          </p:cNvSpPr>
          <p:nvPr/>
        </p:nvSpPr>
        <p:spPr>
          <a:xfrm xmlns:a="http://schemas.openxmlformats.org/drawingml/2006/main">
            <a:off x="647700" y="1914525"/>
            <a:ext cx="10715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52B2B"/>
                </a:solidFill>
                <a:latin typeface="Calibri"/>
                <a:ea typeface="Calibri"/>
                <a:cs typeface="Calibri"/>
              </a:defRPr>
            </a:defPPr>
            <a:lvl1pPr algn="l">
              <a:defRPr sz="2175" b="0">
                <a:solidFill>
                  <a:srgbClr val="152B2B"/>
                </a:solidFill>
                <a:latin typeface="Calibri"/>
                <a:ea typeface="Calibri"/>
                <a:cs typeface="Calibri"/>
              </a:defRPr>
            </a:lvl1pPr>
            <a:lvl2pPr algn="l">
              <a:defRPr sz="2175" b="0">
                <a:solidFill>
                  <a:srgbClr val="152B2B"/>
                </a:solidFill>
                <a:latin typeface="Calibri"/>
                <a:ea typeface="Calibri"/>
                <a:cs typeface="Calibri"/>
              </a:defRPr>
            </a:lvl2pPr>
            <a:lvl3pPr algn="l">
              <a:defRPr sz="2175" b="0">
                <a:solidFill>
                  <a:srgbClr val="152B2B"/>
                </a:solidFill>
                <a:latin typeface="Calibri"/>
                <a:ea typeface="Calibri"/>
                <a:cs typeface="Calibri"/>
              </a:defRPr>
            </a:lvl3pPr>
            <a:lvl4pPr algn="l">
              <a:defRPr sz="2175" b="0">
                <a:solidFill>
                  <a:srgbClr val="152B2B"/>
                </a:solidFill>
                <a:latin typeface="Calibri"/>
                <a:ea typeface="Calibri"/>
                <a:cs typeface="Calibri"/>
              </a:defRPr>
            </a:lvl4pPr>
            <a:lvl5pPr algn="l">
              <a:defRPr sz="2175" b="0">
                <a:solidFill>
                  <a:srgbClr val="152B2B"/>
                </a:solidFill>
                <a:latin typeface="Calibri"/>
                <a:ea typeface="Calibri"/>
                <a:cs typeface="Calibri"/>
              </a:defRPr>
            </a:lvl5pPr>
            <a:lvl6pPr algn="l">
              <a:defRPr sz="2175" b="0">
                <a:solidFill>
                  <a:srgbClr val="152B2B"/>
                </a:solidFill>
                <a:latin typeface="Calibri"/>
                <a:ea typeface="Calibri"/>
                <a:cs typeface="Calibri"/>
              </a:defRPr>
            </a:lvl6pPr>
            <a:lvl7pPr algn="l">
              <a:defRPr sz="2175" b="0">
                <a:solidFill>
                  <a:srgbClr val="152B2B"/>
                </a:solidFill>
                <a:latin typeface="Calibri"/>
                <a:ea typeface="Calibri"/>
                <a:cs typeface="Calibri"/>
              </a:defRPr>
            </a:lvl7pPr>
            <a:lvl8pPr algn="l">
              <a:defRPr sz="2175" b="0">
                <a:solidFill>
                  <a:srgbClr val="152B2B"/>
                </a:solidFill>
                <a:latin typeface="Calibri"/>
                <a:ea typeface="Calibri"/>
                <a:cs typeface="Calibri"/>
              </a:defRPr>
            </a:lvl8pPr>
            <a:lvl9pPr algn="l">
              <a:defRPr sz="2175" b="0">
                <a:solidFill>
                  <a:srgbClr val="152B2B"/>
                </a:solidFill>
                <a:latin typeface="Calibri"/>
                <a:ea typeface="Calibri"/>
                <a:cs typeface="Calibri"/>
              </a:defRPr>
            </a:lvl9pPr>
          </a:lstStyle>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rₜ(θ) = πθ(oₜ | q, o&lt;ₜ) / πold(oₜ | q, o&lt;ₜ)</a:t>
            </a:r>
          </a:p>
          <a:p xmlns:a="http://schemas.openxmlformats.org/drawingml/2006/main">
            <a:r>
              <a:t/>
            </a:r>
          </a:p>
          <a:p xmlns:a="http://schemas.openxmlformats.org/drawingml/2006/main">
            <a:pPr algn="l">
              <a:defRPr sz="2175" b="0">
                <a:solidFill>
                  <a:srgbClr val="152B2B"/>
                </a:solidFill>
                <a:latin typeface="Calibri"/>
                <a:ea typeface="Calibri"/>
                <a:cs typeface="Calibri"/>
              </a:defRPr>
            </a:pPr>
            <a:r>
              <a:rPr sz="2175" b="0">
                <a:solidFill>
                  <a:srgbClr val="152B2B"/>
                </a:solidFill>
                <a:latin typeface="Calibri"/>
                <a:ea typeface="Calibri"/>
                <a:cs typeface="Calibri"/>
              </a:rPr>
              <a:t>Jclip = E[min(rₜ Aₜ, clip(rₜ, 1−ε, 1+ε) Aₜ)]</a:t>
            </a:r>
          </a:p>
        </p:txBody>
      </p:sp>
      <p:graphicFrame>
        <p:nvGraphicFramePr>
          <p:cNvPr id="5" name="">
            <a:extLst xmlns:a="http://schemas.openxmlformats.org/drawingml/2006/main">
              <a:ext uri="{FF2B5EF4-FFF2-40B4-BE49-F238E27FC236}">
                <a16:creationId xmlns:a16="http://schemas.microsoft.com/office/drawing/2014/main" id="{89954E99-C60D-46CB-AA21-3B535547E436}"/>
              </a:ext>
            </a:extLst>
          </p:cNvPr>
          <p:cNvGraphicFramePr/>
          <p:nvPr/>
        </p:nvGraphicFramePr>
        <p:xfrm>
          <a:off xmlns:a="http://schemas.openxmlformats.org/drawingml/2006/main" x="628650" y="3495675"/>
          <a:ext xmlns:a="http://schemas.openxmlformats.org/drawingml/2006/main" cx="10906125" cy="1905000"/>
        </p:xfrm>
        <a:graphic xmlns:a="http://schemas.openxmlformats.org/drawingml/2006/main">
          <a:graphicData uri="http://schemas.openxmlformats.org/drawingml/2006/table">
            <a:tbl>
              <a:tblPr/>
              <a:tblGrid>
                <a:gridCol w="4095750"/>
                <a:gridCol w="2714625"/>
                <a:gridCol w="4095750"/>
              </a:tblGrid>
              <a:tr h="476250">
                <a:tc>
                  <a:txBody>
                    <a:bodyPr lIns="95250" tIns="95250" rIns="95250" bIns="95250"/>
                    <a:lstStyle/>
                    <a:p>
                      <a:r>
                        <a:rPr sz="1800" b="1">
                          <a:solidFill>
                            <a:srgbClr val="152B2B"/>
                          </a:solidFill>
                          <a:latin typeface="Calibri"/>
                          <a:ea typeface="Calibri"/>
                          <a:cs typeface="Calibri"/>
                        </a:rPr>
                        <a:t>Reference setting</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SFT</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PPO</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476250">
                <a:tc>
                  <a:txBody>
                    <a:bodyPr lIns="95250" tIns="95250" rIns="95250" bIns="95250"/>
                    <a:lstStyle/>
                    <a:p>
                      <a:r>
                        <a:rPr sz="1800" b="0">
                          <a:solidFill>
                            <a:srgbClr val="152B2B"/>
                          </a:solidFill>
                          <a:latin typeface="Calibri"/>
                          <a:ea typeface="Calibri"/>
                          <a:cs typeface="Calibri"/>
                        </a:rPr>
                        <a:t>Learning rate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1e−5</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Actor 1e−6, critic 1e−5</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476250">
                <a:tc>
                  <a:txBody>
                    <a:bodyPr lIns="95250" tIns="95250" rIns="95250" bIns="95250"/>
                    <a:lstStyle/>
                    <a:p>
                      <a:r>
                        <a:rPr sz="1800" b="0">
                          <a:solidFill>
                            <a:srgbClr val="152B2B"/>
                          </a:solidFill>
                          <a:latin typeface="Calibri"/>
                          <a:ea typeface="Calibri"/>
                          <a:cs typeface="Calibri"/>
                        </a:rPr>
                        <a:t>Epochs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10</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15</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476250">
                <a:tc>
                  <a:txBody>
                    <a:bodyPr lIns="95250" tIns="95250" rIns="95250" bIns="95250"/>
                    <a:lstStyle/>
                    <a:p>
                      <a:r>
                        <a:rPr sz="1800" b="0">
                          <a:solidFill>
                            <a:srgbClr val="152B2B"/>
                          </a:solidFill>
                          <a:latin typeface="Calibri"/>
                          <a:ea typeface="Calibri"/>
                          <a:cs typeface="Calibri"/>
                        </a:rPr>
                        <a:t>KL coefficient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0.001</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Paper: αRprocess + (1−α)Routcome, main α=0.5. Pinned reward code: Rpro">
            <a:extLst xmlns:a="http://schemas.openxmlformats.org/drawingml/2006/main">
              <a:ext uri="{FF2B5EF4-FFF2-40B4-BE49-F238E27FC236}">
                <a16:creationId xmlns:a16="http://schemas.microsoft.com/office/drawing/2014/main" id="{14908D4F-9C15-4C40-A544-3A0AFBE83291}"/>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Paper: αRprocess + (1−α)Routcome, main α=0.5. Pinned reward code: Rprocess + Routcome.</a:t>
            </a:r>
          </a:p>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Equal component weighting with different reward scale relative to KL.</a:t>
            </a:r>
          </a:p>
        </p:txBody>
      </p:sp>
    </p:spTree>
    <p:extLst>
      <p:ext uri="{BB962C8B-B14F-4D97-AF65-F5344CB8AC3E}">
        <p14:creationId xmlns:p14="http://schemas.microsoft.com/office/powerpoint/2010/main" val="1300627328"/>
      </p:ext>
    </p:extLst>
  </p:cSld>
</p:sld>
</file>

<file path=ppt/slides/slide3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7" name="Answer-contract failures in detail">
            <a:extLst xmlns:a="http://schemas.openxmlformats.org/drawingml/2006/main">
              <a:ext uri="{FF2B5EF4-FFF2-40B4-BE49-F238E27FC236}">
                <a16:creationId xmlns:a16="http://schemas.microsoft.com/office/drawing/2014/main" id="{34D43D26-BBFD-4C3B-892A-779EB2A095D6}"/>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Answer-contract failures in detail</a:t>
            </a:r>
          </a:p>
        </p:txBody>
      </p:sp>
      <p:sp>
        <p:nvSpPr>
          <p:cNvPr id="2" name="All strict primary scores stay unchanged after inspection.">
            <a:extLst xmlns:a="http://schemas.openxmlformats.org/drawingml/2006/main">
              <a:ext uri="{FF2B5EF4-FFF2-40B4-BE49-F238E27FC236}">
                <a16:creationId xmlns:a16="http://schemas.microsoft.com/office/drawing/2014/main" id="{4BDCBC08-F891-49EE-8E5C-23B388098C14}"/>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All strict primary scores stay unchanged after inspection.</a:t>
            </a:r>
          </a:p>
        </p:txBody>
      </p:sp>
      <p:sp>
        <p:nvSpPr>
          <p:cNvPr id="3" name="31">
            <a:extLst xmlns:a="http://schemas.openxmlformats.org/drawingml/2006/main">
              <a:ext uri="{FF2B5EF4-FFF2-40B4-BE49-F238E27FC236}">
                <a16:creationId xmlns:a16="http://schemas.microsoft.com/office/drawing/2014/main" id="{4351D388-042C-44A2-A60A-70A357C27399}"/>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31</a:t>
            </a:r>
          </a:p>
        </p:txBody>
      </p:sp>
      <p:graphicFrame>
        <p:nvGraphicFramePr>
          <p:cNvPr id="4" name="">
            <a:extLst xmlns:a="http://schemas.openxmlformats.org/drawingml/2006/main">
              <a:ext uri="{FF2B5EF4-FFF2-40B4-BE49-F238E27FC236}">
                <a16:creationId xmlns:a16="http://schemas.microsoft.com/office/drawing/2014/main" id="{7CA754FD-8C44-4221-B5EB-D3D8235C0A35}"/>
              </a:ext>
            </a:extLst>
          </p:cNvPr>
          <p:cNvGraphicFramePr/>
          <p:nvPr/>
        </p:nvGraphicFramePr>
        <p:xfrm>
          <a:off xmlns:a="http://schemas.openxmlformats.org/drawingml/2006/main" x="628650" y="1885950"/>
          <a:ext xmlns:a="http://schemas.openxmlformats.org/drawingml/2006/main" cx="10906125" cy="2714625"/>
        </p:xfrm>
        <a:graphic xmlns:a="http://schemas.openxmlformats.org/drawingml/2006/main">
          <a:graphicData uri="http://schemas.openxmlformats.org/drawingml/2006/table">
            <a:tbl>
              <a:tblPr/>
              <a:tblGrid>
                <a:gridCol w="3476625"/>
                <a:gridCol w="2524125"/>
                <a:gridCol w="4905375"/>
              </a:tblGrid>
              <a:tr h="678656">
                <a:tc>
                  <a:txBody>
                    <a:bodyPr lIns="95250" tIns="95250" rIns="95250" bIns="95250"/>
                    <a:lstStyle/>
                    <a:p>
                      <a:r>
                        <a:rPr sz="1725" b="1">
                          <a:solidFill>
                            <a:srgbClr val="152B2B"/>
                          </a:solidFill>
                          <a:latin typeface="Calibri"/>
                          <a:ea typeface="Calibri"/>
                          <a:cs typeface="Calibri"/>
                        </a:rPr>
                        <a:t>G-ALL record</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725" b="1">
                          <a:solidFill>
                            <a:srgbClr val="152B2B"/>
                          </a:solidFill>
                          <a:latin typeface="Calibri"/>
                          <a:ea typeface="Calibri"/>
                          <a:cs typeface="Calibri"/>
                        </a:rPr>
                        <a:t>Expected person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725" b="1">
                          <a:solidFill>
                            <a:srgbClr val="152B2B"/>
                          </a:solidFill>
                          <a:latin typeface="Calibri"/>
                          <a:ea typeface="Calibri"/>
                          <a:cs typeface="Calibri"/>
                        </a:rPr>
                        <a:t>Endorsed final span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678656">
                <a:tc>
                  <a:txBody>
                    <a:bodyPr lIns="95250" tIns="95250" rIns="95250" bIns="95250"/>
                    <a:lstStyle/>
                    <a:p>
                      <a:r>
                        <a:rPr sz="1725" b="0">
                          <a:solidFill>
                            <a:srgbClr val="152B2B"/>
                          </a:solidFill>
                          <a:latin typeface="Calibri"/>
                          <a:ea typeface="Calibri"/>
                          <a:cs typeface="Calibri"/>
                        </a:rPr>
                        <a:t>ops-045 two-hop paraphrase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Nira Wren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Cedar unit 116 Nira Wren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78656">
                <a:tc>
                  <a:txBody>
                    <a:bodyPr lIns="95250" tIns="95250" rIns="95250" bIns="95250"/>
                    <a:lstStyle/>
                    <a:p>
                      <a:r>
                        <a:rPr sz="1725" b="0">
                          <a:solidFill>
                            <a:srgbClr val="152B2B"/>
                          </a:solidFill>
                          <a:latin typeface="Calibri"/>
                          <a:ea typeface="Calibri"/>
                          <a:cs typeface="Calibri"/>
                        </a:rPr>
                        <a:t>ops-047 two-hop paraphrase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Serin Wren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Indigo unit 118 Serin Wren</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678656">
                <a:tc>
                  <a:txBody>
                    <a:bodyPr lIns="95250" tIns="95250" rIns="95250" bIns="95250"/>
                    <a:lstStyle/>
                    <a:p>
                      <a:r>
                        <a:rPr sz="1725" b="0">
                          <a:solidFill>
                            <a:srgbClr val="152B2B"/>
                          </a:solidFill>
                          <a:latin typeface="Calibri"/>
                          <a:ea typeface="Calibri"/>
                          <a:cs typeface="Calibri"/>
                        </a:rPr>
                        <a:t>ops-005 two-hop paraphrase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Nira Dane</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725" b="0">
                          <a:solidFill>
                            <a:srgbClr val="152B2B"/>
                          </a:solidFill>
                          <a:latin typeface="Calibri"/>
                          <a:ea typeface="Calibri"/>
                          <a:cs typeface="Calibri"/>
                        </a:rPr>
                        <a:t>Indigo unit 136 Nira Dane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Two outputs contain a compatible correct owner/contact chain but add u">
            <a:extLst xmlns:a="http://schemas.openxmlformats.org/drawingml/2006/main">
              <a:ext uri="{FF2B5EF4-FFF2-40B4-BE49-F238E27FC236}">
                <a16:creationId xmlns:a16="http://schemas.microsoft.com/office/drawing/2014/main" id="{8A344134-427A-4BA6-AD42-FF6DCADDACEA}"/>
              </a:ext>
            </a:extLst>
          </p:cNvPr>
          <p:cNvSpPr>
            <a:spLocks xmlns:a="http://schemas.openxmlformats.org/drawingml/2006/main" noGrp="1"/>
          </p:cNvSpPr>
          <p:nvPr/>
        </p:nvSpPr>
        <p:spPr>
          <a:xfrm xmlns:a="http://schemas.openxmlformats.org/drawingml/2006/main">
            <a:off x="647700" y="5019675"/>
            <a:ext cx="1071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52B2B"/>
                </a:solidFill>
                <a:latin typeface="Calibri"/>
                <a:ea typeface="Calibri"/>
                <a:cs typeface="Calibri"/>
              </a:defRPr>
            </a:defPPr>
            <a:lvl1pPr algn="l">
              <a:defRPr sz="1950" b="0">
                <a:solidFill>
                  <a:srgbClr val="152B2B"/>
                </a:solidFill>
                <a:latin typeface="Calibri"/>
                <a:ea typeface="Calibri"/>
                <a:cs typeface="Calibri"/>
              </a:defRPr>
            </a:lvl1pPr>
            <a:lvl2pPr algn="l">
              <a:defRPr sz="1950" b="0">
                <a:solidFill>
                  <a:srgbClr val="152B2B"/>
                </a:solidFill>
                <a:latin typeface="Calibri"/>
                <a:ea typeface="Calibri"/>
                <a:cs typeface="Calibri"/>
              </a:defRPr>
            </a:lvl2pPr>
            <a:lvl3pPr algn="l">
              <a:defRPr sz="1950" b="0">
                <a:solidFill>
                  <a:srgbClr val="152B2B"/>
                </a:solidFill>
                <a:latin typeface="Calibri"/>
                <a:ea typeface="Calibri"/>
                <a:cs typeface="Calibri"/>
              </a:defRPr>
            </a:lvl3pPr>
            <a:lvl4pPr algn="l">
              <a:defRPr sz="1950" b="0">
                <a:solidFill>
                  <a:srgbClr val="152B2B"/>
                </a:solidFill>
                <a:latin typeface="Calibri"/>
                <a:ea typeface="Calibri"/>
                <a:cs typeface="Calibri"/>
              </a:defRPr>
            </a:lvl4pPr>
            <a:lvl5pPr algn="l">
              <a:defRPr sz="1950" b="0">
                <a:solidFill>
                  <a:srgbClr val="152B2B"/>
                </a:solidFill>
                <a:latin typeface="Calibri"/>
                <a:ea typeface="Calibri"/>
                <a:cs typeface="Calibri"/>
              </a:defRPr>
            </a:lvl5pPr>
            <a:lvl6pPr algn="l">
              <a:defRPr sz="1950" b="0">
                <a:solidFill>
                  <a:srgbClr val="152B2B"/>
                </a:solidFill>
                <a:latin typeface="Calibri"/>
                <a:ea typeface="Calibri"/>
                <a:cs typeface="Calibri"/>
              </a:defRPr>
            </a:lvl6pPr>
            <a:lvl7pPr algn="l">
              <a:defRPr sz="1950" b="0">
                <a:solidFill>
                  <a:srgbClr val="152B2B"/>
                </a:solidFill>
                <a:latin typeface="Calibri"/>
                <a:ea typeface="Calibri"/>
                <a:cs typeface="Calibri"/>
              </a:defRPr>
            </a:lvl7pPr>
            <a:lvl8pPr algn="l">
              <a:defRPr sz="1950" b="0">
                <a:solidFill>
                  <a:srgbClr val="152B2B"/>
                </a:solidFill>
                <a:latin typeface="Calibri"/>
                <a:ea typeface="Calibri"/>
                <a:cs typeface="Calibri"/>
              </a:defRPr>
            </a:lvl8pPr>
            <a:lvl9pPr algn="l">
              <a:defRPr sz="1950" b="0">
                <a:solidFill>
                  <a:srgbClr val="152B2B"/>
                </a:solidFill>
                <a:latin typeface="Calibri"/>
                <a:ea typeface="Calibri"/>
                <a:cs typeface="Calibri"/>
              </a:defRPr>
            </a:lvl9pPr>
          </a:lstStyle>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Two outputs contain a compatible correct owner/contact chain but add unwanted text.</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One combines a Pro owner with the correct contact.</a:t>
            </a:r>
          </a:p>
          <a:p xmlns:a="http://schemas.openxmlformats.org/drawingml/2006/main">
            <a:pPr algn="l">
              <a:defRPr sz="1950" b="0">
                <a:solidFill>
                  <a:srgbClr val="152B2B"/>
                </a:solidFill>
                <a:latin typeface="Calibri"/>
                <a:ea typeface="Calibri"/>
                <a:cs typeface="Calibri"/>
              </a:defRPr>
            </a:pPr>
            <a:r>
              <a:rPr sz="1950" b="0">
                <a:solidFill>
                  <a:srgbClr val="152B2B"/>
                </a:solidFill>
                <a:latin typeface="Calibri"/>
                <a:ea typeface="Calibri"/>
                <a:cs typeface="Calibri"/>
              </a:rPr>
              <a:t>Two Reason-KE++ wrong finals also contain the expected value in a boxed intermediate step.</a:t>
            </a:r>
          </a:p>
        </p:txBody>
      </p:sp>
      <p:sp>
        <p:nvSpPr>
          <p:cNvPr id="6" name="Post-hoc description distinguishes answer-contract and fact-associatio">
            <a:extLst xmlns:a="http://schemas.openxmlformats.org/drawingml/2006/main">
              <a:ext uri="{FF2B5EF4-FFF2-40B4-BE49-F238E27FC236}">
                <a16:creationId xmlns:a16="http://schemas.microsoft.com/office/drawing/2014/main" id="{4343B335-5078-4F8D-8A93-35B3FF5D0825}"/>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Post-hoc description distinguishes answer-contract and fact-association failures. It does not turn failures into new successes.</a:t>
            </a:r>
          </a:p>
        </p:txBody>
      </p:sp>
    </p:spTree>
    <p:extLst>
      <p:ext uri="{BB962C8B-B14F-4D97-AF65-F5344CB8AC3E}">
        <p14:creationId xmlns:p14="http://schemas.microsoft.com/office/powerpoint/2010/main" val="1978892880"/>
      </p:ext>
    </p:extLst>
  </p:cSld>
</p:sld>
</file>

<file path=ppt/slides/slide3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6" name="Evidence and configuration reference">
            <a:extLst xmlns:a="http://schemas.openxmlformats.org/drawingml/2006/main">
              <a:ext uri="{FF2B5EF4-FFF2-40B4-BE49-F238E27FC236}">
                <a16:creationId xmlns:a16="http://schemas.microsoft.com/office/drawing/2014/main" id="{3002E3DC-2E94-4E69-BD34-90B9E9B7B47C}"/>
              </a:ext>
            </a:extLst>
          </p:cNvPr>
          <p:cNvSpPr>
            <a:spLocks xmlns:a="http://schemas.openxmlformats.org/drawingml/2006/main" noGrp="1"/>
          </p:cNvSpPr>
          <p:nvPr/>
        </p:nvSpPr>
        <p:spPr>
          <a:xfrm xmlns:a="http://schemas.openxmlformats.org/drawingml/2006/main">
            <a:off x="609600" y="3619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52B2B"/>
                </a:solidFill>
                <a:latin typeface="Calibri"/>
                <a:ea typeface="Calibri"/>
                <a:cs typeface="Calibri"/>
              </a:defRPr>
            </a:defPPr>
            <a:lvl1pPr algn="l">
              <a:defRPr sz="3150" b="1">
                <a:solidFill>
                  <a:srgbClr val="152B2B"/>
                </a:solidFill>
                <a:latin typeface="Calibri"/>
                <a:ea typeface="Calibri"/>
                <a:cs typeface="Calibri"/>
              </a:defRPr>
            </a:lvl1pPr>
            <a:lvl2pPr algn="l">
              <a:defRPr sz="3150" b="1">
                <a:solidFill>
                  <a:srgbClr val="152B2B"/>
                </a:solidFill>
                <a:latin typeface="Calibri"/>
                <a:ea typeface="Calibri"/>
                <a:cs typeface="Calibri"/>
              </a:defRPr>
            </a:lvl2pPr>
            <a:lvl3pPr algn="l">
              <a:defRPr sz="3150" b="1">
                <a:solidFill>
                  <a:srgbClr val="152B2B"/>
                </a:solidFill>
                <a:latin typeface="Calibri"/>
                <a:ea typeface="Calibri"/>
                <a:cs typeface="Calibri"/>
              </a:defRPr>
            </a:lvl3pPr>
            <a:lvl4pPr algn="l">
              <a:defRPr sz="3150" b="1">
                <a:solidFill>
                  <a:srgbClr val="152B2B"/>
                </a:solidFill>
                <a:latin typeface="Calibri"/>
                <a:ea typeface="Calibri"/>
                <a:cs typeface="Calibri"/>
              </a:defRPr>
            </a:lvl4pPr>
            <a:lvl5pPr algn="l">
              <a:defRPr sz="3150" b="1">
                <a:solidFill>
                  <a:srgbClr val="152B2B"/>
                </a:solidFill>
                <a:latin typeface="Calibri"/>
                <a:ea typeface="Calibri"/>
                <a:cs typeface="Calibri"/>
              </a:defRPr>
            </a:lvl5pPr>
            <a:lvl6pPr algn="l">
              <a:defRPr sz="3150" b="1">
                <a:solidFill>
                  <a:srgbClr val="152B2B"/>
                </a:solidFill>
                <a:latin typeface="Calibri"/>
                <a:ea typeface="Calibri"/>
                <a:cs typeface="Calibri"/>
              </a:defRPr>
            </a:lvl6pPr>
            <a:lvl7pPr algn="l">
              <a:defRPr sz="3150" b="1">
                <a:solidFill>
                  <a:srgbClr val="152B2B"/>
                </a:solidFill>
                <a:latin typeface="Calibri"/>
                <a:ea typeface="Calibri"/>
                <a:cs typeface="Calibri"/>
              </a:defRPr>
            </a:lvl7pPr>
            <a:lvl8pPr algn="l">
              <a:defRPr sz="3150" b="1">
                <a:solidFill>
                  <a:srgbClr val="152B2B"/>
                </a:solidFill>
                <a:latin typeface="Calibri"/>
                <a:ea typeface="Calibri"/>
                <a:cs typeface="Calibri"/>
              </a:defRPr>
            </a:lvl8pPr>
            <a:lvl9pPr algn="l">
              <a:defRPr sz="3150" b="1">
                <a:solidFill>
                  <a:srgbClr val="152B2B"/>
                </a:solidFill>
                <a:latin typeface="Calibri"/>
                <a:ea typeface="Calibri"/>
                <a:cs typeface="Calibri"/>
              </a:defRPr>
            </a:lvl9pPr>
          </a:lstStyle>
          <a:p xmlns:a="http://schemas.openxmlformats.org/drawingml/2006/main">
            <a:pPr algn="l">
              <a:defRPr sz="3150" b="1">
                <a:solidFill>
                  <a:srgbClr val="152B2B"/>
                </a:solidFill>
                <a:latin typeface="Calibri"/>
                <a:ea typeface="Calibri"/>
                <a:cs typeface="Calibri"/>
              </a:defRPr>
            </a:pPr>
            <a:r>
              <a:rPr sz="3150" b="1">
                <a:solidFill>
                  <a:srgbClr val="152B2B"/>
                </a:solidFill>
                <a:latin typeface="Calibri"/>
                <a:ea typeface="Calibri"/>
                <a:cs typeface="Calibri"/>
              </a:rPr>
              <a:t>Evidence and configuration reference</a:t>
            </a:r>
          </a:p>
        </p:txBody>
      </p:sp>
      <p:sp>
        <p:nvSpPr>
          <p:cNvPr id="2" name="Use the source artifact that supports the question being asked.">
            <a:extLst xmlns:a="http://schemas.openxmlformats.org/drawingml/2006/main">
              <a:ext uri="{FF2B5EF4-FFF2-40B4-BE49-F238E27FC236}">
                <a16:creationId xmlns:a16="http://schemas.microsoft.com/office/drawing/2014/main" id="{47C9720E-2F8F-40B1-98DE-A68EA12F5567}"/>
              </a:ext>
            </a:extLst>
          </p:cNvPr>
          <p:cNvSpPr>
            <a:spLocks xmlns:a="http://schemas.openxmlformats.org/drawingml/2006/main" noGrp="1"/>
          </p:cNvSpPr>
          <p:nvPr/>
        </p:nvSpPr>
        <p:spPr>
          <a:xfrm xmlns:a="http://schemas.openxmlformats.org/drawingml/2006/main">
            <a:off x="628650" y="1066800"/>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26464"/>
                </a:solidFill>
                <a:latin typeface="Calibri"/>
                <a:ea typeface="Calibri"/>
                <a:cs typeface="Calibri"/>
              </a:defRPr>
            </a:defPPr>
            <a:lvl1pPr algn="l">
              <a:defRPr sz="1800" b="0">
                <a:solidFill>
                  <a:srgbClr val="526464"/>
                </a:solidFill>
                <a:latin typeface="Calibri"/>
                <a:ea typeface="Calibri"/>
                <a:cs typeface="Calibri"/>
              </a:defRPr>
            </a:lvl1pPr>
            <a:lvl2pPr algn="l">
              <a:defRPr sz="1800" b="0">
                <a:solidFill>
                  <a:srgbClr val="526464"/>
                </a:solidFill>
                <a:latin typeface="Calibri"/>
                <a:ea typeface="Calibri"/>
                <a:cs typeface="Calibri"/>
              </a:defRPr>
            </a:lvl2pPr>
            <a:lvl3pPr algn="l">
              <a:defRPr sz="1800" b="0">
                <a:solidFill>
                  <a:srgbClr val="526464"/>
                </a:solidFill>
                <a:latin typeface="Calibri"/>
                <a:ea typeface="Calibri"/>
                <a:cs typeface="Calibri"/>
              </a:defRPr>
            </a:lvl3pPr>
            <a:lvl4pPr algn="l">
              <a:defRPr sz="1800" b="0">
                <a:solidFill>
                  <a:srgbClr val="526464"/>
                </a:solidFill>
                <a:latin typeface="Calibri"/>
                <a:ea typeface="Calibri"/>
                <a:cs typeface="Calibri"/>
              </a:defRPr>
            </a:lvl4pPr>
            <a:lvl5pPr algn="l">
              <a:defRPr sz="1800" b="0">
                <a:solidFill>
                  <a:srgbClr val="526464"/>
                </a:solidFill>
                <a:latin typeface="Calibri"/>
                <a:ea typeface="Calibri"/>
                <a:cs typeface="Calibri"/>
              </a:defRPr>
            </a:lvl5pPr>
            <a:lvl6pPr algn="l">
              <a:defRPr sz="1800" b="0">
                <a:solidFill>
                  <a:srgbClr val="526464"/>
                </a:solidFill>
                <a:latin typeface="Calibri"/>
                <a:ea typeface="Calibri"/>
                <a:cs typeface="Calibri"/>
              </a:defRPr>
            </a:lvl6pPr>
            <a:lvl7pPr algn="l">
              <a:defRPr sz="1800" b="0">
                <a:solidFill>
                  <a:srgbClr val="526464"/>
                </a:solidFill>
                <a:latin typeface="Calibri"/>
                <a:ea typeface="Calibri"/>
                <a:cs typeface="Calibri"/>
              </a:defRPr>
            </a:lvl7pPr>
            <a:lvl8pPr algn="l">
              <a:defRPr sz="1800" b="0">
                <a:solidFill>
                  <a:srgbClr val="526464"/>
                </a:solidFill>
                <a:latin typeface="Calibri"/>
                <a:ea typeface="Calibri"/>
                <a:cs typeface="Calibri"/>
              </a:defRPr>
            </a:lvl8pPr>
            <a:lvl9pPr algn="l">
              <a:defRPr sz="1800" b="0">
                <a:solidFill>
                  <a:srgbClr val="526464"/>
                </a:solidFill>
                <a:latin typeface="Calibri"/>
                <a:ea typeface="Calibri"/>
                <a:cs typeface="Calibri"/>
              </a:defRPr>
            </a:lvl9pPr>
          </a:lstStyle>
          <a:p xmlns:a="http://schemas.openxmlformats.org/drawingml/2006/main">
            <a:pPr algn="l">
              <a:defRPr sz="1800" b="0">
                <a:solidFill>
                  <a:srgbClr val="526464"/>
                </a:solidFill>
                <a:latin typeface="Calibri"/>
                <a:ea typeface="Calibri"/>
                <a:cs typeface="Calibri"/>
              </a:defRPr>
            </a:pPr>
            <a:r>
              <a:rPr sz="1800" b="0">
                <a:solidFill>
                  <a:srgbClr val="526464"/>
                </a:solidFill>
                <a:latin typeface="Calibri"/>
                <a:ea typeface="Calibri"/>
                <a:cs typeface="Calibri"/>
              </a:rPr>
              <a:t>Use the source artifact that supports the question being asked.</a:t>
            </a:r>
          </a:p>
        </p:txBody>
      </p:sp>
      <p:sp>
        <p:nvSpPr>
          <p:cNvPr id="3" name="32">
            <a:extLst xmlns:a="http://schemas.openxmlformats.org/drawingml/2006/main">
              <a:ext uri="{FF2B5EF4-FFF2-40B4-BE49-F238E27FC236}">
                <a16:creationId xmlns:a16="http://schemas.microsoft.com/office/drawing/2014/main" id="{38A9B177-3936-4E7F-9CE3-54687FC4C48B}"/>
              </a:ext>
            </a:extLst>
          </p:cNvPr>
          <p:cNvSpPr>
            <a:spLocks xmlns:a="http://schemas.openxmlformats.org/drawingml/2006/main" noGrp="1"/>
          </p:cNvSpPr>
          <p:nvPr/>
        </p:nvSpPr>
        <p:spPr>
          <a:xfrm xmlns:a="http://schemas.openxmlformats.org/drawingml/2006/main">
            <a:off x="11353800" y="6381750"/>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464"/>
                </a:solidFill>
                <a:latin typeface="Calibri"/>
                <a:ea typeface="Calibri"/>
                <a:cs typeface="Calibri"/>
              </a:defRPr>
            </a:defPPr>
            <a:lvl1pPr algn="l">
              <a:defRPr sz="1350" b="0">
                <a:solidFill>
                  <a:srgbClr val="526464"/>
                </a:solidFill>
                <a:latin typeface="Calibri"/>
                <a:ea typeface="Calibri"/>
                <a:cs typeface="Calibri"/>
              </a:defRPr>
            </a:lvl1pPr>
            <a:lvl2pPr algn="l">
              <a:defRPr sz="1350" b="0">
                <a:solidFill>
                  <a:srgbClr val="526464"/>
                </a:solidFill>
                <a:latin typeface="Calibri"/>
                <a:ea typeface="Calibri"/>
                <a:cs typeface="Calibri"/>
              </a:defRPr>
            </a:lvl2pPr>
            <a:lvl3pPr algn="l">
              <a:defRPr sz="1350" b="0">
                <a:solidFill>
                  <a:srgbClr val="526464"/>
                </a:solidFill>
                <a:latin typeface="Calibri"/>
                <a:ea typeface="Calibri"/>
                <a:cs typeface="Calibri"/>
              </a:defRPr>
            </a:lvl3pPr>
            <a:lvl4pPr algn="l">
              <a:defRPr sz="1350" b="0">
                <a:solidFill>
                  <a:srgbClr val="526464"/>
                </a:solidFill>
                <a:latin typeface="Calibri"/>
                <a:ea typeface="Calibri"/>
                <a:cs typeface="Calibri"/>
              </a:defRPr>
            </a:lvl4pPr>
            <a:lvl5pPr algn="l">
              <a:defRPr sz="1350" b="0">
                <a:solidFill>
                  <a:srgbClr val="526464"/>
                </a:solidFill>
                <a:latin typeface="Calibri"/>
                <a:ea typeface="Calibri"/>
                <a:cs typeface="Calibri"/>
              </a:defRPr>
            </a:lvl5pPr>
            <a:lvl6pPr algn="l">
              <a:defRPr sz="1350" b="0">
                <a:solidFill>
                  <a:srgbClr val="526464"/>
                </a:solidFill>
                <a:latin typeface="Calibri"/>
                <a:ea typeface="Calibri"/>
                <a:cs typeface="Calibri"/>
              </a:defRPr>
            </a:lvl6pPr>
            <a:lvl7pPr algn="l">
              <a:defRPr sz="1350" b="0">
                <a:solidFill>
                  <a:srgbClr val="526464"/>
                </a:solidFill>
                <a:latin typeface="Calibri"/>
                <a:ea typeface="Calibri"/>
                <a:cs typeface="Calibri"/>
              </a:defRPr>
            </a:lvl7pPr>
            <a:lvl8pPr algn="l">
              <a:defRPr sz="1350" b="0">
                <a:solidFill>
                  <a:srgbClr val="526464"/>
                </a:solidFill>
                <a:latin typeface="Calibri"/>
                <a:ea typeface="Calibri"/>
                <a:cs typeface="Calibri"/>
              </a:defRPr>
            </a:lvl8pPr>
            <a:lvl9pPr algn="l">
              <a:defRPr sz="1350" b="0">
                <a:solidFill>
                  <a:srgbClr val="526464"/>
                </a:solidFill>
                <a:latin typeface="Calibri"/>
                <a:ea typeface="Calibri"/>
                <a:cs typeface="Calibri"/>
              </a:defRPr>
            </a:lvl9pPr>
          </a:lstStyle>
          <a:p xmlns:a="http://schemas.openxmlformats.org/drawingml/2006/main">
            <a:pPr algn="l">
              <a:defRPr sz="1350" b="0">
                <a:solidFill>
                  <a:srgbClr val="526464"/>
                </a:solidFill>
                <a:latin typeface="Calibri"/>
                <a:ea typeface="Calibri"/>
                <a:cs typeface="Calibri"/>
              </a:defRPr>
            </a:pPr>
            <a:r>
              <a:rPr sz="1350" b="0">
                <a:solidFill>
                  <a:srgbClr val="526464"/>
                </a:solidFill>
                <a:latin typeface="Calibri"/>
                <a:ea typeface="Calibri"/>
                <a:cs typeface="Calibri"/>
              </a:rPr>
              <a:t>32</a:t>
            </a:r>
          </a:p>
        </p:txBody>
      </p:sp>
      <p:graphicFrame>
        <p:nvGraphicFramePr>
          <p:cNvPr id="4" name="">
            <a:extLst xmlns:a="http://schemas.openxmlformats.org/drawingml/2006/main">
              <a:ext uri="{FF2B5EF4-FFF2-40B4-BE49-F238E27FC236}">
                <a16:creationId xmlns:a16="http://schemas.microsoft.com/office/drawing/2014/main" id="{7FBE2C4B-AF4A-4679-89E4-348DC45C06BE}"/>
              </a:ext>
            </a:extLst>
          </p:cNvPr>
          <p:cNvGraphicFramePr/>
          <p:nvPr/>
        </p:nvGraphicFramePr>
        <p:xfrm>
          <a:off xmlns:a="http://schemas.openxmlformats.org/drawingml/2006/main" x="628650" y="1828800"/>
          <a:ext xmlns:a="http://schemas.openxmlformats.org/drawingml/2006/main" cx="10906125" cy="3952875"/>
        </p:xfrm>
        <a:graphic xmlns:a="http://schemas.openxmlformats.org/drawingml/2006/main">
          <a:graphicData uri="http://schemas.openxmlformats.org/drawingml/2006/table">
            <a:tbl>
              <a:tblPr/>
              <a:tblGrid>
                <a:gridCol w="4667250"/>
                <a:gridCol w="6238875"/>
              </a:tblGrid>
              <a:tr h="564696">
                <a:tc>
                  <a:txBody>
                    <a:bodyPr lIns="95250" tIns="95250" rIns="95250" bIns="95250"/>
                    <a:lstStyle/>
                    <a:p>
                      <a:r>
                        <a:rPr sz="1800" b="1">
                          <a:solidFill>
                            <a:srgbClr val="152B2B"/>
                          </a:solidFill>
                          <a:latin typeface="Calibri"/>
                          <a:ea typeface="Calibri"/>
                          <a:cs typeface="Calibri"/>
                        </a:rPr>
                        <a:t>Claim or mechanism</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00" b="1">
                          <a:solidFill>
                            <a:srgbClr val="152B2B"/>
                          </a:solidFill>
                          <a:latin typeface="Calibri"/>
                          <a:ea typeface="Calibri"/>
                          <a:cs typeface="Calibri"/>
                        </a:rPr>
                        <a:t>Primary project evidence</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64696">
                <a:tc>
                  <a:txBody>
                    <a:bodyPr lIns="95250" tIns="95250" rIns="95250" bIns="95250"/>
                    <a:lstStyle/>
                    <a:p>
                      <a:r>
                        <a:rPr sz="1800" b="0">
                          <a:solidFill>
                            <a:srgbClr val="152B2B"/>
                          </a:solidFill>
                          <a:latin typeface="Calibri"/>
                          <a:ea typeface="Calibri"/>
                          <a:cs typeface="Calibri"/>
                        </a:rPr>
                        <a:t>Model identity and budgets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configs/reasonke-model.json + instruction-model.json</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Original frozen comparison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reports/reasonke/operations-final/</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Separate depth and uncertainty</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reports/reasonke/depth-final/</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Real correction/rollback acceptance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depth-final/india-acceptance.json + host audit</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All updated-method nonsuccesses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output/presentation/analysis/failure-audit.json</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64696">
                <a:tc>
                  <a:txBody>
                    <a:bodyPr lIns="95250" tIns="95250" rIns="95250" bIns="95250"/>
                    <a:lstStyle/>
                    <a:p>
                      <a:r>
                        <a:rPr sz="1800" b="0">
                          <a:solidFill>
                            <a:srgbClr val="152B2B"/>
                          </a:solidFill>
                          <a:latin typeface="Calibri"/>
                          <a:ea typeface="Calibri"/>
                          <a:cs typeface="Calibri"/>
                        </a:rPr>
                        <a:t>Displayed interface provenance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00" b="0">
                          <a:solidFill>
                            <a:srgbClr val="152B2B"/>
                          </a:solidFill>
                          <a:latin typeface="Calibri"/>
                          <a:ea typeface="Calibri"/>
                          <a:cs typeface="Calibri"/>
                        </a:rPr>
                        <a:t>screenshots/technical-v2/provenance.json</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5" name="Raw outputs, protocol hashes, scoring code and labelled populations re">
            <a:extLst xmlns:a="http://schemas.openxmlformats.org/drawingml/2006/main">
              <a:ext uri="{FF2B5EF4-FFF2-40B4-BE49-F238E27FC236}">
                <a16:creationId xmlns:a16="http://schemas.microsoft.com/office/drawing/2014/main" id="{F56CC59F-074C-4D05-95A8-95667C0512A2}"/>
              </a:ext>
            </a:extLst>
          </p:cNvPr>
          <p:cNvSpPr>
            <a:spLocks xmlns:a="http://schemas.openxmlformats.org/drawingml/2006/main" noGrp="1"/>
          </p:cNvSpPr>
          <p:nvPr/>
        </p:nvSpPr>
        <p:spPr>
          <a:xfrm xmlns:a="http://schemas.openxmlformats.org/drawingml/2006/main">
            <a:off x="628650" y="6143625"/>
            <a:ext cx="10525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26464"/>
                </a:solidFill>
                <a:latin typeface="Calibri"/>
                <a:ea typeface="Calibri"/>
                <a:cs typeface="Calibri"/>
              </a:defRPr>
            </a:defPPr>
            <a:lvl1pPr algn="l">
              <a:defRPr sz="1575" b="0">
                <a:solidFill>
                  <a:srgbClr val="526464"/>
                </a:solidFill>
                <a:latin typeface="Calibri"/>
                <a:ea typeface="Calibri"/>
                <a:cs typeface="Calibri"/>
              </a:defRPr>
            </a:lvl1pPr>
            <a:lvl2pPr algn="l">
              <a:defRPr sz="1575" b="0">
                <a:solidFill>
                  <a:srgbClr val="526464"/>
                </a:solidFill>
                <a:latin typeface="Calibri"/>
                <a:ea typeface="Calibri"/>
                <a:cs typeface="Calibri"/>
              </a:defRPr>
            </a:lvl2pPr>
            <a:lvl3pPr algn="l">
              <a:defRPr sz="1575" b="0">
                <a:solidFill>
                  <a:srgbClr val="526464"/>
                </a:solidFill>
                <a:latin typeface="Calibri"/>
                <a:ea typeface="Calibri"/>
                <a:cs typeface="Calibri"/>
              </a:defRPr>
            </a:lvl3pPr>
            <a:lvl4pPr algn="l">
              <a:defRPr sz="1575" b="0">
                <a:solidFill>
                  <a:srgbClr val="526464"/>
                </a:solidFill>
                <a:latin typeface="Calibri"/>
                <a:ea typeface="Calibri"/>
                <a:cs typeface="Calibri"/>
              </a:defRPr>
            </a:lvl4pPr>
            <a:lvl5pPr algn="l">
              <a:defRPr sz="1575" b="0">
                <a:solidFill>
                  <a:srgbClr val="526464"/>
                </a:solidFill>
                <a:latin typeface="Calibri"/>
                <a:ea typeface="Calibri"/>
                <a:cs typeface="Calibri"/>
              </a:defRPr>
            </a:lvl5pPr>
            <a:lvl6pPr algn="l">
              <a:defRPr sz="1575" b="0">
                <a:solidFill>
                  <a:srgbClr val="526464"/>
                </a:solidFill>
                <a:latin typeface="Calibri"/>
                <a:ea typeface="Calibri"/>
                <a:cs typeface="Calibri"/>
              </a:defRPr>
            </a:lvl6pPr>
            <a:lvl7pPr algn="l">
              <a:defRPr sz="1575" b="0">
                <a:solidFill>
                  <a:srgbClr val="526464"/>
                </a:solidFill>
                <a:latin typeface="Calibri"/>
                <a:ea typeface="Calibri"/>
                <a:cs typeface="Calibri"/>
              </a:defRPr>
            </a:lvl7pPr>
            <a:lvl8pPr algn="l">
              <a:defRPr sz="1575" b="0">
                <a:solidFill>
                  <a:srgbClr val="526464"/>
                </a:solidFill>
                <a:latin typeface="Calibri"/>
                <a:ea typeface="Calibri"/>
                <a:cs typeface="Calibri"/>
              </a:defRPr>
            </a:lvl8pPr>
            <a:lvl9pPr algn="l">
              <a:defRPr sz="1575" b="0">
                <a:solidFill>
                  <a:srgbClr val="526464"/>
                </a:solidFill>
                <a:latin typeface="Calibri"/>
                <a:ea typeface="Calibri"/>
                <a:cs typeface="Calibri"/>
              </a:defRPr>
            </a:lvl9pPr>
          </a:lstStyle>
          <a:p xmlns:a="http://schemas.openxmlformats.org/drawingml/2006/main">
            <a:pPr algn="l">
              <a:defRPr sz="1575" b="0">
                <a:solidFill>
                  <a:srgbClr val="526464"/>
                </a:solidFill>
                <a:latin typeface="Calibri"/>
                <a:ea typeface="Calibri"/>
                <a:cs typeface="Calibri"/>
              </a:defRPr>
            </a:pPr>
            <a:r>
              <a:rPr sz="1575" b="0">
                <a:solidFill>
                  <a:srgbClr val="526464"/>
                </a:solidFill>
                <a:latin typeface="Calibri"/>
                <a:ea typeface="Calibri"/>
                <a:cs typeface="Calibri"/>
              </a:rPr>
              <a:t>Raw outputs, protocol hashes, scoring code and labelled populations remain separate from presentation graphics.</a:t>
            </a:r>
          </a:p>
        </p:txBody>
      </p:sp>
    </p:spTree>
    <p:extLst>
      <p:ext uri="{BB962C8B-B14F-4D97-AF65-F5344CB8AC3E}">
        <p14:creationId xmlns:p14="http://schemas.microsoft.com/office/powerpoint/2010/main" val="23507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2026-10-30T10:41:43.7940000Z</dcterms:created>
  <dcterms:modified xsi:type="dcterms:W3CDTF">2026-10-30T10:41:43.7940000Z</dcterms:modified>
</coreProperties>
</file>